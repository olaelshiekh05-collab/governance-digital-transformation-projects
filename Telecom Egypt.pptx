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7" r:id="rId5"/>
    <p:sldId id="258" r:id="rId6"/>
    <p:sldId id="260" r:id="rId7"/>
    <p:sldId id="273" r:id="rId8"/>
    <p:sldId id="267" r:id="rId9"/>
    <p:sldId id="276" r:id="rId10"/>
    <p:sldId id="277" r:id="rId11"/>
    <p:sldId id="279" r:id="rId12"/>
    <p:sldId id="280" r:id="rId13"/>
    <p:sldId id="261" r:id="rId14"/>
    <p:sldId id="278" r:id="rId15"/>
    <p:sldId id="262" r:id="rId16"/>
    <p:sldId id="266" r:id="rId17"/>
    <p:sldId id="281" r:id="rId18"/>
    <p:sldId id="282" r:id="rId19"/>
    <p:sldId id="265"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159E"/>
    <a:srgbClr val="009999"/>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955" autoAdjust="0"/>
  </p:normalViewPr>
  <p:slideViewPr>
    <p:cSldViewPr snapToGrid="0">
      <p:cViewPr varScale="1">
        <p:scale>
          <a:sx n="64" d="100"/>
          <a:sy n="64" d="100"/>
        </p:scale>
        <p:origin x="748" y="52"/>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doughnutChart>
        <c:varyColors val="1"/>
        <c:ser>
          <c:idx val="0"/>
          <c:order val="0"/>
          <c:tx>
            <c:strRef>
              <c:f>Sheet1!$B$1</c:f>
              <c:strCache>
                <c:ptCount val="1"/>
                <c:pt idx="0">
                  <c:v>Column1</c:v>
                </c:pt>
              </c:strCache>
            </c:strRef>
          </c:tx>
          <c:spPr>
            <a:solidFill>
              <a:schemeClr val="tx1"/>
            </a:solidFill>
            <a:ln>
              <a:noFill/>
            </a:ln>
          </c:spPr>
          <c:dPt>
            <c:idx val="0"/>
            <c:bubble3D val="0"/>
            <c:spPr>
              <a:solidFill>
                <a:schemeClr val="accent5"/>
              </a:solidFill>
              <a:ln w="12700" cap="flat" cmpd="sng" algn="ctr">
                <a:solidFill>
                  <a:schemeClr val="accent5">
                    <a:shade val="15000"/>
                  </a:schemeClr>
                </a:solidFill>
                <a:prstDash val="solid"/>
                <a:miter lim="800000"/>
              </a:ln>
              <a:effectLst/>
            </c:spPr>
            <c:extLst>
              <c:ext xmlns:c16="http://schemas.microsoft.com/office/drawing/2014/chart" uri="{C3380CC4-5D6E-409C-BE32-E72D297353CC}">
                <c16:uniqueId val="{00000001-554A-4D74-B902-C862E053D495}"/>
              </c:ext>
            </c:extLst>
          </c:dPt>
          <c:dPt>
            <c:idx val="1"/>
            <c:bubble3D val="0"/>
            <c:spPr>
              <a:solidFill>
                <a:srgbClr val="FF0000"/>
              </a:solidFill>
              <a:ln w="19050">
                <a:solidFill>
                  <a:srgbClr val="C00000"/>
                </a:solidFill>
              </a:ln>
              <a:effectLst/>
            </c:spPr>
            <c:extLst>
              <c:ext xmlns:c16="http://schemas.microsoft.com/office/drawing/2014/chart" uri="{C3380CC4-5D6E-409C-BE32-E72D297353CC}">
                <c16:uniqueId val="{00000003-554A-4D74-B902-C862E053D495}"/>
              </c:ext>
            </c:extLst>
          </c:dPt>
          <c:dPt>
            <c:idx val="2"/>
            <c:bubble3D val="0"/>
            <c:spPr>
              <a:solidFill>
                <a:srgbClr val="00B0F0"/>
              </a:solidFill>
              <a:ln w="19050">
                <a:solidFill>
                  <a:srgbClr val="00B0F0"/>
                </a:solidFill>
              </a:ln>
              <a:effectLst/>
            </c:spPr>
            <c:extLst>
              <c:ext xmlns:c16="http://schemas.microsoft.com/office/drawing/2014/chart" uri="{C3380CC4-5D6E-409C-BE32-E72D297353CC}">
                <c16:uniqueId val="{00000005-554A-4D74-B902-C862E053D495}"/>
              </c:ext>
            </c:extLst>
          </c:dPt>
          <c:dPt>
            <c:idx val="3"/>
            <c:bubble3D val="0"/>
            <c:spPr>
              <a:solidFill>
                <a:srgbClr val="00B0F0"/>
              </a:solidFill>
              <a:ln w="19050">
                <a:solidFill>
                  <a:srgbClr val="00B0F0"/>
                </a:solidFill>
              </a:ln>
              <a:effectLst/>
            </c:spPr>
            <c:extLst>
              <c:ext xmlns:c16="http://schemas.microsoft.com/office/drawing/2014/chart" uri="{C3380CC4-5D6E-409C-BE32-E72D297353CC}">
                <c16:uniqueId val="{00000007-554A-4D74-B902-C862E053D495}"/>
              </c:ext>
            </c:extLst>
          </c:dPt>
          <c:dPt>
            <c:idx val="4"/>
            <c:bubble3D val="0"/>
            <c:spPr>
              <a:solidFill>
                <a:srgbClr val="00B0F0"/>
              </a:solidFill>
              <a:ln w="19050">
                <a:solidFill>
                  <a:srgbClr val="00B0F0"/>
                </a:solidFill>
              </a:ln>
              <a:effectLst/>
            </c:spPr>
            <c:extLst>
              <c:ext xmlns:c16="http://schemas.microsoft.com/office/drawing/2014/chart" uri="{C3380CC4-5D6E-409C-BE32-E72D297353CC}">
                <c16:uniqueId val="{00000009-554A-4D74-B902-C862E053D495}"/>
              </c:ext>
            </c:extLst>
          </c:dPt>
          <c:dPt>
            <c:idx val="5"/>
            <c:bubble3D val="0"/>
            <c:spPr>
              <a:solidFill>
                <a:srgbClr val="00B050"/>
              </a:solidFill>
              <a:ln w="19050">
                <a:solidFill>
                  <a:srgbClr val="00B050"/>
                </a:solidFill>
              </a:ln>
              <a:effectLst/>
            </c:spPr>
            <c:extLst>
              <c:ext xmlns:c16="http://schemas.microsoft.com/office/drawing/2014/chart" uri="{C3380CC4-5D6E-409C-BE32-E72D297353CC}">
                <c16:uniqueId val="{0000000B-554A-4D74-B902-C862E053D495}"/>
              </c:ext>
            </c:extLst>
          </c:dPt>
          <c:dPt>
            <c:idx val="6"/>
            <c:bubble3D val="0"/>
            <c:spPr>
              <a:solidFill>
                <a:srgbClr val="002060"/>
              </a:solidFill>
              <a:ln w="19050">
                <a:solidFill>
                  <a:srgbClr val="002060"/>
                </a:solidFill>
              </a:ln>
              <a:effectLst/>
            </c:spPr>
            <c:extLst>
              <c:ext xmlns:c16="http://schemas.microsoft.com/office/drawing/2014/chart" uri="{C3380CC4-5D6E-409C-BE32-E72D297353CC}">
                <c16:uniqueId val="{0000000D-554A-4D74-B902-C862E053D495}"/>
              </c:ext>
            </c:extLst>
          </c:dPt>
          <c:dPt>
            <c:idx val="7"/>
            <c:bubble3D val="0"/>
            <c:spPr>
              <a:solidFill>
                <a:srgbClr val="7030A0"/>
              </a:solidFill>
              <a:ln w="19050">
                <a:solidFill>
                  <a:srgbClr val="7030A0"/>
                </a:solidFill>
              </a:ln>
              <a:effectLst/>
            </c:spPr>
            <c:extLst>
              <c:ext xmlns:c16="http://schemas.microsoft.com/office/drawing/2014/chart" uri="{C3380CC4-5D6E-409C-BE32-E72D297353CC}">
                <c16:uniqueId val="{0000000F-554A-4D74-B902-C862E053D495}"/>
              </c:ext>
            </c:extLst>
          </c:dPt>
          <c:dPt>
            <c:idx val="8"/>
            <c:bubble3D val="0"/>
            <c:spPr>
              <a:solidFill>
                <a:srgbClr val="FFFF00"/>
              </a:solidFill>
              <a:ln w="19050">
                <a:solidFill>
                  <a:srgbClr val="FFFF00"/>
                </a:solidFill>
              </a:ln>
              <a:effectLst/>
            </c:spPr>
            <c:extLst>
              <c:ext xmlns:c16="http://schemas.microsoft.com/office/drawing/2014/chart" uri="{C3380CC4-5D6E-409C-BE32-E72D297353CC}">
                <c16:uniqueId val="{00000011-554A-4D74-B902-C862E053D495}"/>
              </c:ext>
            </c:extLst>
          </c:dPt>
          <c:dPt>
            <c:idx val="9"/>
            <c:bubble3D val="0"/>
            <c:spPr>
              <a:solidFill>
                <a:srgbClr val="FFFF00"/>
              </a:solidFill>
              <a:ln w="19050">
                <a:solidFill>
                  <a:srgbClr val="FFFF00"/>
                </a:solidFill>
              </a:ln>
              <a:effectLst/>
            </c:spPr>
            <c:extLst>
              <c:ext xmlns:c16="http://schemas.microsoft.com/office/drawing/2014/chart" uri="{C3380CC4-5D6E-409C-BE32-E72D297353CC}">
                <c16:uniqueId val="{00000013-554A-4D74-B902-C862E053D495}"/>
              </c:ext>
            </c:extLst>
          </c:dPt>
          <c:dLbls>
            <c:dLbl>
              <c:idx val="0"/>
              <c:layout>
                <c:manualLayout>
                  <c:x val="4.5248868778280465E-2"/>
                  <c:y val="-5.8898316594683531E-2"/>
                </c:manualLayout>
              </c:layout>
              <c:tx>
                <c:rich>
                  <a:bodyPr/>
                  <a:lstStyle/>
                  <a:p>
                    <a:r>
                      <a:rPr lang="en-US" dirty="0"/>
                      <a:t>77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54A-4D74-B902-C862E053D495}"/>
                </c:ext>
              </c:extLst>
            </c:dLbl>
            <c:dLbl>
              <c:idx val="1"/>
              <c:layout>
                <c:manualLayout>
                  <c:x val="4.7305635540929508E-2"/>
                  <c:y val="7.0117043565099318E-2"/>
                </c:manualLayout>
              </c:layout>
              <c:tx>
                <c:rich>
                  <a:bodyPr/>
                  <a:lstStyle/>
                  <a:p>
                    <a:r>
                      <a:rPr lang="en-US" dirty="0"/>
                      <a:t>67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54A-4D74-B902-C862E053D495}"/>
                </c:ext>
              </c:extLst>
            </c:dLbl>
            <c:dLbl>
              <c:idx val="2"/>
              <c:layout>
                <c:manualLayout>
                  <c:x val="4.1135335252982158E-2"/>
                  <c:y val="5.6093634852079542E-2"/>
                </c:manualLayout>
              </c:layout>
              <c:tx>
                <c:rich>
                  <a:bodyPr/>
                  <a:lstStyle/>
                  <a:p>
                    <a:r>
                      <a:rPr lang="en-US" dirty="0"/>
                      <a:t>56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54A-4D74-B902-C862E053D495}"/>
                </c:ext>
              </c:extLst>
            </c:dLbl>
            <c:dLbl>
              <c:idx val="3"/>
              <c:delete val="1"/>
              <c:extLst>
                <c:ext xmlns:c15="http://schemas.microsoft.com/office/drawing/2012/chart" uri="{CE6537A1-D6FC-4f65-9D91-7224C49458BB}"/>
                <c:ext xmlns:c16="http://schemas.microsoft.com/office/drawing/2014/chart" uri="{C3380CC4-5D6E-409C-BE32-E72D297353CC}">
                  <c16:uniqueId val="{00000007-554A-4D74-B902-C862E053D495}"/>
                </c:ext>
              </c:extLst>
            </c:dLbl>
            <c:dLbl>
              <c:idx val="4"/>
              <c:delete val="1"/>
              <c:extLst>
                <c:ext xmlns:c15="http://schemas.microsoft.com/office/drawing/2012/chart" uri="{CE6537A1-D6FC-4f65-9D91-7224C49458BB}"/>
                <c:ext xmlns:c16="http://schemas.microsoft.com/office/drawing/2014/chart" uri="{C3380CC4-5D6E-409C-BE32-E72D297353CC}">
                  <c16:uniqueId val="{00000009-554A-4D74-B902-C862E053D495}"/>
                </c:ext>
              </c:extLst>
            </c:dLbl>
            <c:dLbl>
              <c:idx val="5"/>
              <c:layout>
                <c:manualLayout>
                  <c:x val="-1.0283833813245616E-2"/>
                  <c:y val="0.20193708546748645"/>
                </c:manualLayout>
              </c:layout>
              <c:tx>
                <c:rich>
                  <a:bodyPr/>
                  <a:lstStyle/>
                  <a:p>
                    <a:r>
                      <a:rPr lang="en-US" dirty="0"/>
                      <a:t>88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554A-4D74-B902-C862E053D495}"/>
                </c:ext>
              </c:extLst>
            </c:dLbl>
            <c:dLbl>
              <c:idx val="6"/>
              <c:layout>
                <c:manualLayout>
                  <c:x val="-4.9362402303578773E-2"/>
                  <c:y val="-4.7679589624267632E-2"/>
                </c:manualLayout>
              </c:layout>
              <c:tx>
                <c:rich>
                  <a:bodyPr/>
                  <a:lstStyle/>
                  <a:p>
                    <a:r>
                      <a:rPr lang="en-US" b="1" dirty="0">
                        <a:solidFill>
                          <a:schemeClr val="bg1"/>
                        </a:solidFill>
                      </a:rPr>
                      <a:t>31</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554A-4D74-B902-C862E053D495}"/>
                </c:ext>
              </c:extLst>
            </c:dLbl>
            <c:dLbl>
              <c:idx val="7"/>
              <c:layout>
                <c:manualLayout>
                  <c:x val="-5.5532702591526123E-2"/>
                  <c:y val="-4.2070226139059669E-2"/>
                </c:manualLayout>
              </c:layout>
              <c:tx>
                <c:rich>
                  <a:bodyPr/>
                  <a:lstStyle/>
                  <a:p>
                    <a:r>
                      <a:rPr lang="en-US" dirty="0"/>
                      <a:t>44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554A-4D74-B902-C862E053D495}"/>
                </c:ext>
              </c:extLst>
            </c:dLbl>
            <c:dLbl>
              <c:idx val="8"/>
              <c:delete val="1"/>
              <c:extLst>
                <c:ext xmlns:c15="http://schemas.microsoft.com/office/drawing/2012/chart" uri="{CE6537A1-D6FC-4f65-9D91-7224C49458BB}"/>
                <c:ext xmlns:c16="http://schemas.microsoft.com/office/drawing/2014/chart" uri="{C3380CC4-5D6E-409C-BE32-E72D297353CC}">
                  <c16:uniqueId val="{00000011-554A-4D74-B902-C862E053D495}"/>
                </c:ext>
              </c:extLst>
            </c:dLbl>
            <c:dLbl>
              <c:idx val="9"/>
              <c:layout>
                <c:manualLayout>
                  <c:x val="6.1703002879473466E-3"/>
                  <c:y val="-0.10377322447634715"/>
                </c:manualLayout>
              </c:layout>
              <c:tx>
                <c:rich>
                  <a:bodyPr/>
                  <a:lstStyle/>
                  <a:p>
                    <a:r>
                      <a:rPr lang="en-US" dirty="0"/>
                      <a:t>38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554A-4D74-B902-C862E053D49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Sheet1!$A$2:$A$11</c:f>
              <c:strCache>
                <c:ptCount val="10"/>
                <c:pt idx="0">
                  <c:v>FF&amp;E</c:v>
                </c:pt>
                <c:pt idx="1">
                  <c:v>IMPROVEMENT</c:v>
                </c:pt>
                <c:pt idx="2">
                  <c:v>RETAIL BUSINESS INSURANCE</c:v>
                </c:pt>
                <c:pt idx="3">
                  <c:v>COFFEE SUPPLIES INVENTORY</c:v>
                </c:pt>
                <c:pt idx="4">
                  <c:v>MARKETING</c:v>
                </c:pt>
                <c:pt idx="5">
                  <c:v>WORKING CAPITAL</c:v>
                </c:pt>
                <c:pt idx="6">
                  <c:v>WEBSITE DEVELOPMENT</c:v>
                </c:pt>
                <c:pt idx="7">
                  <c:v>MISCELLANEOUS COSTS</c:v>
                </c:pt>
                <c:pt idx="8">
                  <c:v>INITIAL LEASE PAYMENTS</c:v>
                </c:pt>
                <c:pt idx="9">
                  <c:v>LEASE DEPOSIT</c:v>
                </c:pt>
              </c:strCache>
            </c:strRef>
          </c:cat>
          <c:val>
            <c:numRef>
              <c:f>Sheet1!$B$2:$B$11</c:f>
              <c:numCache>
                <c:formatCode>0%</c:formatCode>
                <c:ptCount val="10"/>
                <c:pt idx="0">
                  <c:v>0.24</c:v>
                </c:pt>
                <c:pt idx="1">
                  <c:v>0.2</c:v>
                </c:pt>
                <c:pt idx="2">
                  <c:v>0.02</c:v>
                </c:pt>
                <c:pt idx="3">
                  <c:v>0.08</c:v>
                </c:pt>
                <c:pt idx="4">
                  <c:v>0.04</c:v>
                </c:pt>
                <c:pt idx="5">
                  <c:v>0.28000000000000003</c:v>
                </c:pt>
                <c:pt idx="6">
                  <c:v>0.02</c:v>
                </c:pt>
                <c:pt idx="7">
                  <c:v>0.08</c:v>
                </c:pt>
                <c:pt idx="8">
                  <c:v>0.03</c:v>
                </c:pt>
                <c:pt idx="9">
                  <c:v>0.01</c:v>
                </c:pt>
              </c:numCache>
            </c:numRef>
          </c:val>
          <c:extLst>
            <c:ext xmlns:c16="http://schemas.microsoft.com/office/drawing/2014/chart" uri="{C3380CC4-5D6E-409C-BE32-E72D297353CC}">
              <c16:uniqueId val="{00000014-554A-4D74-B902-C862E053D495}"/>
            </c:ext>
          </c:extLst>
        </c:ser>
        <c:dLbls>
          <c:showLegendKey val="0"/>
          <c:showVal val="1"/>
          <c:showCatName val="0"/>
          <c:showSerName val="0"/>
          <c:showPercent val="0"/>
          <c:showBubbleSize val="0"/>
          <c:showLeaderLines val="0"/>
        </c:dLbls>
        <c:firstSliceAng val="360"/>
        <c:holeSize val="83"/>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a:effectLst/>
          </c:spPr>
          <c:explosion val="5"/>
          <c:dPt>
            <c:idx val="0"/>
            <c:bubble3D val="0"/>
            <c:spPr>
              <a:solidFill>
                <a:srgbClr val="0A159E"/>
              </a:solidFill>
              <a:ln>
                <a:noFill/>
              </a:ln>
              <a:effectLst/>
            </c:spPr>
            <c:extLst>
              <c:ext xmlns:c16="http://schemas.microsoft.com/office/drawing/2014/chart" uri="{C3380CC4-5D6E-409C-BE32-E72D297353CC}">
                <c16:uniqueId val="{00000001-B2C9-4B02-8C25-6B39A2675E77}"/>
              </c:ext>
            </c:extLst>
          </c:dPt>
          <c:dPt>
            <c:idx val="1"/>
            <c:bubble3D val="0"/>
            <c:spPr>
              <a:solidFill>
                <a:schemeClr val="bg2"/>
              </a:solidFill>
              <a:ln>
                <a:noFill/>
              </a:ln>
              <a:effectLst/>
            </c:spPr>
            <c:extLst>
              <c:ext xmlns:c16="http://schemas.microsoft.com/office/drawing/2014/chart" uri="{C3380CC4-5D6E-409C-BE32-E72D297353CC}">
                <c16:uniqueId val="{00000003-B2C9-4B02-8C25-6B39A2675E77}"/>
              </c:ext>
            </c:extLst>
          </c:dPt>
          <c:cat>
            <c:strRef>
              <c:f>Sheet1!$A$2:$A$3</c:f>
              <c:strCache>
                <c:ptCount val="2"/>
                <c:pt idx="0">
                  <c:v>1st Qtr</c:v>
                </c:pt>
                <c:pt idx="1">
                  <c:v>2nd Qtr</c:v>
                </c:pt>
              </c:strCache>
            </c:strRef>
          </c:cat>
          <c:val>
            <c:numRef>
              <c:f>Sheet1!$B$2:$B$3</c:f>
              <c:numCache>
                <c:formatCode>General</c:formatCode>
                <c:ptCount val="2"/>
                <c:pt idx="0">
                  <c:v>79</c:v>
                </c:pt>
                <c:pt idx="1">
                  <c:v>21</c:v>
                </c:pt>
              </c:numCache>
            </c:numRef>
          </c:val>
          <c:extLst>
            <c:ext xmlns:c16="http://schemas.microsoft.com/office/drawing/2014/chart" uri="{C3380CC4-5D6E-409C-BE32-E72D297353CC}">
              <c16:uniqueId val="{00000004-B2C9-4B02-8C25-6B39A2675E77}"/>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a:ln>
              <a:solidFill>
                <a:srgbClr val="00B050"/>
              </a:solidFill>
            </a:ln>
            <a:effectLst/>
          </c:spPr>
          <c:dPt>
            <c:idx val="0"/>
            <c:bubble3D val="0"/>
            <c:spPr>
              <a:solidFill>
                <a:srgbClr val="00B050"/>
              </a:solidFill>
              <a:ln>
                <a:solidFill>
                  <a:srgbClr val="00B050"/>
                </a:solidFill>
              </a:ln>
              <a:effectLst/>
            </c:spPr>
            <c:extLst>
              <c:ext xmlns:c16="http://schemas.microsoft.com/office/drawing/2014/chart" uri="{C3380CC4-5D6E-409C-BE32-E72D297353CC}">
                <c16:uniqueId val="{00000001-15C2-4C27-AED2-08C11C110A8B}"/>
              </c:ext>
            </c:extLst>
          </c:dPt>
          <c:dPt>
            <c:idx val="1"/>
            <c:bubble3D val="0"/>
            <c:spPr>
              <a:solidFill>
                <a:srgbClr val="00B050"/>
              </a:solidFill>
              <a:ln w="0">
                <a:solidFill>
                  <a:srgbClr val="00B050"/>
                </a:solidFill>
              </a:ln>
              <a:effectLst/>
            </c:spPr>
            <c:extLst>
              <c:ext xmlns:c16="http://schemas.microsoft.com/office/drawing/2014/chart" uri="{C3380CC4-5D6E-409C-BE32-E72D297353CC}">
                <c16:uniqueId val="{00000003-15C2-4C27-AED2-08C11C110A8B}"/>
              </c:ext>
            </c:extLst>
          </c:dPt>
          <c:cat>
            <c:strRef>
              <c:f>Sheet1!$A$2:$A$3</c:f>
              <c:strCache>
                <c:ptCount val="2"/>
                <c:pt idx="0">
                  <c:v>1st Qtr</c:v>
                </c:pt>
                <c:pt idx="1">
                  <c:v>2nd Qtr</c:v>
                </c:pt>
              </c:strCache>
            </c:strRef>
          </c:cat>
          <c:val>
            <c:numRef>
              <c:f>Sheet1!$B$2:$B$3</c:f>
              <c:numCache>
                <c:formatCode>General</c:formatCode>
                <c:ptCount val="2"/>
                <c:pt idx="0">
                  <c:v>64</c:v>
                </c:pt>
                <c:pt idx="1">
                  <c:v>36</c:v>
                </c:pt>
              </c:numCache>
            </c:numRef>
          </c:val>
          <c:extLst>
            <c:ext xmlns:c16="http://schemas.microsoft.com/office/drawing/2014/chart" uri="{C3380CC4-5D6E-409C-BE32-E72D297353CC}">
              <c16:uniqueId val="{00000004-15C2-4C27-AED2-08C11C110A8B}"/>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a:effectLst/>
          </c:spPr>
          <c:explosion val="5"/>
          <c:dPt>
            <c:idx val="0"/>
            <c:bubble3D val="0"/>
            <c:spPr>
              <a:solidFill>
                <a:srgbClr val="C00000"/>
              </a:solidFill>
              <a:ln>
                <a:noFill/>
              </a:ln>
              <a:effectLst/>
            </c:spPr>
            <c:extLst>
              <c:ext xmlns:c16="http://schemas.microsoft.com/office/drawing/2014/chart" uri="{C3380CC4-5D6E-409C-BE32-E72D297353CC}">
                <c16:uniqueId val="{00000001-2907-45B8-ABF2-E8CD4FAD8E80}"/>
              </c:ext>
            </c:extLst>
          </c:dPt>
          <c:dPt>
            <c:idx val="1"/>
            <c:bubble3D val="0"/>
            <c:spPr>
              <a:solidFill>
                <a:schemeClr val="bg2"/>
              </a:solidFill>
              <a:ln>
                <a:noFill/>
              </a:ln>
              <a:effectLst/>
            </c:spPr>
            <c:extLst>
              <c:ext xmlns:c16="http://schemas.microsoft.com/office/drawing/2014/chart" uri="{C3380CC4-5D6E-409C-BE32-E72D297353CC}">
                <c16:uniqueId val="{00000003-2907-45B8-ABF2-E8CD4FAD8E80}"/>
              </c:ext>
            </c:extLst>
          </c:dPt>
          <c:cat>
            <c:strRef>
              <c:f>Sheet1!$A$2:$A$3</c:f>
              <c:strCache>
                <c:ptCount val="2"/>
                <c:pt idx="0">
                  <c:v>1st Qtr</c:v>
                </c:pt>
                <c:pt idx="1">
                  <c:v>2nd Qtr</c:v>
                </c:pt>
              </c:strCache>
            </c:strRef>
          </c:cat>
          <c:val>
            <c:numRef>
              <c:f>Sheet1!$B$2:$B$3</c:f>
              <c:numCache>
                <c:formatCode>General</c:formatCode>
                <c:ptCount val="2"/>
                <c:pt idx="0">
                  <c:v>71</c:v>
                </c:pt>
                <c:pt idx="1">
                  <c:v>29</c:v>
                </c:pt>
              </c:numCache>
            </c:numRef>
          </c:val>
          <c:extLst>
            <c:ext xmlns:c16="http://schemas.microsoft.com/office/drawing/2014/chart" uri="{C3380CC4-5D6E-409C-BE32-E72D297353CC}">
              <c16:uniqueId val="{00000004-2907-45B8-ABF2-E8CD4FAD8E80}"/>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a:effectLst/>
          </c:spPr>
          <c:explosion val="5"/>
          <c:dPt>
            <c:idx val="0"/>
            <c:bubble3D val="0"/>
            <c:spPr>
              <a:solidFill>
                <a:srgbClr val="0A159E"/>
              </a:solidFill>
              <a:ln>
                <a:noFill/>
              </a:ln>
              <a:effectLst/>
            </c:spPr>
            <c:extLst>
              <c:ext xmlns:c16="http://schemas.microsoft.com/office/drawing/2014/chart" uri="{C3380CC4-5D6E-409C-BE32-E72D297353CC}">
                <c16:uniqueId val="{00000001-1B71-4236-A7EB-257CF961E176}"/>
              </c:ext>
            </c:extLst>
          </c:dPt>
          <c:dPt>
            <c:idx val="1"/>
            <c:bubble3D val="0"/>
            <c:spPr>
              <a:solidFill>
                <a:schemeClr val="bg2"/>
              </a:solidFill>
              <a:ln>
                <a:noFill/>
              </a:ln>
              <a:effectLst/>
            </c:spPr>
            <c:extLst>
              <c:ext xmlns:c16="http://schemas.microsoft.com/office/drawing/2014/chart" uri="{C3380CC4-5D6E-409C-BE32-E72D297353CC}">
                <c16:uniqueId val="{00000003-1B71-4236-A7EB-257CF961E176}"/>
              </c:ext>
            </c:extLst>
          </c:dPt>
          <c:cat>
            <c:strRef>
              <c:f>Sheet1!$A$2:$A$3</c:f>
              <c:strCache>
                <c:ptCount val="2"/>
                <c:pt idx="0">
                  <c:v>1st Qtr</c:v>
                </c:pt>
                <c:pt idx="1">
                  <c:v>2nd Qtr</c:v>
                </c:pt>
              </c:strCache>
            </c:strRef>
          </c:cat>
          <c:val>
            <c:numRef>
              <c:f>Sheet1!$B$2:$B$3</c:f>
              <c:numCache>
                <c:formatCode>General</c:formatCode>
                <c:ptCount val="2"/>
                <c:pt idx="0">
                  <c:v>79</c:v>
                </c:pt>
                <c:pt idx="1">
                  <c:v>21</c:v>
                </c:pt>
              </c:numCache>
            </c:numRef>
          </c:val>
          <c:extLst>
            <c:ext xmlns:c16="http://schemas.microsoft.com/office/drawing/2014/chart" uri="{C3380CC4-5D6E-409C-BE32-E72D297353CC}">
              <c16:uniqueId val="{00000004-1B71-4236-A7EB-257CF961E176}"/>
            </c:ext>
          </c:extLst>
        </c:ser>
        <c:dLbls>
          <c:showLegendKey val="0"/>
          <c:showVal val="0"/>
          <c:showCatName val="0"/>
          <c:showSerName val="0"/>
          <c:showPercent val="0"/>
          <c:showBubbleSize val="0"/>
          <c:showLeaderLines val="1"/>
        </c:dLbls>
        <c:firstSliceAng val="0"/>
        <c:holeSize val="60"/>
      </c:doughnutChart>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tx2"/>
            </a:solidFill>
            <a:effectLst/>
          </c:spPr>
          <c:explosion val="5"/>
          <c:dPt>
            <c:idx val="0"/>
            <c:bubble3D val="0"/>
            <c:spPr>
              <a:solidFill>
                <a:srgbClr val="0A159E"/>
              </a:solidFill>
              <a:ln>
                <a:noFill/>
              </a:ln>
              <a:effectLst/>
            </c:spPr>
            <c:extLst>
              <c:ext xmlns:c16="http://schemas.microsoft.com/office/drawing/2014/chart" uri="{C3380CC4-5D6E-409C-BE32-E72D297353CC}">
                <c16:uniqueId val="{00000001-B4C9-47C6-89FF-C925B8B0468B}"/>
              </c:ext>
            </c:extLst>
          </c:dPt>
          <c:dPt>
            <c:idx val="1"/>
            <c:bubble3D val="0"/>
            <c:spPr>
              <a:solidFill>
                <a:schemeClr val="bg2"/>
              </a:solidFill>
              <a:ln>
                <a:noFill/>
              </a:ln>
              <a:effectLst/>
            </c:spPr>
            <c:extLst>
              <c:ext xmlns:c16="http://schemas.microsoft.com/office/drawing/2014/chart" uri="{C3380CC4-5D6E-409C-BE32-E72D297353CC}">
                <c16:uniqueId val="{00000003-B4C9-47C6-89FF-C925B8B0468B}"/>
              </c:ext>
            </c:extLst>
          </c:dPt>
          <c:cat>
            <c:strRef>
              <c:f>Sheet1!$A$2:$A$3</c:f>
              <c:strCache>
                <c:ptCount val="2"/>
                <c:pt idx="0">
                  <c:v>1st Qtr</c:v>
                </c:pt>
                <c:pt idx="1">
                  <c:v>2nd Qtr</c:v>
                </c:pt>
              </c:strCache>
            </c:strRef>
          </c:cat>
          <c:val>
            <c:numRef>
              <c:f>Sheet1!$B$2:$B$3</c:f>
              <c:numCache>
                <c:formatCode>General</c:formatCode>
                <c:ptCount val="2"/>
                <c:pt idx="0">
                  <c:v>79</c:v>
                </c:pt>
                <c:pt idx="1">
                  <c:v>21</c:v>
                </c:pt>
              </c:numCache>
            </c:numRef>
          </c:val>
          <c:extLst>
            <c:ext xmlns:c16="http://schemas.microsoft.com/office/drawing/2014/chart" uri="{C3380CC4-5D6E-409C-BE32-E72D297353CC}">
              <c16:uniqueId val="{00000004-B4C9-47C6-89FF-C925B8B0468B}"/>
            </c:ext>
          </c:extLst>
        </c:ser>
        <c:dLbls>
          <c:showLegendKey val="0"/>
          <c:showVal val="0"/>
          <c:showCatName val="0"/>
          <c:showSerName val="0"/>
          <c:showPercent val="0"/>
          <c:showBubbleSize val="0"/>
          <c:showLeaderLines val="1"/>
        </c:dLbls>
        <c:firstSliceAng val="0"/>
        <c:holeSize val="60"/>
      </c:doughnutChart>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B7F6EE-E065-4B0D-8FEA-1B143DEEC34D}" type="doc">
      <dgm:prSet loTypeId="urn:microsoft.com/office/officeart/2005/8/layout/gear1" loCatId="relationship" qsTypeId="urn:microsoft.com/office/officeart/2005/8/quickstyle/3d2" qsCatId="3D" csTypeId="urn:microsoft.com/office/officeart/2005/8/colors/accent1_2" csCatId="accent1" phldr="1"/>
      <dgm:spPr/>
      <dgm:t>
        <a:bodyPr/>
        <a:lstStyle/>
        <a:p>
          <a:endParaRPr lang="en-US"/>
        </a:p>
      </dgm:t>
    </dgm:pt>
    <dgm:pt modelId="{ECC78FFB-FC9E-4E96-AB20-1B3FB33CF3C2}">
      <dgm:prSet phldrT="[Text]" phldr="0"/>
      <dgm:spPr/>
      <dgm:t>
        <a:bodyPr/>
        <a:lstStyle/>
        <a:p>
          <a:endParaRPr lang="en-US" dirty="0"/>
        </a:p>
      </dgm:t>
    </dgm:pt>
    <dgm:pt modelId="{31D93712-500A-4E7F-8EA6-B22CEB60BB86}" type="parTrans" cxnId="{4DA7D2B2-1BC4-42AD-AECE-12BEAD04BA4F}">
      <dgm:prSet/>
      <dgm:spPr/>
      <dgm:t>
        <a:bodyPr/>
        <a:lstStyle/>
        <a:p>
          <a:endParaRPr lang="en-US"/>
        </a:p>
      </dgm:t>
    </dgm:pt>
    <dgm:pt modelId="{34B0B4CA-FFC9-4D7F-9BD5-2AF914C706C3}" type="sibTrans" cxnId="{4DA7D2B2-1BC4-42AD-AECE-12BEAD04BA4F}">
      <dgm:prSet/>
      <dgm:spPr/>
      <dgm:t>
        <a:bodyPr/>
        <a:lstStyle/>
        <a:p>
          <a:endParaRPr lang="en-US"/>
        </a:p>
      </dgm:t>
    </dgm:pt>
    <dgm:pt modelId="{F4F94176-EC6E-4039-AF8C-879383F15EC8}">
      <dgm:prSet phldrT="[Text]" phldr="0"/>
      <dgm:spPr/>
      <dgm:t>
        <a:bodyPr/>
        <a:lstStyle/>
        <a:p>
          <a:endParaRPr lang="en-US" dirty="0"/>
        </a:p>
      </dgm:t>
    </dgm:pt>
    <dgm:pt modelId="{8B10AAD3-0A5B-43F0-BC11-F6338D851E4C}" type="parTrans" cxnId="{16EB2743-6234-46E5-868B-A6125CEB8EAB}">
      <dgm:prSet/>
      <dgm:spPr/>
      <dgm:t>
        <a:bodyPr/>
        <a:lstStyle/>
        <a:p>
          <a:endParaRPr lang="en-US"/>
        </a:p>
      </dgm:t>
    </dgm:pt>
    <dgm:pt modelId="{1774D82D-F262-4936-9565-778D99ABF594}" type="sibTrans" cxnId="{16EB2743-6234-46E5-868B-A6125CEB8EAB}">
      <dgm:prSet/>
      <dgm:spPr/>
      <dgm:t>
        <a:bodyPr/>
        <a:lstStyle/>
        <a:p>
          <a:endParaRPr lang="en-US"/>
        </a:p>
      </dgm:t>
    </dgm:pt>
    <dgm:pt modelId="{BBF392C1-1DFB-4C78-8D88-50AE20620B83}">
      <dgm:prSet phldrT="[Text]" phldr="0"/>
      <dgm:spPr/>
      <dgm:t>
        <a:bodyPr/>
        <a:lstStyle/>
        <a:p>
          <a:endParaRPr lang="en-US" dirty="0"/>
        </a:p>
      </dgm:t>
    </dgm:pt>
    <dgm:pt modelId="{517485F1-60F9-4D15-944E-45B1B6CAE902}" type="parTrans" cxnId="{DD2303FA-3BE8-4FFB-92C0-B381860327E4}">
      <dgm:prSet/>
      <dgm:spPr/>
      <dgm:t>
        <a:bodyPr/>
        <a:lstStyle/>
        <a:p>
          <a:endParaRPr lang="en-US"/>
        </a:p>
      </dgm:t>
    </dgm:pt>
    <dgm:pt modelId="{81ADD534-DD29-4E50-81AF-39080F795AC8}" type="sibTrans" cxnId="{DD2303FA-3BE8-4FFB-92C0-B381860327E4}">
      <dgm:prSet/>
      <dgm:spPr/>
      <dgm:t>
        <a:bodyPr/>
        <a:lstStyle/>
        <a:p>
          <a:endParaRPr lang="en-US"/>
        </a:p>
      </dgm:t>
    </dgm:pt>
    <dgm:pt modelId="{3AAE01C7-7CE5-4449-816D-CC60DF6D252C}" type="pres">
      <dgm:prSet presAssocID="{51B7F6EE-E065-4B0D-8FEA-1B143DEEC34D}" presName="composite" presStyleCnt="0">
        <dgm:presLayoutVars>
          <dgm:chMax val="3"/>
          <dgm:animLvl val="lvl"/>
          <dgm:resizeHandles val="exact"/>
        </dgm:presLayoutVars>
      </dgm:prSet>
      <dgm:spPr/>
    </dgm:pt>
    <dgm:pt modelId="{74895DEA-E921-4EF9-A9BF-9557621B6775}" type="pres">
      <dgm:prSet presAssocID="{ECC78FFB-FC9E-4E96-AB20-1B3FB33CF3C2}" presName="gear1" presStyleLbl="node1" presStyleIdx="0" presStyleCnt="3">
        <dgm:presLayoutVars>
          <dgm:chMax val="1"/>
          <dgm:bulletEnabled val="1"/>
        </dgm:presLayoutVars>
      </dgm:prSet>
      <dgm:spPr/>
    </dgm:pt>
    <dgm:pt modelId="{BDACEDAE-3CAC-46D8-9FB1-CE5694AF3E19}" type="pres">
      <dgm:prSet presAssocID="{ECC78FFB-FC9E-4E96-AB20-1B3FB33CF3C2}" presName="gear1srcNode" presStyleLbl="node1" presStyleIdx="0" presStyleCnt="3"/>
      <dgm:spPr/>
    </dgm:pt>
    <dgm:pt modelId="{227C6AC3-3617-4EE9-B6A0-C4F1187F5DEF}" type="pres">
      <dgm:prSet presAssocID="{ECC78FFB-FC9E-4E96-AB20-1B3FB33CF3C2}" presName="gear1dstNode" presStyleLbl="node1" presStyleIdx="0" presStyleCnt="3"/>
      <dgm:spPr/>
    </dgm:pt>
    <dgm:pt modelId="{590C3BC9-C121-4D99-9CE8-9CE781F2126F}" type="pres">
      <dgm:prSet presAssocID="{F4F94176-EC6E-4039-AF8C-879383F15EC8}" presName="gear2" presStyleLbl="node1" presStyleIdx="1" presStyleCnt="3">
        <dgm:presLayoutVars>
          <dgm:chMax val="1"/>
          <dgm:bulletEnabled val="1"/>
        </dgm:presLayoutVars>
      </dgm:prSet>
      <dgm:spPr/>
    </dgm:pt>
    <dgm:pt modelId="{190334FB-2F69-4552-ABD1-A4E760E71A2B}" type="pres">
      <dgm:prSet presAssocID="{F4F94176-EC6E-4039-AF8C-879383F15EC8}" presName="gear2srcNode" presStyleLbl="node1" presStyleIdx="1" presStyleCnt="3"/>
      <dgm:spPr/>
    </dgm:pt>
    <dgm:pt modelId="{E62C7F17-96AE-41BE-ABDE-E06EF5B690C3}" type="pres">
      <dgm:prSet presAssocID="{F4F94176-EC6E-4039-AF8C-879383F15EC8}" presName="gear2dstNode" presStyleLbl="node1" presStyleIdx="1" presStyleCnt="3"/>
      <dgm:spPr/>
    </dgm:pt>
    <dgm:pt modelId="{61E8A9B4-241F-4F99-8CB0-12B70820337E}" type="pres">
      <dgm:prSet presAssocID="{BBF392C1-1DFB-4C78-8D88-50AE20620B83}" presName="gear3" presStyleLbl="node1" presStyleIdx="2" presStyleCnt="3"/>
      <dgm:spPr/>
    </dgm:pt>
    <dgm:pt modelId="{5BA89A8F-361E-422B-8898-5E184E6947B8}" type="pres">
      <dgm:prSet presAssocID="{BBF392C1-1DFB-4C78-8D88-50AE20620B83}" presName="gear3tx" presStyleLbl="node1" presStyleIdx="2" presStyleCnt="3">
        <dgm:presLayoutVars>
          <dgm:chMax val="1"/>
          <dgm:bulletEnabled val="1"/>
        </dgm:presLayoutVars>
      </dgm:prSet>
      <dgm:spPr/>
    </dgm:pt>
    <dgm:pt modelId="{FAF83B0B-CF33-4DAC-A3CD-9621D32F29C2}" type="pres">
      <dgm:prSet presAssocID="{BBF392C1-1DFB-4C78-8D88-50AE20620B83}" presName="gear3srcNode" presStyleLbl="node1" presStyleIdx="2" presStyleCnt="3"/>
      <dgm:spPr/>
    </dgm:pt>
    <dgm:pt modelId="{9492BD59-7162-471A-AB25-F9C7E58BDCC5}" type="pres">
      <dgm:prSet presAssocID="{BBF392C1-1DFB-4C78-8D88-50AE20620B83}" presName="gear3dstNode" presStyleLbl="node1" presStyleIdx="2" presStyleCnt="3"/>
      <dgm:spPr/>
    </dgm:pt>
    <dgm:pt modelId="{C5DA9F4D-E3F7-41D6-AB14-DC3A52503517}" type="pres">
      <dgm:prSet presAssocID="{34B0B4CA-FFC9-4D7F-9BD5-2AF914C706C3}" presName="connector1" presStyleLbl="sibTrans2D1" presStyleIdx="0" presStyleCnt="3"/>
      <dgm:spPr/>
    </dgm:pt>
    <dgm:pt modelId="{F083CD82-BEF8-42EA-A4C8-6A269827866D}" type="pres">
      <dgm:prSet presAssocID="{1774D82D-F262-4936-9565-778D99ABF594}" presName="connector2" presStyleLbl="sibTrans2D1" presStyleIdx="1" presStyleCnt="3"/>
      <dgm:spPr/>
    </dgm:pt>
    <dgm:pt modelId="{88F676C0-DFFC-4EF4-A311-80DB135F5BDA}" type="pres">
      <dgm:prSet presAssocID="{81ADD534-DD29-4E50-81AF-39080F795AC8}" presName="connector3" presStyleLbl="sibTrans2D1" presStyleIdx="2" presStyleCnt="3"/>
      <dgm:spPr/>
    </dgm:pt>
  </dgm:ptLst>
  <dgm:cxnLst>
    <dgm:cxn modelId="{395D440A-2950-474E-96C2-146B7EE8786D}" type="presOf" srcId="{F4F94176-EC6E-4039-AF8C-879383F15EC8}" destId="{590C3BC9-C121-4D99-9CE8-9CE781F2126F}" srcOrd="0" destOrd="0" presId="urn:microsoft.com/office/officeart/2005/8/layout/gear1"/>
    <dgm:cxn modelId="{670B691A-2113-4A78-859A-607A632B424C}" type="presOf" srcId="{ECC78FFB-FC9E-4E96-AB20-1B3FB33CF3C2}" destId="{227C6AC3-3617-4EE9-B6A0-C4F1187F5DEF}" srcOrd="2" destOrd="0" presId="urn:microsoft.com/office/officeart/2005/8/layout/gear1"/>
    <dgm:cxn modelId="{473B1624-BE75-46F8-910B-29C837DD3046}" type="presOf" srcId="{BBF392C1-1DFB-4C78-8D88-50AE20620B83}" destId="{5BA89A8F-361E-422B-8898-5E184E6947B8}" srcOrd="1" destOrd="0" presId="urn:microsoft.com/office/officeart/2005/8/layout/gear1"/>
    <dgm:cxn modelId="{38D94F30-17F7-44CD-AE24-9F9C9E19EA13}" type="presOf" srcId="{ECC78FFB-FC9E-4E96-AB20-1B3FB33CF3C2}" destId="{BDACEDAE-3CAC-46D8-9FB1-CE5694AF3E19}" srcOrd="1" destOrd="0" presId="urn:microsoft.com/office/officeart/2005/8/layout/gear1"/>
    <dgm:cxn modelId="{E0CFCB3A-9895-4BBF-8165-197C5C84B190}" type="presOf" srcId="{BBF392C1-1DFB-4C78-8D88-50AE20620B83}" destId="{FAF83B0B-CF33-4DAC-A3CD-9621D32F29C2}" srcOrd="2" destOrd="0" presId="urn:microsoft.com/office/officeart/2005/8/layout/gear1"/>
    <dgm:cxn modelId="{16EB2743-6234-46E5-868B-A6125CEB8EAB}" srcId="{51B7F6EE-E065-4B0D-8FEA-1B143DEEC34D}" destId="{F4F94176-EC6E-4039-AF8C-879383F15EC8}" srcOrd="1" destOrd="0" parTransId="{8B10AAD3-0A5B-43F0-BC11-F6338D851E4C}" sibTransId="{1774D82D-F262-4936-9565-778D99ABF594}"/>
    <dgm:cxn modelId="{6FD1996C-563F-4DA8-AD44-2D92BAD97253}" type="presOf" srcId="{34B0B4CA-FFC9-4D7F-9BD5-2AF914C706C3}" destId="{C5DA9F4D-E3F7-41D6-AB14-DC3A52503517}" srcOrd="0" destOrd="0" presId="urn:microsoft.com/office/officeart/2005/8/layout/gear1"/>
    <dgm:cxn modelId="{D3575D57-FB77-4D43-A1F7-FE94C770CAA5}" type="presOf" srcId="{F4F94176-EC6E-4039-AF8C-879383F15EC8}" destId="{190334FB-2F69-4552-ABD1-A4E760E71A2B}" srcOrd="1" destOrd="0" presId="urn:microsoft.com/office/officeart/2005/8/layout/gear1"/>
    <dgm:cxn modelId="{3FACD757-BFDC-4336-A357-809421452B67}" type="presOf" srcId="{81ADD534-DD29-4E50-81AF-39080F795AC8}" destId="{88F676C0-DFFC-4EF4-A311-80DB135F5BDA}" srcOrd="0" destOrd="0" presId="urn:microsoft.com/office/officeart/2005/8/layout/gear1"/>
    <dgm:cxn modelId="{4DA7D2B2-1BC4-42AD-AECE-12BEAD04BA4F}" srcId="{51B7F6EE-E065-4B0D-8FEA-1B143DEEC34D}" destId="{ECC78FFB-FC9E-4E96-AB20-1B3FB33CF3C2}" srcOrd="0" destOrd="0" parTransId="{31D93712-500A-4E7F-8EA6-B22CEB60BB86}" sibTransId="{34B0B4CA-FFC9-4D7F-9BD5-2AF914C706C3}"/>
    <dgm:cxn modelId="{CB8C37D0-13CD-4E6F-A1A5-92A63642EB30}" type="presOf" srcId="{ECC78FFB-FC9E-4E96-AB20-1B3FB33CF3C2}" destId="{74895DEA-E921-4EF9-A9BF-9557621B6775}" srcOrd="0" destOrd="0" presId="urn:microsoft.com/office/officeart/2005/8/layout/gear1"/>
    <dgm:cxn modelId="{611FF0D1-8AB0-47AA-96F7-53B023A72263}" type="presOf" srcId="{BBF392C1-1DFB-4C78-8D88-50AE20620B83}" destId="{9492BD59-7162-471A-AB25-F9C7E58BDCC5}" srcOrd="3" destOrd="0" presId="urn:microsoft.com/office/officeart/2005/8/layout/gear1"/>
    <dgm:cxn modelId="{9A6846E1-DDFD-4DD4-8EC7-E2859628F3C4}" type="presOf" srcId="{51B7F6EE-E065-4B0D-8FEA-1B143DEEC34D}" destId="{3AAE01C7-7CE5-4449-816D-CC60DF6D252C}" srcOrd="0" destOrd="0" presId="urn:microsoft.com/office/officeart/2005/8/layout/gear1"/>
    <dgm:cxn modelId="{08EC64E3-5DBF-442B-A7E7-6B8042BD4E73}" type="presOf" srcId="{1774D82D-F262-4936-9565-778D99ABF594}" destId="{F083CD82-BEF8-42EA-A4C8-6A269827866D}" srcOrd="0" destOrd="0" presId="urn:microsoft.com/office/officeart/2005/8/layout/gear1"/>
    <dgm:cxn modelId="{1827ABEB-867B-4F43-B44E-F4A86B71374D}" type="presOf" srcId="{F4F94176-EC6E-4039-AF8C-879383F15EC8}" destId="{E62C7F17-96AE-41BE-ABDE-E06EF5B690C3}" srcOrd="2" destOrd="0" presId="urn:microsoft.com/office/officeart/2005/8/layout/gear1"/>
    <dgm:cxn modelId="{DD2303FA-3BE8-4FFB-92C0-B381860327E4}" srcId="{51B7F6EE-E065-4B0D-8FEA-1B143DEEC34D}" destId="{BBF392C1-1DFB-4C78-8D88-50AE20620B83}" srcOrd="2" destOrd="0" parTransId="{517485F1-60F9-4D15-944E-45B1B6CAE902}" sibTransId="{81ADD534-DD29-4E50-81AF-39080F795AC8}"/>
    <dgm:cxn modelId="{9442DBFE-0B94-4019-BFB8-465698336F5B}" type="presOf" srcId="{BBF392C1-1DFB-4C78-8D88-50AE20620B83}" destId="{61E8A9B4-241F-4F99-8CB0-12B70820337E}" srcOrd="0" destOrd="0" presId="urn:microsoft.com/office/officeart/2005/8/layout/gear1"/>
    <dgm:cxn modelId="{46A205FC-DDB5-4560-8EEF-4A92B76A6D83}" type="presParOf" srcId="{3AAE01C7-7CE5-4449-816D-CC60DF6D252C}" destId="{74895DEA-E921-4EF9-A9BF-9557621B6775}" srcOrd="0" destOrd="0" presId="urn:microsoft.com/office/officeart/2005/8/layout/gear1"/>
    <dgm:cxn modelId="{B8F46229-2A8B-4EB5-923D-63F2CD868C0E}" type="presParOf" srcId="{3AAE01C7-7CE5-4449-816D-CC60DF6D252C}" destId="{BDACEDAE-3CAC-46D8-9FB1-CE5694AF3E19}" srcOrd="1" destOrd="0" presId="urn:microsoft.com/office/officeart/2005/8/layout/gear1"/>
    <dgm:cxn modelId="{E2DB617C-4370-43B9-9180-B992F3AFB0CC}" type="presParOf" srcId="{3AAE01C7-7CE5-4449-816D-CC60DF6D252C}" destId="{227C6AC3-3617-4EE9-B6A0-C4F1187F5DEF}" srcOrd="2" destOrd="0" presId="urn:microsoft.com/office/officeart/2005/8/layout/gear1"/>
    <dgm:cxn modelId="{292F3F54-D172-4E9F-9F8F-A8D57DE3355B}" type="presParOf" srcId="{3AAE01C7-7CE5-4449-816D-CC60DF6D252C}" destId="{590C3BC9-C121-4D99-9CE8-9CE781F2126F}" srcOrd="3" destOrd="0" presId="urn:microsoft.com/office/officeart/2005/8/layout/gear1"/>
    <dgm:cxn modelId="{D86CD5DC-7AA5-476C-BFB3-21E6FADDEEFE}" type="presParOf" srcId="{3AAE01C7-7CE5-4449-816D-CC60DF6D252C}" destId="{190334FB-2F69-4552-ABD1-A4E760E71A2B}" srcOrd="4" destOrd="0" presId="urn:microsoft.com/office/officeart/2005/8/layout/gear1"/>
    <dgm:cxn modelId="{D6148D0B-6657-4204-B420-521ED38AC3E0}" type="presParOf" srcId="{3AAE01C7-7CE5-4449-816D-CC60DF6D252C}" destId="{E62C7F17-96AE-41BE-ABDE-E06EF5B690C3}" srcOrd="5" destOrd="0" presId="urn:microsoft.com/office/officeart/2005/8/layout/gear1"/>
    <dgm:cxn modelId="{AECC4F2F-2A89-4920-BD89-1C6C5DE0A3A6}" type="presParOf" srcId="{3AAE01C7-7CE5-4449-816D-CC60DF6D252C}" destId="{61E8A9B4-241F-4F99-8CB0-12B70820337E}" srcOrd="6" destOrd="0" presId="urn:microsoft.com/office/officeart/2005/8/layout/gear1"/>
    <dgm:cxn modelId="{07CB27C2-3838-4EE5-BEB0-912DB7EE3D4F}" type="presParOf" srcId="{3AAE01C7-7CE5-4449-816D-CC60DF6D252C}" destId="{5BA89A8F-361E-422B-8898-5E184E6947B8}" srcOrd="7" destOrd="0" presId="urn:microsoft.com/office/officeart/2005/8/layout/gear1"/>
    <dgm:cxn modelId="{A059D4E1-2D58-4DA8-9049-4C257749207A}" type="presParOf" srcId="{3AAE01C7-7CE5-4449-816D-CC60DF6D252C}" destId="{FAF83B0B-CF33-4DAC-A3CD-9621D32F29C2}" srcOrd="8" destOrd="0" presId="urn:microsoft.com/office/officeart/2005/8/layout/gear1"/>
    <dgm:cxn modelId="{3BC767BC-B3E2-4608-A74C-17ECF436A740}" type="presParOf" srcId="{3AAE01C7-7CE5-4449-816D-CC60DF6D252C}" destId="{9492BD59-7162-471A-AB25-F9C7E58BDCC5}" srcOrd="9" destOrd="0" presId="urn:microsoft.com/office/officeart/2005/8/layout/gear1"/>
    <dgm:cxn modelId="{DCD2B11D-093B-4A41-A51D-C467AAABD0A8}" type="presParOf" srcId="{3AAE01C7-7CE5-4449-816D-CC60DF6D252C}" destId="{C5DA9F4D-E3F7-41D6-AB14-DC3A52503517}" srcOrd="10" destOrd="0" presId="urn:microsoft.com/office/officeart/2005/8/layout/gear1"/>
    <dgm:cxn modelId="{C440F729-89B9-4977-BDA8-A6643413053A}" type="presParOf" srcId="{3AAE01C7-7CE5-4449-816D-CC60DF6D252C}" destId="{F083CD82-BEF8-42EA-A4C8-6A269827866D}" srcOrd="11" destOrd="0" presId="urn:microsoft.com/office/officeart/2005/8/layout/gear1"/>
    <dgm:cxn modelId="{96111271-C36A-4497-AA78-A83257B847B2}" type="presParOf" srcId="{3AAE01C7-7CE5-4449-816D-CC60DF6D252C}" destId="{88F676C0-DFFC-4EF4-A311-80DB135F5BDA}" srcOrd="12" destOrd="0" presId="urn:microsoft.com/office/officeart/2005/8/layout/gear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2A381F-F78D-4480-AA42-3F5F35DB8654}" type="doc">
      <dgm:prSet loTypeId="urn:microsoft.com/office/officeart/2009/layout/CircleArrowProcess" loCatId="cycle" qsTypeId="urn:microsoft.com/office/officeart/2005/8/quickstyle/3d2" qsCatId="3D" csTypeId="urn:microsoft.com/office/officeart/2005/8/colors/accent1_2" csCatId="accent1" phldr="1"/>
      <dgm:spPr/>
      <dgm:t>
        <a:bodyPr/>
        <a:lstStyle/>
        <a:p>
          <a:endParaRPr lang="en-US"/>
        </a:p>
      </dgm:t>
    </dgm:pt>
    <dgm:pt modelId="{E8F45930-5997-4697-8241-70898ED09C0A}">
      <dgm:prSet phldrT="[Text]" phldr="0"/>
      <dgm:spPr/>
      <dgm:t>
        <a:bodyPr/>
        <a:lstStyle/>
        <a:p>
          <a:endParaRPr lang="en-US" dirty="0"/>
        </a:p>
      </dgm:t>
    </dgm:pt>
    <dgm:pt modelId="{9B516249-B9AB-4E4D-ABFF-141B3649BCAF}" type="parTrans" cxnId="{90FB19C6-073A-4848-883C-A00190A8E27E}">
      <dgm:prSet/>
      <dgm:spPr/>
      <dgm:t>
        <a:bodyPr/>
        <a:lstStyle/>
        <a:p>
          <a:endParaRPr lang="en-US"/>
        </a:p>
      </dgm:t>
    </dgm:pt>
    <dgm:pt modelId="{071F86C3-8B1B-49B5-9BF3-2EEC9E01D471}" type="sibTrans" cxnId="{90FB19C6-073A-4848-883C-A00190A8E27E}">
      <dgm:prSet/>
      <dgm:spPr/>
      <dgm:t>
        <a:bodyPr/>
        <a:lstStyle/>
        <a:p>
          <a:endParaRPr lang="en-US"/>
        </a:p>
      </dgm:t>
    </dgm:pt>
    <dgm:pt modelId="{0D33966E-95B4-460F-9259-ED4B933A8C98}">
      <dgm:prSet phldrT="[Text]" phldr="0"/>
      <dgm:spPr/>
      <dgm:t>
        <a:bodyPr/>
        <a:lstStyle/>
        <a:p>
          <a:endParaRPr lang="en-US" dirty="0"/>
        </a:p>
      </dgm:t>
    </dgm:pt>
    <dgm:pt modelId="{2DB47BA8-AF6B-4FC0-8FDF-FF8207E128A8}" type="parTrans" cxnId="{B1322804-92D7-43B9-8EE9-F4613AECC1F6}">
      <dgm:prSet/>
      <dgm:spPr/>
      <dgm:t>
        <a:bodyPr/>
        <a:lstStyle/>
        <a:p>
          <a:endParaRPr lang="en-US"/>
        </a:p>
      </dgm:t>
    </dgm:pt>
    <dgm:pt modelId="{93A6FFF4-5A45-4817-B3BB-62AC950CEC8D}" type="sibTrans" cxnId="{B1322804-92D7-43B9-8EE9-F4613AECC1F6}">
      <dgm:prSet/>
      <dgm:spPr/>
      <dgm:t>
        <a:bodyPr/>
        <a:lstStyle/>
        <a:p>
          <a:endParaRPr lang="en-US"/>
        </a:p>
      </dgm:t>
    </dgm:pt>
    <dgm:pt modelId="{5A11E125-53C6-41EE-94FD-EEBC5865EF4D}">
      <dgm:prSet phldrT="[Text]" phldr="0"/>
      <dgm:spPr/>
      <dgm:t>
        <a:bodyPr/>
        <a:lstStyle/>
        <a:p>
          <a:endParaRPr lang="en-US" dirty="0"/>
        </a:p>
      </dgm:t>
    </dgm:pt>
    <dgm:pt modelId="{78DE466F-1A97-46CB-AC41-1A9AF319D094}" type="parTrans" cxnId="{785E4F1D-C568-4517-A80B-ECA3E2D6E58D}">
      <dgm:prSet/>
      <dgm:spPr/>
      <dgm:t>
        <a:bodyPr/>
        <a:lstStyle/>
        <a:p>
          <a:endParaRPr lang="en-US"/>
        </a:p>
      </dgm:t>
    </dgm:pt>
    <dgm:pt modelId="{9ECAE9C1-1727-4D93-8ABB-D7C90DB9365F}" type="sibTrans" cxnId="{785E4F1D-C568-4517-A80B-ECA3E2D6E58D}">
      <dgm:prSet/>
      <dgm:spPr/>
      <dgm:t>
        <a:bodyPr/>
        <a:lstStyle/>
        <a:p>
          <a:endParaRPr lang="en-US"/>
        </a:p>
      </dgm:t>
    </dgm:pt>
    <dgm:pt modelId="{DFADD5C9-23B0-47A6-BFDF-C783509113C6}" type="pres">
      <dgm:prSet presAssocID="{682A381F-F78D-4480-AA42-3F5F35DB8654}" presName="Name0" presStyleCnt="0">
        <dgm:presLayoutVars>
          <dgm:chMax val="7"/>
          <dgm:chPref val="7"/>
          <dgm:dir/>
          <dgm:animLvl val="lvl"/>
        </dgm:presLayoutVars>
      </dgm:prSet>
      <dgm:spPr/>
    </dgm:pt>
    <dgm:pt modelId="{FBC9642D-77C3-4BC9-9316-ABD45450195B}" type="pres">
      <dgm:prSet presAssocID="{E8F45930-5997-4697-8241-70898ED09C0A}" presName="Accent1" presStyleCnt="0"/>
      <dgm:spPr/>
    </dgm:pt>
    <dgm:pt modelId="{12DEE5C7-CC04-439A-B3D4-FB2B1376F31A}" type="pres">
      <dgm:prSet presAssocID="{E8F45930-5997-4697-8241-70898ED09C0A}" presName="Accent" presStyleLbl="node1" presStyleIdx="0" presStyleCnt="3"/>
      <dgm:spPr/>
    </dgm:pt>
    <dgm:pt modelId="{DADEECCD-5693-4D4D-9BD1-4843AD5DD2FC}" type="pres">
      <dgm:prSet presAssocID="{E8F45930-5997-4697-8241-70898ED09C0A}" presName="Parent1" presStyleLbl="revTx" presStyleIdx="0" presStyleCnt="3">
        <dgm:presLayoutVars>
          <dgm:chMax val="1"/>
          <dgm:chPref val="1"/>
          <dgm:bulletEnabled val="1"/>
        </dgm:presLayoutVars>
      </dgm:prSet>
      <dgm:spPr/>
    </dgm:pt>
    <dgm:pt modelId="{B4C0EFBB-7CA0-45FE-8628-7F3ADB46A8F3}" type="pres">
      <dgm:prSet presAssocID="{0D33966E-95B4-460F-9259-ED4B933A8C98}" presName="Accent2" presStyleCnt="0"/>
      <dgm:spPr/>
    </dgm:pt>
    <dgm:pt modelId="{52EC855D-55A5-4F93-946C-8830FF7B80E1}" type="pres">
      <dgm:prSet presAssocID="{0D33966E-95B4-460F-9259-ED4B933A8C98}" presName="Accent" presStyleLbl="node1" presStyleIdx="1" presStyleCnt="3"/>
      <dgm:spPr/>
    </dgm:pt>
    <dgm:pt modelId="{EAB425B5-B844-4665-82BD-AEF33B56D60D}" type="pres">
      <dgm:prSet presAssocID="{0D33966E-95B4-460F-9259-ED4B933A8C98}" presName="Parent2" presStyleLbl="revTx" presStyleIdx="1" presStyleCnt="3">
        <dgm:presLayoutVars>
          <dgm:chMax val="1"/>
          <dgm:chPref val="1"/>
          <dgm:bulletEnabled val="1"/>
        </dgm:presLayoutVars>
      </dgm:prSet>
      <dgm:spPr/>
    </dgm:pt>
    <dgm:pt modelId="{A7608D79-04A6-492F-9568-E6307E10E372}" type="pres">
      <dgm:prSet presAssocID="{5A11E125-53C6-41EE-94FD-EEBC5865EF4D}" presName="Accent3" presStyleCnt="0"/>
      <dgm:spPr/>
    </dgm:pt>
    <dgm:pt modelId="{41B99AB9-AD92-4562-9B5B-5B6E82C3D838}" type="pres">
      <dgm:prSet presAssocID="{5A11E125-53C6-41EE-94FD-EEBC5865EF4D}" presName="Accent" presStyleLbl="node1" presStyleIdx="2" presStyleCnt="3"/>
      <dgm:spPr/>
    </dgm:pt>
    <dgm:pt modelId="{2D32B387-0D05-4632-A529-FC8A70EAA6E2}" type="pres">
      <dgm:prSet presAssocID="{5A11E125-53C6-41EE-94FD-EEBC5865EF4D}" presName="Parent3" presStyleLbl="revTx" presStyleIdx="2" presStyleCnt="3">
        <dgm:presLayoutVars>
          <dgm:chMax val="1"/>
          <dgm:chPref val="1"/>
          <dgm:bulletEnabled val="1"/>
        </dgm:presLayoutVars>
      </dgm:prSet>
      <dgm:spPr/>
    </dgm:pt>
  </dgm:ptLst>
  <dgm:cxnLst>
    <dgm:cxn modelId="{B1322804-92D7-43B9-8EE9-F4613AECC1F6}" srcId="{682A381F-F78D-4480-AA42-3F5F35DB8654}" destId="{0D33966E-95B4-460F-9259-ED4B933A8C98}" srcOrd="1" destOrd="0" parTransId="{2DB47BA8-AF6B-4FC0-8FDF-FF8207E128A8}" sibTransId="{93A6FFF4-5A45-4817-B3BB-62AC950CEC8D}"/>
    <dgm:cxn modelId="{785E4F1D-C568-4517-A80B-ECA3E2D6E58D}" srcId="{682A381F-F78D-4480-AA42-3F5F35DB8654}" destId="{5A11E125-53C6-41EE-94FD-EEBC5865EF4D}" srcOrd="2" destOrd="0" parTransId="{78DE466F-1A97-46CB-AC41-1A9AF319D094}" sibTransId="{9ECAE9C1-1727-4D93-8ABB-D7C90DB9365F}"/>
    <dgm:cxn modelId="{10B5E83D-73B3-483E-919A-6A56FDD27A75}" type="presOf" srcId="{E8F45930-5997-4697-8241-70898ED09C0A}" destId="{DADEECCD-5693-4D4D-9BD1-4843AD5DD2FC}" srcOrd="0" destOrd="0" presId="urn:microsoft.com/office/officeart/2009/layout/CircleArrowProcess"/>
    <dgm:cxn modelId="{29859796-F416-4B5E-B0B7-A256332C004D}" type="presOf" srcId="{0D33966E-95B4-460F-9259-ED4B933A8C98}" destId="{EAB425B5-B844-4665-82BD-AEF33B56D60D}" srcOrd="0" destOrd="0" presId="urn:microsoft.com/office/officeart/2009/layout/CircleArrowProcess"/>
    <dgm:cxn modelId="{AA58D5BC-1769-498F-8967-C1B80FC243C7}" type="presOf" srcId="{5A11E125-53C6-41EE-94FD-EEBC5865EF4D}" destId="{2D32B387-0D05-4632-A529-FC8A70EAA6E2}" srcOrd="0" destOrd="0" presId="urn:microsoft.com/office/officeart/2009/layout/CircleArrowProcess"/>
    <dgm:cxn modelId="{90FB19C6-073A-4848-883C-A00190A8E27E}" srcId="{682A381F-F78D-4480-AA42-3F5F35DB8654}" destId="{E8F45930-5997-4697-8241-70898ED09C0A}" srcOrd="0" destOrd="0" parTransId="{9B516249-B9AB-4E4D-ABFF-141B3649BCAF}" sibTransId="{071F86C3-8B1B-49B5-9BF3-2EEC9E01D471}"/>
    <dgm:cxn modelId="{CC2016F5-F6AA-4523-9138-C5B1128ADA8D}" type="presOf" srcId="{682A381F-F78D-4480-AA42-3F5F35DB8654}" destId="{DFADD5C9-23B0-47A6-BFDF-C783509113C6}" srcOrd="0" destOrd="0" presId="urn:microsoft.com/office/officeart/2009/layout/CircleArrowProcess"/>
    <dgm:cxn modelId="{755C6382-34DF-434D-9577-71F7448B0C91}" type="presParOf" srcId="{DFADD5C9-23B0-47A6-BFDF-C783509113C6}" destId="{FBC9642D-77C3-4BC9-9316-ABD45450195B}" srcOrd="0" destOrd="0" presId="urn:microsoft.com/office/officeart/2009/layout/CircleArrowProcess"/>
    <dgm:cxn modelId="{489A53D1-32E2-4B24-AC1A-8D25C3FD0DF6}" type="presParOf" srcId="{FBC9642D-77C3-4BC9-9316-ABD45450195B}" destId="{12DEE5C7-CC04-439A-B3D4-FB2B1376F31A}" srcOrd="0" destOrd="0" presId="urn:microsoft.com/office/officeart/2009/layout/CircleArrowProcess"/>
    <dgm:cxn modelId="{AD2DA9B8-B3B2-4B4C-8A22-5049257749B6}" type="presParOf" srcId="{DFADD5C9-23B0-47A6-BFDF-C783509113C6}" destId="{DADEECCD-5693-4D4D-9BD1-4843AD5DD2FC}" srcOrd="1" destOrd="0" presId="urn:microsoft.com/office/officeart/2009/layout/CircleArrowProcess"/>
    <dgm:cxn modelId="{9C41B67D-E088-4169-8C19-D34DF3A1F790}" type="presParOf" srcId="{DFADD5C9-23B0-47A6-BFDF-C783509113C6}" destId="{B4C0EFBB-7CA0-45FE-8628-7F3ADB46A8F3}" srcOrd="2" destOrd="0" presId="urn:microsoft.com/office/officeart/2009/layout/CircleArrowProcess"/>
    <dgm:cxn modelId="{3A0D27F6-3D76-4980-A43D-F834316C3710}" type="presParOf" srcId="{B4C0EFBB-7CA0-45FE-8628-7F3ADB46A8F3}" destId="{52EC855D-55A5-4F93-946C-8830FF7B80E1}" srcOrd="0" destOrd="0" presId="urn:microsoft.com/office/officeart/2009/layout/CircleArrowProcess"/>
    <dgm:cxn modelId="{0C53DDE8-0865-40AF-9CA9-2454B65FE540}" type="presParOf" srcId="{DFADD5C9-23B0-47A6-BFDF-C783509113C6}" destId="{EAB425B5-B844-4665-82BD-AEF33B56D60D}" srcOrd="3" destOrd="0" presId="urn:microsoft.com/office/officeart/2009/layout/CircleArrowProcess"/>
    <dgm:cxn modelId="{DC3126EF-12FC-41D7-AC7E-9EADD30357D6}" type="presParOf" srcId="{DFADD5C9-23B0-47A6-BFDF-C783509113C6}" destId="{A7608D79-04A6-492F-9568-E6307E10E372}" srcOrd="4" destOrd="0" presId="urn:microsoft.com/office/officeart/2009/layout/CircleArrowProcess"/>
    <dgm:cxn modelId="{E7C63673-258A-43F5-964F-1DF12691F408}" type="presParOf" srcId="{A7608D79-04A6-492F-9568-E6307E10E372}" destId="{41B99AB9-AD92-4562-9B5B-5B6E82C3D838}" srcOrd="0" destOrd="0" presId="urn:microsoft.com/office/officeart/2009/layout/CircleArrowProcess"/>
    <dgm:cxn modelId="{2176EA8B-658E-4E48-845F-515FAFC1D1D5}" type="presParOf" srcId="{DFADD5C9-23B0-47A6-BFDF-C783509113C6}" destId="{2D32B387-0D05-4632-A529-FC8A70EAA6E2}" srcOrd="5" destOrd="0" presId="urn:microsoft.com/office/officeart/2009/layout/CircleArrowProcess"/>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B0A5E9-BEC5-4144-97E1-0C4C9436E816}" type="doc">
      <dgm:prSet loTypeId="urn:microsoft.com/office/officeart/2005/8/layout/arrow2" loCatId="process" qsTypeId="urn:microsoft.com/office/officeart/2009/2/quickstyle/3d8" qsCatId="3D" csTypeId="urn:microsoft.com/office/officeart/2005/8/colors/accent1_2" csCatId="accent1" phldr="1"/>
      <dgm:spPr/>
      <dgm:t>
        <a:bodyPr/>
        <a:lstStyle/>
        <a:p>
          <a:endParaRPr lang="en-US"/>
        </a:p>
      </dgm:t>
    </dgm:pt>
    <dgm:pt modelId="{98057603-1E89-4AC3-A7CD-B5C4A80D8439}">
      <dgm:prSet phldrT="[Text]" phldr="0"/>
      <dgm:spPr/>
      <dgm:t>
        <a:bodyPr/>
        <a:lstStyle/>
        <a:p>
          <a:endParaRPr lang="en-US" dirty="0"/>
        </a:p>
      </dgm:t>
    </dgm:pt>
    <dgm:pt modelId="{D707BA84-B936-4385-B8E1-183FF449FFE0}" type="parTrans" cxnId="{3642C0B2-7DEA-4DCC-880A-22408E8F0FDC}">
      <dgm:prSet/>
      <dgm:spPr/>
      <dgm:t>
        <a:bodyPr/>
        <a:lstStyle/>
        <a:p>
          <a:endParaRPr lang="en-US"/>
        </a:p>
      </dgm:t>
    </dgm:pt>
    <dgm:pt modelId="{9A030CF2-DFA4-4C3A-B05B-9FEE6D1B1035}" type="sibTrans" cxnId="{3642C0B2-7DEA-4DCC-880A-22408E8F0FDC}">
      <dgm:prSet/>
      <dgm:spPr/>
      <dgm:t>
        <a:bodyPr/>
        <a:lstStyle/>
        <a:p>
          <a:endParaRPr lang="en-US"/>
        </a:p>
      </dgm:t>
    </dgm:pt>
    <dgm:pt modelId="{70F91E79-E678-40F0-927C-2E8420277692}">
      <dgm:prSet phldrT="[Text]" phldr="0"/>
      <dgm:spPr/>
      <dgm:t>
        <a:bodyPr/>
        <a:lstStyle/>
        <a:p>
          <a:endParaRPr lang="en-US" dirty="0"/>
        </a:p>
      </dgm:t>
    </dgm:pt>
    <dgm:pt modelId="{CE2C1792-1E90-4409-82DC-55701AA94F83}" type="parTrans" cxnId="{121CBE3B-B744-4363-B720-F6ACDABAC2D3}">
      <dgm:prSet/>
      <dgm:spPr/>
      <dgm:t>
        <a:bodyPr/>
        <a:lstStyle/>
        <a:p>
          <a:endParaRPr lang="en-US"/>
        </a:p>
      </dgm:t>
    </dgm:pt>
    <dgm:pt modelId="{57379CF5-3313-483A-A70A-6562BDA6D69B}" type="sibTrans" cxnId="{121CBE3B-B744-4363-B720-F6ACDABAC2D3}">
      <dgm:prSet/>
      <dgm:spPr/>
      <dgm:t>
        <a:bodyPr/>
        <a:lstStyle/>
        <a:p>
          <a:endParaRPr lang="en-US"/>
        </a:p>
      </dgm:t>
    </dgm:pt>
    <dgm:pt modelId="{761AF06D-EC7A-41D8-930B-648963C58107}">
      <dgm:prSet phldrT="[Text]" phldr="0"/>
      <dgm:spPr/>
      <dgm:t>
        <a:bodyPr/>
        <a:lstStyle/>
        <a:p>
          <a:endParaRPr lang="en-US" dirty="0"/>
        </a:p>
      </dgm:t>
    </dgm:pt>
    <dgm:pt modelId="{E95D3744-E659-4BF5-B294-C320D915792B}" type="parTrans" cxnId="{B5E3D229-18CF-47D1-A08F-0FCF3A4240B9}">
      <dgm:prSet/>
      <dgm:spPr/>
      <dgm:t>
        <a:bodyPr/>
        <a:lstStyle/>
        <a:p>
          <a:endParaRPr lang="en-US"/>
        </a:p>
      </dgm:t>
    </dgm:pt>
    <dgm:pt modelId="{08FB3B13-8642-4240-BA05-2D5C5A758EC3}" type="sibTrans" cxnId="{B5E3D229-18CF-47D1-A08F-0FCF3A4240B9}">
      <dgm:prSet/>
      <dgm:spPr/>
      <dgm:t>
        <a:bodyPr/>
        <a:lstStyle/>
        <a:p>
          <a:endParaRPr lang="en-US"/>
        </a:p>
      </dgm:t>
    </dgm:pt>
    <dgm:pt modelId="{EDCC0DC7-0E16-4322-A352-E10309CAA7F7}" type="pres">
      <dgm:prSet presAssocID="{03B0A5E9-BEC5-4144-97E1-0C4C9436E816}" presName="arrowDiagram" presStyleCnt="0">
        <dgm:presLayoutVars>
          <dgm:chMax val="5"/>
          <dgm:dir/>
          <dgm:resizeHandles val="exact"/>
        </dgm:presLayoutVars>
      </dgm:prSet>
      <dgm:spPr/>
    </dgm:pt>
    <dgm:pt modelId="{F6ABF79C-50E7-495A-BCB6-B2E3F2DA6C2B}" type="pres">
      <dgm:prSet presAssocID="{03B0A5E9-BEC5-4144-97E1-0C4C9436E816}" presName="arrow" presStyleLbl="bgShp" presStyleIdx="0" presStyleCnt="1" custLinFactNeighborX="6203" custLinFactNeighborY="46619"/>
      <dgm:spPr/>
    </dgm:pt>
    <dgm:pt modelId="{CC1924E7-CE54-4A5C-8168-38CA590B1FF5}" type="pres">
      <dgm:prSet presAssocID="{03B0A5E9-BEC5-4144-97E1-0C4C9436E816}" presName="arrowDiagram3" presStyleCnt="0"/>
      <dgm:spPr/>
    </dgm:pt>
    <dgm:pt modelId="{B3C88B11-64D2-4743-8415-64FDE88B261D}" type="pres">
      <dgm:prSet presAssocID="{98057603-1E89-4AC3-A7CD-B5C4A80D8439}" presName="bullet3a" presStyleLbl="node1" presStyleIdx="0" presStyleCnt="3"/>
      <dgm:spPr/>
    </dgm:pt>
    <dgm:pt modelId="{151E695D-F4AB-4A91-9F00-01DFADEE7B26}" type="pres">
      <dgm:prSet presAssocID="{98057603-1E89-4AC3-A7CD-B5C4A80D8439}" presName="textBox3a" presStyleLbl="revTx" presStyleIdx="0" presStyleCnt="3">
        <dgm:presLayoutVars>
          <dgm:bulletEnabled val="1"/>
        </dgm:presLayoutVars>
      </dgm:prSet>
      <dgm:spPr/>
    </dgm:pt>
    <dgm:pt modelId="{569D95D0-9832-42A6-972F-EE58A354F7D0}" type="pres">
      <dgm:prSet presAssocID="{70F91E79-E678-40F0-927C-2E8420277692}" presName="bullet3b" presStyleLbl="node1" presStyleIdx="1" presStyleCnt="3"/>
      <dgm:spPr/>
    </dgm:pt>
    <dgm:pt modelId="{901C6FC1-965A-40E2-86A8-B0D95BC02E68}" type="pres">
      <dgm:prSet presAssocID="{70F91E79-E678-40F0-927C-2E8420277692}" presName="textBox3b" presStyleLbl="revTx" presStyleIdx="1" presStyleCnt="3">
        <dgm:presLayoutVars>
          <dgm:bulletEnabled val="1"/>
        </dgm:presLayoutVars>
      </dgm:prSet>
      <dgm:spPr/>
    </dgm:pt>
    <dgm:pt modelId="{2414A263-E467-477B-924C-45A5D7EBDC26}" type="pres">
      <dgm:prSet presAssocID="{761AF06D-EC7A-41D8-930B-648963C58107}" presName="bullet3c" presStyleLbl="node1" presStyleIdx="2" presStyleCnt="3"/>
      <dgm:spPr/>
    </dgm:pt>
    <dgm:pt modelId="{FEA3716A-E38B-4D21-9AF2-501986B0EB34}" type="pres">
      <dgm:prSet presAssocID="{761AF06D-EC7A-41D8-930B-648963C58107}" presName="textBox3c" presStyleLbl="revTx" presStyleIdx="2" presStyleCnt="3">
        <dgm:presLayoutVars>
          <dgm:bulletEnabled val="1"/>
        </dgm:presLayoutVars>
      </dgm:prSet>
      <dgm:spPr/>
    </dgm:pt>
  </dgm:ptLst>
  <dgm:cxnLst>
    <dgm:cxn modelId="{BAB05805-26D5-4B88-A504-780230A0DFDD}" type="presOf" srcId="{70F91E79-E678-40F0-927C-2E8420277692}" destId="{901C6FC1-965A-40E2-86A8-B0D95BC02E68}" srcOrd="0" destOrd="0" presId="urn:microsoft.com/office/officeart/2005/8/layout/arrow2"/>
    <dgm:cxn modelId="{B5E3D229-18CF-47D1-A08F-0FCF3A4240B9}" srcId="{03B0A5E9-BEC5-4144-97E1-0C4C9436E816}" destId="{761AF06D-EC7A-41D8-930B-648963C58107}" srcOrd="2" destOrd="0" parTransId="{E95D3744-E659-4BF5-B294-C320D915792B}" sibTransId="{08FB3B13-8642-4240-BA05-2D5C5A758EC3}"/>
    <dgm:cxn modelId="{121CBE3B-B744-4363-B720-F6ACDABAC2D3}" srcId="{03B0A5E9-BEC5-4144-97E1-0C4C9436E816}" destId="{70F91E79-E678-40F0-927C-2E8420277692}" srcOrd="1" destOrd="0" parTransId="{CE2C1792-1E90-4409-82DC-55701AA94F83}" sibTransId="{57379CF5-3313-483A-A70A-6562BDA6D69B}"/>
    <dgm:cxn modelId="{CF31F742-3138-4A7E-B00C-E942D09BD3E9}" type="presOf" srcId="{761AF06D-EC7A-41D8-930B-648963C58107}" destId="{FEA3716A-E38B-4D21-9AF2-501986B0EB34}" srcOrd="0" destOrd="0" presId="urn:microsoft.com/office/officeart/2005/8/layout/arrow2"/>
    <dgm:cxn modelId="{87C99993-BA98-497D-B176-9A4686A3BB66}" type="presOf" srcId="{98057603-1E89-4AC3-A7CD-B5C4A80D8439}" destId="{151E695D-F4AB-4A91-9F00-01DFADEE7B26}" srcOrd="0" destOrd="0" presId="urn:microsoft.com/office/officeart/2005/8/layout/arrow2"/>
    <dgm:cxn modelId="{3642C0B2-7DEA-4DCC-880A-22408E8F0FDC}" srcId="{03B0A5E9-BEC5-4144-97E1-0C4C9436E816}" destId="{98057603-1E89-4AC3-A7CD-B5C4A80D8439}" srcOrd="0" destOrd="0" parTransId="{D707BA84-B936-4385-B8E1-183FF449FFE0}" sibTransId="{9A030CF2-DFA4-4C3A-B05B-9FEE6D1B1035}"/>
    <dgm:cxn modelId="{D32434BD-6131-45FE-87D7-D6D18E16DD28}" type="presOf" srcId="{03B0A5E9-BEC5-4144-97E1-0C4C9436E816}" destId="{EDCC0DC7-0E16-4322-A352-E10309CAA7F7}" srcOrd="0" destOrd="0" presId="urn:microsoft.com/office/officeart/2005/8/layout/arrow2"/>
    <dgm:cxn modelId="{BB56A86F-B720-4A18-9A41-3B80BA8E2EB5}" type="presParOf" srcId="{EDCC0DC7-0E16-4322-A352-E10309CAA7F7}" destId="{F6ABF79C-50E7-495A-BCB6-B2E3F2DA6C2B}" srcOrd="0" destOrd="0" presId="urn:microsoft.com/office/officeart/2005/8/layout/arrow2"/>
    <dgm:cxn modelId="{1E60E3D3-C1F2-41BB-A60F-7F9C37317D43}" type="presParOf" srcId="{EDCC0DC7-0E16-4322-A352-E10309CAA7F7}" destId="{CC1924E7-CE54-4A5C-8168-38CA590B1FF5}" srcOrd="1" destOrd="0" presId="urn:microsoft.com/office/officeart/2005/8/layout/arrow2"/>
    <dgm:cxn modelId="{1629C6B5-9CA8-4B72-BFCE-F927C250BAAD}" type="presParOf" srcId="{CC1924E7-CE54-4A5C-8168-38CA590B1FF5}" destId="{B3C88B11-64D2-4743-8415-64FDE88B261D}" srcOrd="0" destOrd="0" presId="urn:microsoft.com/office/officeart/2005/8/layout/arrow2"/>
    <dgm:cxn modelId="{742009BE-E5C4-4AD5-BA17-8EF4C7FFAC30}" type="presParOf" srcId="{CC1924E7-CE54-4A5C-8168-38CA590B1FF5}" destId="{151E695D-F4AB-4A91-9F00-01DFADEE7B26}" srcOrd="1" destOrd="0" presId="urn:microsoft.com/office/officeart/2005/8/layout/arrow2"/>
    <dgm:cxn modelId="{D2B467EF-3607-4A44-8A66-0C602D838E3E}" type="presParOf" srcId="{CC1924E7-CE54-4A5C-8168-38CA590B1FF5}" destId="{569D95D0-9832-42A6-972F-EE58A354F7D0}" srcOrd="2" destOrd="0" presId="urn:microsoft.com/office/officeart/2005/8/layout/arrow2"/>
    <dgm:cxn modelId="{2E4F31D9-EA93-4D02-93BD-77213DFA88F5}" type="presParOf" srcId="{CC1924E7-CE54-4A5C-8168-38CA590B1FF5}" destId="{901C6FC1-965A-40E2-86A8-B0D95BC02E68}" srcOrd="3" destOrd="0" presId="urn:microsoft.com/office/officeart/2005/8/layout/arrow2"/>
    <dgm:cxn modelId="{5935EBC7-27DF-4A0D-950C-3437E943B69A}" type="presParOf" srcId="{CC1924E7-CE54-4A5C-8168-38CA590B1FF5}" destId="{2414A263-E467-477B-924C-45A5D7EBDC26}" srcOrd="4" destOrd="0" presId="urn:microsoft.com/office/officeart/2005/8/layout/arrow2"/>
    <dgm:cxn modelId="{832DA8FF-4552-40E5-BD2C-73FF738D130D}" type="presParOf" srcId="{CC1924E7-CE54-4A5C-8168-38CA590B1FF5}" destId="{FEA3716A-E38B-4D21-9AF2-501986B0EB34}" srcOrd="5" destOrd="0" presId="urn:microsoft.com/office/officeart/2005/8/layout/arrow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7E68AF-AB49-44E9-997A-413496E32D8B}" type="doc">
      <dgm:prSet loTypeId="urn:microsoft.com/office/officeart/2005/8/layout/cycle4" loCatId="matrix" qsTypeId="urn:microsoft.com/office/officeart/2005/8/quickstyle/3d3" qsCatId="3D" csTypeId="urn:microsoft.com/office/officeart/2005/8/colors/colorful4" csCatId="colorful" phldr="1"/>
      <dgm:spPr/>
      <dgm:t>
        <a:bodyPr/>
        <a:lstStyle/>
        <a:p>
          <a:endParaRPr lang="en-US"/>
        </a:p>
      </dgm:t>
    </dgm:pt>
    <dgm:pt modelId="{47561674-BF90-4B62-8E3F-E505D86B3213}">
      <dgm:prSet phldrT="[Text]" custT="1"/>
      <dgm:spPr>
        <a:solidFill>
          <a:srgbClr val="C00000"/>
        </a:solidFill>
      </dgm:spPr>
      <dgm:t>
        <a:bodyPr/>
        <a:lstStyle/>
        <a:p>
          <a:r>
            <a:rPr lang="en-US" sz="8000" b="1" dirty="0">
              <a:solidFill>
                <a:srgbClr val="00B050"/>
              </a:solidFill>
              <a:latin typeface="Roboto"/>
              <a:ea typeface="Roboto"/>
              <a:cs typeface="Roboto"/>
              <a:sym typeface="Roboto"/>
            </a:rPr>
            <a:t>S</a:t>
          </a:r>
          <a:endParaRPr lang="en-US" sz="8000" dirty="0"/>
        </a:p>
      </dgm:t>
    </dgm:pt>
    <dgm:pt modelId="{EBEC90E0-D63F-4A7F-A579-A92BE8166227}" type="parTrans" cxnId="{87AD8AFA-63A7-4E60-8D1E-7BEC0F1482D8}">
      <dgm:prSet/>
      <dgm:spPr/>
      <dgm:t>
        <a:bodyPr/>
        <a:lstStyle/>
        <a:p>
          <a:endParaRPr lang="en-US"/>
        </a:p>
      </dgm:t>
    </dgm:pt>
    <dgm:pt modelId="{7AA2E2C1-910E-4EA6-A607-DC3667BE3237}" type="sibTrans" cxnId="{87AD8AFA-63A7-4E60-8D1E-7BEC0F1482D8}">
      <dgm:prSet/>
      <dgm:spPr/>
      <dgm:t>
        <a:bodyPr/>
        <a:lstStyle/>
        <a:p>
          <a:endParaRPr lang="en-US"/>
        </a:p>
      </dgm:t>
    </dgm:pt>
    <dgm:pt modelId="{7175AA60-B2DD-4D8A-B3CC-697CC6634EEA}">
      <dgm:prSet phldrT="[Text]" custT="1">
        <dgm:style>
          <a:lnRef idx="1">
            <a:schemeClr val="accent1"/>
          </a:lnRef>
          <a:fillRef idx="2">
            <a:schemeClr val="accent1"/>
          </a:fillRef>
          <a:effectRef idx="1">
            <a:schemeClr val="accent1"/>
          </a:effectRef>
          <a:fontRef idx="minor">
            <a:schemeClr val="dk1"/>
          </a:fontRef>
        </dgm:style>
      </dgm:prSet>
      <dgm:spPr/>
      <dgm:t>
        <a:bodyPr/>
        <a:lstStyle/>
        <a:p>
          <a:pPr>
            <a:buFont typeface="Arial" panose="020B0604020202020204" pitchFamily="34" charset="0"/>
            <a:buNone/>
          </a:pPr>
          <a:r>
            <a:rPr lang="en-US" sz="1100" dirty="0"/>
            <a:t>-Largest fixed network in Egypt.</a:t>
          </a:r>
        </a:p>
      </dgm:t>
    </dgm:pt>
    <dgm:pt modelId="{E2FB6A3A-BB9D-4714-8B1A-A108E8F3021A}" type="parTrans" cxnId="{E6320314-D60B-43DD-8E32-B643B7E229BC}">
      <dgm:prSet/>
      <dgm:spPr/>
      <dgm:t>
        <a:bodyPr/>
        <a:lstStyle/>
        <a:p>
          <a:endParaRPr lang="en-US"/>
        </a:p>
      </dgm:t>
    </dgm:pt>
    <dgm:pt modelId="{EB290629-86B4-4E57-8964-35BAB0FF26C3}" type="sibTrans" cxnId="{E6320314-D60B-43DD-8E32-B643B7E229BC}">
      <dgm:prSet/>
      <dgm:spPr/>
      <dgm:t>
        <a:bodyPr/>
        <a:lstStyle/>
        <a:p>
          <a:endParaRPr lang="en-US"/>
        </a:p>
      </dgm:t>
    </dgm:pt>
    <dgm:pt modelId="{F4F14B0B-CDC4-479F-8E5A-7BB80F0F8E36}">
      <dgm:prSet phldrT="[Text]" custT="1"/>
      <dgm:spPr>
        <a:solidFill>
          <a:srgbClr val="002060"/>
        </a:solidFill>
      </dgm:spPr>
      <dgm:t>
        <a:bodyPr/>
        <a:lstStyle/>
        <a:p>
          <a:r>
            <a:rPr lang="en-US" sz="8000" b="1" dirty="0">
              <a:solidFill>
                <a:srgbClr val="FF0000"/>
              </a:solidFill>
              <a:latin typeface="Roboto"/>
              <a:ea typeface="Roboto"/>
              <a:cs typeface="Roboto"/>
              <a:sym typeface="Roboto"/>
            </a:rPr>
            <a:t>W</a:t>
          </a:r>
          <a:endParaRPr lang="ar-EG" sz="8000" b="1" dirty="0">
            <a:solidFill>
              <a:srgbClr val="FF0000"/>
            </a:solidFill>
            <a:latin typeface="Roboto"/>
            <a:ea typeface="Roboto"/>
            <a:cs typeface="Roboto"/>
            <a:sym typeface="Roboto"/>
          </a:endParaRPr>
        </a:p>
      </dgm:t>
    </dgm:pt>
    <dgm:pt modelId="{E9B3E97F-9D81-4D1D-BA3F-9BEC3FC313FD}" type="parTrans" cxnId="{67AC9884-14F1-424C-B39B-D21A4A5B87B0}">
      <dgm:prSet/>
      <dgm:spPr/>
      <dgm:t>
        <a:bodyPr/>
        <a:lstStyle/>
        <a:p>
          <a:endParaRPr lang="en-US"/>
        </a:p>
      </dgm:t>
    </dgm:pt>
    <dgm:pt modelId="{5199FA33-C77A-4A8E-AE7B-C7C7FBE77AC2}" type="sibTrans" cxnId="{67AC9884-14F1-424C-B39B-D21A4A5B87B0}">
      <dgm:prSet/>
      <dgm:spPr/>
      <dgm:t>
        <a:bodyPr/>
        <a:lstStyle/>
        <a:p>
          <a:endParaRPr lang="en-US"/>
        </a:p>
      </dgm:t>
    </dgm:pt>
    <dgm:pt modelId="{6F4C478C-FABF-4AE9-8942-A42D15EDADE4}">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100" dirty="0"/>
            <a:t>-Bureaucratic structure</a:t>
          </a:r>
          <a:br>
            <a:rPr lang="en-US" sz="1100" dirty="0"/>
          </a:br>
          <a:r>
            <a:rPr lang="en-US" sz="1100" dirty="0"/>
            <a:t>-Slow decision cycles</a:t>
          </a:r>
          <a:br>
            <a:rPr lang="en-US" sz="1100" dirty="0"/>
          </a:br>
          <a:r>
            <a:rPr lang="en-US" sz="1100" dirty="0"/>
            <a:t>-Legacy systems</a:t>
          </a:r>
        </a:p>
      </dgm:t>
    </dgm:pt>
    <dgm:pt modelId="{67FB6CC7-16A3-4A14-A224-E81A257BEDCA}" type="parTrans" cxnId="{A3526C29-5F52-4B1A-86CC-5E1301DCB951}">
      <dgm:prSet/>
      <dgm:spPr/>
      <dgm:t>
        <a:bodyPr/>
        <a:lstStyle/>
        <a:p>
          <a:endParaRPr lang="en-US"/>
        </a:p>
      </dgm:t>
    </dgm:pt>
    <dgm:pt modelId="{814B90DC-079A-42D3-A305-82738AF7DAF5}" type="sibTrans" cxnId="{A3526C29-5F52-4B1A-86CC-5E1301DCB951}">
      <dgm:prSet/>
      <dgm:spPr/>
      <dgm:t>
        <a:bodyPr/>
        <a:lstStyle/>
        <a:p>
          <a:endParaRPr lang="en-US"/>
        </a:p>
      </dgm:t>
    </dgm:pt>
    <dgm:pt modelId="{FA197D2A-D8E5-4E52-8538-225BB2F65ECF}">
      <dgm:prSet phldrT="[Text]" custT="1"/>
      <dgm:spPr>
        <a:solidFill>
          <a:srgbClr val="00B050"/>
        </a:solidFill>
      </dgm:spPr>
      <dgm:t>
        <a:bodyPr/>
        <a:lstStyle/>
        <a:p>
          <a:r>
            <a:rPr lang="en-US" sz="8000" b="1" dirty="0">
              <a:solidFill>
                <a:srgbClr val="FFFF00"/>
              </a:solidFill>
              <a:latin typeface="Roboto"/>
              <a:ea typeface="Roboto"/>
              <a:cs typeface="Roboto"/>
              <a:sym typeface="Roboto"/>
            </a:rPr>
            <a:t>T</a:t>
          </a:r>
          <a:endParaRPr lang="en-US" sz="8000" dirty="0">
            <a:solidFill>
              <a:srgbClr val="FFFF00"/>
            </a:solidFill>
          </a:endParaRPr>
        </a:p>
      </dgm:t>
    </dgm:pt>
    <dgm:pt modelId="{D34F0E9E-4E73-46CF-96DF-5D0DC07F5FDC}" type="parTrans" cxnId="{03A54519-9753-45F0-9969-216C6E3118CB}">
      <dgm:prSet/>
      <dgm:spPr/>
      <dgm:t>
        <a:bodyPr/>
        <a:lstStyle/>
        <a:p>
          <a:endParaRPr lang="en-US"/>
        </a:p>
      </dgm:t>
    </dgm:pt>
    <dgm:pt modelId="{F061713A-E104-4D58-8165-25EEC7DBE978}" type="sibTrans" cxnId="{03A54519-9753-45F0-9969-216C6E3118CB}">
      <dgm:prSet/>
      <dgm:spPr/>
      <dgm:t>
        <a:bodyPr/>
        <a:lstStyle/>
        <a:p>
          <a:endParaRPr lang="en-US"/>
        </a:p>
      </dgm:t>
    </dgm:pt>
    <dgm:pt modelId="{21890C65-C127-4D64-95D6-CE851943E3D8}">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100" dirty="0"/>
            <a:t>-Strong competitions</a:t>
          </a:r>
          <a:br>
            <a:rPr lang="en-US" sz="1100" dirty="0"/>
          </a:br>
          <a:r>
            <a:rPr lang="en-US" sz="1100" dirty="0"/>
            <a:t>Cyberattacks</a:t>
          </a:r>
          <a:br>
            <a:rPr lang="en-US" sz="1100" dirty="0"/>
          </a:br>
          <a:r>
            <a:rPr lang="en-US" sz="1100" dirty="0"/>
            <a:t>-Regulatory changes</a:t>
          </a:r>
          <a:br>
            <a:rPr lang="en-US" sz="1100" dirty="0"/>
          </a:br>
          <a:r>
            <a:rPr lang="en-US" sz="1100" dirty="0"/>
            <a:t>-Rapid tech disruption</a:t>
          </a:r>
        </a:p>
      </dgm:t>
    </dgm:pt>
    <dgm:pt modelId="{CBD423C7-C5EB-4DEF-BB9F-70C50A03454D}" type="parTrans" cxnId="{8647CC53-79F4-4A12-98A7-C5F73D7DF6E9}">
      <dgm:prSet/>
      <dgm:spPr/>
      <dgm:t>
        <a:bodyPr/>
        <a:lstStyle/>
        <a:p>
          <a:endParaRPr lang="en-US"/>
        </a:p>
      </dgm:t>
    </dgm:pt>
    <dgm:pt modelId="{AA18B722-737E-4A8C-BB03-757C3C3A08D8}" type="sibTrans" cxnId="{8647CC53-79F4-4A12-98A7-C5F73D7DF6E9}">
      <dgm:prSet/>
      <dgm:spPr/>
      <dgm:t>
        <a:bodyPr/>
        <a:lstStyle/>
        <a:p>
          <a:endParaRPr lang="en-US"/>
        </a:p>
      </dgm:t>
    </dgm:pt>
    <dgm:pt modelId="{1FA3F16F-E082-4054-82C6-E39AE3A6AA35}">
      <dgm:prSet phldrT="[Text]" custT="1"/>
      <dgm:spPr>
        <a:solidFill>
          <a:srgbClr val="FFFF00"/>
        </a:solidFill>
      </dgm:spPr>
      <dgm:t>
        <a:bodyPr/>
        <a:lstStyle/>
        <a:p>
          <a:r>
            <a:rPr lang="en-US" sz="8000" b="1" dirty="0">
              <a:solidFill>
                <a:srgbClr val="0070C0"/>
              </a:solidFill>
              <a:latin typeface="Roboto"/>
              <a:ea typeface="Roboto"/>
              <a:cs typeface="Roboto"/>
              <a:sym typeface="Roboto"/>
            </a:rPr>
            <a:t>O</a:t>
          </a:r>
          <a:endParaRPr lang="en-US" sz="8000" dirty="0"/>
        </a:p>
      </dgm:t>
    </dgm:pt>
    <dgm:pt modelId="{8A56B5E4-1286-4ED3-82DE-1B5779DA5CA2}" type="parTrans" cxnId="{A18A7457-9199-434C-9882-1CC78EBBE99F}">
      <dgm:prSet/>
      <dgm:spPr/>
      <dgm:t>
        <a:bodyPr/>
        <a:lstStyle/>
        <a:p>
          <a:endParaRPr lang="en-US"/>
        </a:p>
      </dgm:t>
    </dgm:pt>
    <dgm:pt modelId="{610A92AE-635C-457B-90BB-C3E651748E5F}" type="sibTrans" cxnId="{A18A7457-9199-434C-9882-1CC78EBBE99F}">
      <dgm:prSet/>
      <dgm:spPr/>
      <dgm:t>
        <a:bodyPr/>
        <a:lstStyle/>
        <a:p>
          <a:endParaRPr lang="en-US"/>
        </a:p>
      </dgm:t>
    </dgm:pt>
    <dgm:pt modelId="{ACD9917A-5C2B-4D0F-B8D7-EC6F87E04D0D}">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100" dirty="0"/>
            <a:t>-AI integration</a:t>
          </a:r>
          <a:br>
            <a:rPr lang="en-US" sz="1100" dirty="0"/>
          </a:br>
          <a:r>
            <a:rPr lang="en-US" sz="1100" dirty="0"/>
            <a:t>-5G expansion</a:t>
          </a:r>
          <a:br>
            <a:rPr lang="en-US" sz="1100" dirty="0"/>
          </a:br>
          <a:r>
            <a:rPr lang="en-US" sz="1100" dirty="0"/>
            <a:t>-Smart cities</a:t>
          </a:r>
          <a:br>
            <a:rPr lang="en-US" sz="1100" dirty="0"/>
          </a:br>
          <a:r>
            <a:rPr lang="en-US" sz="1100" dirty="0"/>
            <a:t>-Cloud market growth</a:t>
          </a:r>
          <a:r>
            <a:rPr lang="en-US" sz="1100" dirty="0">
              <a:solidFill>
                <a:srgbClr val="FFFFFF"/>
              </a:solidFill>
              <a:latin typeface="Roboto"/>
              <a:ea typeface="Roboto"/>
              <a:cs typeface="Roboto"/>
              <a:sym typeface="Roboto"/>
            </a:rPr>
            <a:t>. </a:t>
          </a:r>
          <a:endParaRPr lang="en-US" sz="1100" dirty="0"/>
        </a:p>
      </dgm:t>
    </dgm:pt>
    <dgm:pt modelId="{056A2A61-596A-47FD-96F8-5531F5A44749}" type="parTrans" cxnId="{0A10E0C9-A56C-44F9-A7D6-910A371D738E}">
      <dgm:prSet/>
      <dgm:spPr/>
      <dgm:t>
        <a:bodyPr/>
        <a:lstStyle/>
        <a:p>
          <a:endParaRPr lang="en-US"/>
        </a:p>
      </dgm:t>
    </dgm:pt>
    <dgm:pt modelId="{CD3C2D56-711B-406C-B70E-5CF6D0EF34C6}" type="sibTrans" cxnId="{0A10E0C9-A56C-44F9-A7D6-910A371D738E}">
      <dgm:prSet/>
      <dgm:spPr/>
      <dgm:t>
        <a:bodyPr/>
        <a:lstStyle/>
        <a:p>
          <a:endParaRPr lang="en-US"/>
        </a:p>
      </dgm:t>
    </dgm:pt>
    <dgm:pt modelId="{A99D6DEA-DD63-4C4B-A0B1-B76AE43339F6}">
      <dgm:prSet phldrT="[Text]" custT="1">
        <dgm:style>
          <a:lnRef idx="1">
            <a:schemeClr val="accent1"/>
          </a:lnRef>
          <a:fillRef idx="2">
            <a:schemeClr val="accent1"/>
          </a:fillRef>
          <a:effectRef idx="1">
            <a:schemeClr val="accent1"/>
          </a:effectRef>
          <a:fontRef idx="minor">
            <a:schemeClr val="dk1"/>
          </a:fontRef>
        </dgm:style>
      </dgm:prSet>
      <dgm:spPr/>
      <dgm:t>
        <a:bodyPr/>
        <a:lstStyle/>
        <a:p>
          <a:pPr>
            <a:buFont typeface="Arial" panose="020B0604020202020204" pitchFamily="34" charset="0"/>
            <a:buNone/>
          </a:pPr>
          <a:r>
            <a:rPr lang="en-US" sz="1100" dirty="0"/>
            <a:t>-Strong government support.</a:t>
          </a:r>
        </a:p>
      </dgm:t>
    </dgm:pt>
    <dgm:pt modelId="{E7ABE683-21A9-44C6-B58F-948FBEDA5CD6}" type="parTrans" cxnId="{88764321-F525-44CB-B337-E9DFAA319954}">
      <dgm:prSet/>
      <dgm:spPr/>
      <dgm:t>
        <a:bodyPr/>
        <a:lstStyle/>
        <a:p>
          <a:endParaRPr lang="en-US"/>
        </a:p>
      </dgm:t>
    </dgm:pt>
    <dgm:pt modelId="{38D61AC5-EC3A-4A57-B211-4CA7A1D9D23A}" type="sibTrans" cxnId="{88764321-F525-44CB-B337-E9DFAA319954}">
      <dgm:prSet/>
      <dgm:spPr/>
      <dgm:t>
        <a:bodyPr/>
        <a:lstStyle/>
        <a:p>
          <a:endParaRPr lang="en-US"/>
        </a:p>
      </dgm:t>
    </dgm:pt>
    <dgm:pt modelId="{A139D909-0E09-4F6C-A831-E34CC1DF9147}">
      <dgm:prSet phldrT="[Text]" custT="1">
        <dgm:style>
          <a:lnRef idx="1">
            <a:schemeClr val="accent1"/>
          </a:lnRef>
          <a:fillRef idx="2">
            <a:schemeClr val="accent1"/>
          </a:fillRef>
          <a:effectRef idx="1">
            <a:schemeClr val="accent1"/>
          </a:effectRef>
          <a:fontRef idx="minor">
            <a:schemeClr val="dk1"/>
          </a:fontRef>
        </dgm:style>
      </dgm:prSet>
      <dgm:spPr/>
      <dgm:t>
        <a:bodyPr/>
        <a:lstStyle/>
        <a:p>
          <a:pPr>
            <a:buFont typeface="Arial" panose="020B0604020202020204" pitchFamily="34" charset="0"/>
            <a:buNone/>
          </a:pPr>
          <a:r>
            <a:rPr lang="en-US" sz="1100" dirty="0"/>
            <a:t>-Huge infrastructure assets.</a:t>
          </a:r>
        </a:p>
      </dgm:t>
    </dgm:pt>
    <dgm:pt modelId="{71054CFF-626C-4D18-9FE9-3780C8EAF1C6}" type="parTrans" cxnId="{90C24A72-803A-4A08-9758-45023973312F}">
      <dgm:prSet/>
      <dgm:spPr/>
      <dgm:t>
        <a:bodyPr/>
        <a:lstStyle/>
        <a:p>
          <a:endParaRPr lang="en-US"/>
        </a:p>
      </dgm:t>
    </dgm:pt>
    <dgm:pt modelId="{6E353D81-FEDE-405C-9F53-4B7C2CB24891}" type="sibTrans" cxnId="{90C24A72-803A-4A08-9758-45023973312F}">
      <dgm:prSet/>
      <dgm:spPr/>
      <dgm:t>
        <a:bodyPr/>
        <a:lstStyle/>
        <a:p>
          <a:endParaRPr lang="en-US"/>
        </a:p>
      </dgm:t>
    </dgm:pt>
    <dgm:pt modelId="{07D9F6CA-8E2F-43F9-99E1-E666437AE469}">
      <dgm:prSet phldrT="[Text]" custT="1">
        <dgm:style>
          <a:lnRef idx="1">
            <a:schemeClr val="accent1"/>
          </a:lnRef>
          <a:fillRef idx="2">
            <a:schemeClr val="accent1"/>
          </a:fillRef>
          <a:effectRef idx="1">
            <a:schemeClr val="accent1"/>
          </a:effectRef>
          <a:fontRef idx="minor">
            <a:schemeClr val="dk1"/>
          </a:fontRef>
        </dgm:style>
      </dgm:prSet>
      <dgm:spPr/>
      <dgm:t>
        <a:bodyPr/>
        <a:lstStyle/>
        <a:p>
          <a:pPr>
            <a:buFont typeface="Arial" panose="020B0604020202020204" pitchFamily="34" charset="0"/>
            <a:buNone/>
          </a:pPr>
          <a:r>
            <a:rPr lang="en-US" sz="1100" dirty="0"/>
            <a:t>-Strong market position.</a:t>
          </a:r>
        </a:p>
      </dgm:t>
    </dgm:pt>
    <dgm:pt modelId="{648F5BD9-71A9-4162-96A0-494BEB94C90D}" type="parTrans" cxnId="{8FA61387-192D-4942-8B7C-CAC82CD93FC3}">
      <dgm:prSet/>
      <dgm:spPr/>
      <dgm:t>
        <a:bodyPr/>
        <a:lstStyle/>
        <a:p>
          <a:endParaRPr lang="en-US"/>
        </a:p>
      </dgm:t>
    </dgm:pt>
    <dgm:pt modelId="{DA2E7DCF-9197-4619-863D-CF0582F26E90}" type="sibTrans" cxnId="{8FA61387-192D-4942-8B7C-CAC82CD93FC3}">
      <dgm:prSet/>
      <dgm:spPr/>
      <dgm:t>
        <a:bodyPr/>
        <a:lstStyle/>
        <a:p>
          <a:endParaRPr lang="en-US"/>
        </a:p>
      </dgm:t>
    </dgm:pt>
    <dgm:pt modelId="{29741418-BB29-48B3-BFB7-E6108179E336}" type="pres">
      <dgm:prSet presAssocID="{A17E68AF-AB49-44E9-997A-413496E32D8B}" presName="cycleMatrixDiagram" presStyleCnt="0">
        <dgm:presLayoutVars>
          <dgm:chMax val="1"/>
          <dgm:dir/>
          <dgm:animLvl val="lvl"/>
          <dgm:resizeHandles val="exact"/>
        </dgm:presLayoutVars>
      </dgm:prSet>
      <dgm:spPr/>
    </dgm:pt>
    <dgm:pt modelId="{5A3F3867-A7E1-448D-9780-3171EA46F90E}" type="pres">
      <dgm:prSet presAssocID="{A17E68AF-AB49-44E9-997A-413496E32D8B}" presName="children" presStyleCnt="0"/>
      <dgm:spPr/>
    </dgm:pt>
    <dgm:pt modelId="{D29DE4BD-F395-4786-8805-1C6FA51F24B0}" type="pres">
      <dgm:prSet presAssocID="{A17E68AF-AB49-44E9-997A-413496E32D8B}" presName="child1group" presStyleCnt="0"/>
      <dgm:spPr/>
    </dgm:pt>
    <dgm:pt modelId="{6339D7A8-402C-40B4-AE50-ABFD30C39AE9}" type="pres">
      <dgm:prSet presAssocID="{A17E68AF-AB49-44E9-997A-413496E32D8B}" presName="child1" presStyleLbl="bgAcc1" presStyleIdx="0" presStyleCnt="4" custScaleX="105011" custScaleY="56329"/>
      <dgm:spPr/>
    </dgm:pt>
    <dgm:pt modelId="{BA4A39EA-C29F-4832-A820-26846CDFD2F3}" type="pres">
      <dgm:prSet presAssocID="{A17E68AF-AB49-44E9-997A-413496E32D8B}" presName="child1Text" presStyleLbl="bgAcc1" presStyleIdx="0" presStyleCnt="4">
        <dgm:presLayoutVars>
          <dgm:bulletEnabled val="1"/>
        </dgm:presLayoutVars>
      </dgm:prSet>
      <dgm:spPr/>
    </dgm:pt>
    <dgm:pt modelId="{2DE84E65-5AE5-4A83-AE0C-EC78852AC162}" type="pres">
      <dgm:prSet presAssocID="{A17E68AF-AB49-44E9-997A-413496E32D8B}" presName="child2group" presStyleCnt="0"/>
      <dgm:spPr/>
    </dgm:pt>
    <dgm:pt modelId="{612DCF89-4062-4805-9F51-47EAD469F392}" type="pres">
      <dgm:prSet presAssocID="{A17E68AF-AB49-44E9-997A-413496E32D8B}" presName="child2" presStyleLbl="bgAcc1" presStyleIdx="1" presStyleCnt="4" custScaleY="52640"/>
      <dgm:spPr/>
    </dgm:pt>
    <dgm:pt modelId="{D048027B-FBAB-453C-932F-068BCF1FEB59}" type="pres">
      <dgm:prSet presAssocID="{A17E68AF-AB49-44E9-997A-413496E32D8B}" presName="child2Text" presStyleLbl="bgAcc1" presStyleIdx="1" presStyleCnt="4">
        <dgm:presLayoutVars>
          <dgm:bulletEnabled val="1"/>
        </dgm:presLayoutVars>
      </dgm:prSet>
      <dgm:spPr/>
    </dgm:pt>
    <dgm:pt modelId="{C2BCDB41-16FA-47AF-A3A6-0D277DFA98BC}" type="pres">
      <dgm:prSet presAssocID="{A17E68AF-AB49-44E9-997A-413496E32D8B}" presName="child3group" presStyleCnt="0"/>
      <dgm:spPr/>
    </dgm:pt>
    <dgm:pt modelId="{F305F7AC-75DA-486D-8FE9-8CC16DFE97E9}" type="pres">
      <dgm:prSet presAssocID="{A17E68AF-AB49-44E9-997A-413496E32D8B}" presName="child3" presStyleLbl="bgAcc1" presStyleIdx="2" presStyleCnt="4" custScaleX="95529" custScaleY="48986" custLinFactNeighborX="9032" custLinFactNeighborY="4951"/>
      <dgm:spPr/>
    </dgm:pt>
    <dgm:pt modelId="{42E869A2-E374-4172-B3D3-913EDC33C4A8}" type="pres">
      <dgm:prSet presAssocID="{A17E68AF-AB49-44E9-997A-413496E32D8B}" presName="child3Text" presStyleLbl="bgAcc1" presStyleIdx="2" presStyleCnt="4">
        <dgm:presLayoutVars>
          <dgm:bulletEnabled val="1"/>
        </dgm:presLayoutVars>
      </dgm:prSet>
      <dgm:spPr/>
    </dgm:pt>
    <dgm:pt modelId="{FB772FCF-AA99-42CA-9CED-86539E36E989}" type="pres">
      <dgm:prSet presAssocID="{A17E68AF-AB49-44E9-997A-413496E32D8B}" presName="child4group" presStyleCnt="0"/>
      <dgm:spPr/>
    </dgm:pt>
    <dgm:pt modelId="{020DA045-AE90-4ACB-9A0A-1542B01ED44D}" type="pres">
      <dgm:prSet presAssocID="{A17E68AF-AB49-44E9-997A-413496E32D8B}" presName="child4" presStyleLbl="bgAcc1" presStyleIdx="3" presStyleCnt="4" custScaleY="58888"/>
      <dgm:spPr/>
    </dgm:pt>
    <dgm:pt modelId="{3667B021-39CF-46DB-A95E-31578D91C9F8}" type="pres">
      <dgm:prSet presAssocID="{A17E68AF-AB49-44E9-997A-413496E32D8B}" presName="child4Text" presStyleLbl="bgAcc1" presStyleIdx="3" presStyleCnt="4">
        <dgm:presLayoutVars>
          <dgm:bulletEnabled val="1"/>
        </dgm:presLayoutVars>
      </dgm:prSet>
      <dgm:spPr/>
    </dgm:pt>
    <dgm:pt modelId="{D593AB9B-ECB7-4D54-BADE-F7E7DEE3482A}" type="pres">
      <dgm:prSet presAssocID="{A17E68AF-AB49-44E9-997A-413496E32D8B}" presName="childPlaceholder" presStyleCnt="0"/>
      <dgm:spPr/>
    </dgm:pt>
    <dgm:pt modelId="{5B61318C-CED6-44B5-A3DF-D1E8562E9F5A}" type="pres">
      <dgm:prSet presAssocID="{A17E68AF-AB49-44E9-997A-413496E32D8B}" presName="circle" presStyleCnt="0"/>
      <dgm:spPr/>
    </dgm:pt>
    <dgm:pt modelId="{5A4A25BD-C44C-4E39-8DAD-E58F25791F3A}" type="pres">
      <dgm:prSet presAssocID="{A17E68AF-AB49-44E9-997A-413496E32D8B}" presName="quadrant1" presStyleLbl="node1" presStyleIdx="0" presStyleCnt="4">
        <dgm:presLayoutVars>
          <dgm:chMax val="1"/>
          <dgm:bulletEnabled val="1"/>
        </dgm:presLayoutVars>
      </dgm:prSet>
      <dgm:spPr/>
    </dgm:pt>
    <dgm:pt modelId="{D1EEBD58-8745-453F-A72E-82CB4905F2A6}" type="pres">
      <dgm:prSet presAssocID="{A17E68AF-AB49-44E9-997A-413496E32D8B}" presName="quadrant2" presStyleLbl="node1" presStyleIdx="1" presStyleCnt="4">
        <dgm:presLayoutVars>
          <dgm:chMax val="1"/>
          <dgm:bulletEnabled val="1"/>
        </dgm:presLayoutVars>
      </dgm:prSet>
      <dgm:spPr/>
    </dgm:pt>
    <dgm:pt modelId="{4AA69806-CB57-41A9-96AB-5817C4AE168E}" type="pres">
      <dgm:prSet presAssocID="{A17E68AF-AB49-44E9-997A-413496E32D8B}" presName="quadrant3" presStyleLbl="node1" presStyleIdx="2" presStyleCnt="4">
        <dgm:presLayoutVars>
          <dgm:chMax val="1"/>
          <dgm:bulletEnabled val="1"/>
        </dgm:presLayoutVars>
      </dgm:prSet>
      <dgm:spPr/>
    </dgm:pt>
    <dgm:pt modelId="{62E1A43E-D4C8-4BDE-B77E-F49C30A0A42F}" type="pres">
      <dgm:prSet presAssocID="{A17E68AF-AB49-44E9-997A-413496E32D8B}" presName="quadrant4" presStyleLbl="node1" presStyleIdx="3" presStyleCnt="4">
        <dgm:presLayoutVars>
          <dgm:chMax val="1"/>
          <dgm:bulletEnabled val="1"/>
        </dgm:presLayoutVars>
      </dgm:prSet>
      <dgm:spPr/>
    </dgm:pt>
    <dgm:pt modelId="{A2866BEC-18FA-41C8-BE24-1452F370A97F}" type="pres">
      <dgm:prSet presAssocID="{A17E68AF-AB49-44E9-997A-413496E32D8B}" presName="quadrantPlaceholder" presStyleCnt="0"/>
      <dgm:spPr/>
    </dgm:pt>
    <dgm:pt modelId="{83998BFE-C87B-43E5-9399-95B284222DD1}" type="pres">
      <dgm:prSet presAssocID="{A17E68AF-AB49-44E9-997A-413496E32D8B}" presName="center1" presStyleLbl="fgShp" presStyleIdx="0" presStyleCnt="2"/>
      <dgm:spPr/>
    </dgm:pt>
    <dgm:pt modelId="{0D59D37A-936A-4BF2-AF9E-5FA8BCC6B7AE}" type="pres">
      <dgm:prSet presAssocID="{A17E68AF-AB49-44E9-997A-413496E32D8B}" presName="center2" presStyleLbl="fgShp" presStyleIdx="1" presStyleCnt="2"/>
      <dgm:spPr/>
    </dgm:pt>
  </dgm:ptLst>
  <dgm:cxnLst>
    <dgm:cxn modelId="{187D580D-7365-4FA5-BD68-1BCCC36EDE4B}" type="presOf" srcId="{ACD9917A-5C2B-4D0F-B8D7-EC6F87E04D0D}" destId="{3667B021-39CF-46DB-A95E-31578D91C9F8}" srcOrd="1" destOrd="0" presId="urn:microsoft.com/office/officeart/2005/8/layout/cycle4"/>
    <dgm:cxn modelId="{E6320314-D60B-43DD-8E32-B643B7E229BC}" srcId="{47561674-BF90-4B62-8E3F-E505D86B3213}" destId="{7175AA60-B2DD-4D8A-B3CC-697CC6634EEA}" srcOrd="0" destOrd="0" parTransId="{E2FB6A3A-BB9D-4714-8B1A-A108E8F3021A}" sibTransId="{EB290629-86B4-4E57-8964-35BAB0FF26C3}"/>
    <dgm:cxn modelId="{03A54519-9753-45F0-9969-216C6E3118CB}" srcId="{A17E68AF-AB49-44E9-997A-413496E32D8B}" destId="{FA197D2A-D8E5-4E52-8538-225BB2F65ECF}" srcOrd="2" destOrd="0" parTransId="{D34F0E9E-4E73-46CF-96DF-5D0DC07F5FDC}" sibTransId="{F061713A-E104-4D58-8165-25EEC7DBE978}"/>
    <dgm:cxn modelId="{8224051B-B831-4D73-A3C4-BDE8AC2CB571}" type="presOf" srcId="{A99D6DEA-DD63-4C4B-A0B1-B76AE43339F6}" destId="{BA4A39EA-C29F-4832-A820-26846CDFD2F3}" srcOrd="1" destOrd="1" presId="urn:microsoft.com/office/officeart/2005/8/layout/cycle4"/>
    <dgm:cxn modelId="{34F45620-81DF-447D-80E3-109B6F585AE4}" type="presOf" srcId="{7175AA60-B2DD-4D8A-B3CC-697CC6634EEA}" destId="{BA4A39EA-C29F-4832-A820-26846CDFD2F3}" srcOrd="1" destOrd="0" presId="urn:microsoft.com/office/officeart/2005/8/layout/cycle4"/>
    <dgm:cxn modelId="{88764321-F525-44CB-B337-E9DFAA319954}" srcId="{47561674-BF90-4B62-8E3F-E505D86B3213}" destId="{A99D6DEA-DD63-4C4B-A0B1-B76AE43339F6}" srcOrd="1" destOrd="0" parTransId="{E7ABE683-21A9-44C6-B58F-948FBEDA5CD6}" sibTransId="{38D61AC5-EC3A-4A57-B211-4CA7A1D9D23A}"/>
    <dgm:cxn modelId="{A3526C29-5F52-4B1A-86CC-5E1301DCB951}" srcId="{F4F14B0B-CDC4-479F-8E5A-7BB80F0F8E36}" destId="{6F4C478C-FABF-4AE9-8942-A42D15EDADE4}" srcOrd="0" destOrd="0" parTransId="{67FB6CC7-16A3-4A14-A224-E81A257BEDCA}" sibTransId="{814B90DC-079A-42D3-A305-82738AF7DAF5}"/>
    <dgm:cxn modelId="{6F34F842-63FD-49F5-B31F-36CBAD3CAD64}" type="presOf" srcId="{ACD9917A-5C2B-4D0F-B8D7-EC6F87E04D0D}" destId="{020DA045-AE90-4ACB-9A0A-1542B01ED44D}" srcOrd="0" destOrd="0" presId="urn:microsoft.com/office/officeart/2005/8/layout/cycle4"/>
    <dgm:cxn modelId="{B333754B-3A30-4B5C-9B4F-E1459BF6E899}" type="presOf" srcId="{07D9F6CA-8E2F-43F9-99E1-E666437AE469}" destId="{BA4A39EA-C29F-4832-A820-26846CDFD2F3}" srcOrd="1" destOrd="3" presId="urn:microsoft.com/office/officeart/2005/8/layout/cycle4"/>
    <dgm:cxn modelId="{09087B4C-6EDB-483F-B007-3DDBE06D2C71}" type="presOf" srcId="{A99D6DEA-DD63-4C4B-A0B1-B76AE43339F6}" destId="{6339D7A8-402C-40B4-AE50-ABFD30C39AE9}" srcOrd="0" destOrd="1" presId="urn:microsoft.com/office/officeart/2005/8/layout/cycle4"/>
    <dgm:cxn modelId="{90C24A72-803A-4A08-9758-45023973312F}" srcId="{47561674-BF90-4B62-8E3F-E505D86B3213}" destId="{A139D909-0E09-4F6C-A831-E34CC1DF9147}" srcOrd="2" destOrd="0" parTransId="{71054CFF-626C-4D18-9FE9-3780C8EAF1C6}" sibTransId="{6E353D81-FEDE-405C-9F53-4B7C2CB24891}"/>
    <dgm:cxn modelId="{8647CC53-79F4-4A12-98A7-C5F73D7DF6E9}" srcId="{FA197D2A-D8E5-4E52-8538-225BB2F65ECF}" destId="{21890C65-C127-4D64-95D6-CE851943E3D8}" srcOrd="0" destOrd="0" parTransId="{CBD423C7-C5EB-4DEF-BB9F-70C50A03454D}" sibTransId="{AA18B722-737E-4A8C-BB03-757C3C3A08D8}"/>
    <dgm:cxn modelId="{A18A7457-9199-434C-9882-1CC78EBBE99F}" srcId="{A17E68AF-AB49-44E9-997A-413496E32D8B}" destId="{1FA3F16F-E082-4054-82C6-E39AE3A6AA35}" srcOrd="3" destOrd="0" parTransId="{8A56B5E4-1286-4ED3-82DE-1B5779DA5CA2}" sibTransId="{610A92AE-635C-457B-90BB-C3E651748E5F}"/>
    <dgm:cxn modelId="{4CEFB059-DBF3-4BAD-BC00-139861E1E046}" type="presOf" srcId="{6F4C478C-FABF-4AE9-8942-A42D15EDADE4}" destId="{612DCF89-4062-4805-9F51-47EAD469F392}" srcOrd="0" destOrd="0" presId="urn:microsoft.com/office/officeart/2005/8/layout/cycle4"/>
    <dgm:cxn modelId="{51774E82-24DF-44A0-8F89-D5237D124608}" type="presOf" srcId="{47561674-BF90-4B62-8E3F-E505D86B3213}" destId="{5A4A25BD-C44C-4E39-8DAD-E58F25791F3A}" srcOrd="0" destOrd="0" presId="urn:microsoft.com/office/officeart/2005/8/layout/cycle4"/>
    <dgm:cxn modelId="{67AC9884-14F1-424C-B39B-D21A4A5B87B0}" srcId="{A17E68AF-AB49-44E9-997A-413496E32D8B}" destId="{F4F14B0B-CDC4-479F-8E5A-7BB80F0F8E36}" srcOrd="1" destOrd="0" parTransId="{E9B3E97F-9D81-4D1D-BA3F-9BEC3FC313FD}" sibTransId="{5199FA33-C77A-4A8E-AE7B-C7C7FBE77AC2}"/>
    <dgm:cxn modelId="{8FA61387-192D-4942-8B7C-CAC82CD93FC3}" srcId="{47561674-BF90-4B62-8E3F-E505D86B3213}" destId="{07D9F6CA-8E2F-43F9-99E1-E666437AE469}" srcOrd="3" destOrd="0" parTransId="{648F5BD9-71A9-4162-96A0-494BEB94C90D}" sibTransId="{DA2E7DCF-9197-4619-863D-CF0582F26E90}"/>
    <dgm:cxn modelId="{E3AFD98D-CF82-4475-B4DE-D5B1F2E76C81}" type="presOf" srcId="{6F4C478C-FABF-4AE9-8942-A42D15EDADE4}" destId="{D048027B-FBAB-453C-932F-068BCF1FEB59}" srcOrd="1" destOrd="0" presId="urn:microsoft.com/office/officeart/2005/8/layout/cycle4"/>
    <dgm:cxn modelId="{5A0AF190-8CFF-4D1D-968D-E179D6EB8A7F}" type="presOf" srcId="{A17E68AF-AB49-44E9-997A-413496E32D8B}" destId="{29741418-BB29-48B3-BFB7-E6108179E336}" srcOrd="0" destOrd="0" presId="urn:microsoft.com/office/officeart/2005/8/layout/cycle4"/>
    <dgm:cxn modelId="{5ACCBF9B-A755-4D09-B783-28AC16C98A4D}" type="presOf" srcId="{1FA3F16F-E082-4054-82C6-E39AE3A6AA35}" destId="{62E1A43E-D4C8-4BDE-B77E-F49C30A0A42F}" srcOrd="0" destOrd="0" presId="urn:microsoft.com/office/officeart/2005/8/layout/cycle4"/>
    <dgm:cxn modelId="{351987A1-E3C5-4A40-846F-2036941B889B}" type="presOf" srcId="{FA197D2A-D8E5-4E52-8538-225BB2F65ECF}" destId="{4AA69806-CB57-41A9-96AB-5817C4AE168E}" srcOrd="0" destOrd="0" presId="urn:microsoft.com/office/officeart/2005/8/layout/cycle4"/>
    <dgm:cxn modelId="{32AB96A8-2274-4FD7-B769-591BC88FE8D3}" type="presOf" srcId="{21890C65-C127-4D64-95D6-CE851943E3D8}" destId="{42E869A2-E374-4172-B3D3-913EDC33C4A8}" srcOrd="1" destOrd="0" presId="urn:microsoft.com/office/officeart/2005/8/layout/cycle4"/>
    <dgm:cxn modelId="{38FDB0AE-935C-4C2A-A6B6-9F16263599DE}" type="presOf" srcId="{A139D909-0E09-4F6C-A831-E34CC1DF9147}" destId="{6339D7A8-402C-40B4-AE50-ABFD30C39AE9}" srcOrd="0" destOrd="2" presId="urn:microsoft.com/office/officeart/2005/8/layout/cycle4"/>
    <dgm:cxn modelId="{AFD9C2B5-DE3C-405D-917E-EDF4DD8A8D67}" type="presOf" srcId="{A139D909-0E09-4F6C-A831-E34CC1DF9147}" destId="{BA4A39EA-C29F-4832-A820-26846CDFD2F3}" srcOrd="1" destOrd="2" presId="urn:microsoft.com/office/officeart/2005/8/layout/cycle4"/>
    <dgm:cxn modelId="{3E8502C7-7BE0-49CB-8A3C-D5114F6078CF}" type="presOf" srcId="{07D9F6CA-8E2F-43F9-99E1-E666437AE469}" destId="{6339D7A8-402C-40B4-AE50-ABFD30C39AE9}" srcOrd="0" destOrd="3" presId="urn:microsoft.com/office/officeart/2005/8/layout/cycle4"/>
    <dgm:cxn modelId="{0A10E0C9-A56C-44F9-A7D6-910A371D738E}" srcId="{1FA3F16F-E082-4054-82C6-E39AE3A6AA35}" destId="{ACD9917A-5C2B-4D0F-B8D7-EC6F87E04D0D}" srcOrd="0" destOrd="0" parTransId="{056A2A61-596A-47FD-96F8-5531F5A44749}" sibTransId="{CD3C2D56-711B-406C-B70E-5CF6D0EF34C6}"/>
    <dgm:cxn modelId="{8E6E44CC-2B56-4F42-8E2A-1FF8B279699E}" type="presOf" srcId="{21890C65-C127-4D64-95D6-CE851943E3D8}" destId="{F305F7AC-75DA-486D-8FE9-8CC16DFE97E9}" srcOrd="0" destOrd="0" presId="urn:microsoft.com/office/officeart/2005/8/layout/cycle4"/>
    <dgm:cxn modelId="{109349D4-6BC9-4B80-9003-3FBA18A93A31}" type="presOf" srcId="{7175AA60-B2DD-4D8A-B3CC-697CC6634EEA}" destId="{6339D7A8-402C-40B4-AE50-ABFD30C39AE9}" srcOrd="0" destOrd="0" presId="urn:microsoft.com/office/officeart/2005/8/layout/cycle4"/>
    <dgm:cxn modelId="{985233EE-F567-4BA9-ADF8-FCDE4767E3AD}" type="presOf" srcId="{F4F14B0B-CDC4-479F-8E5A-7BB80F0F8E36}" destId="{D1EEBD58-8745-453F-A72E-82CB4905F2A6}" srcOrd="0" destOrd="0" presId="urn:microsoft.com/office/officeart/2005/8/layout/cycle4"/>
    <dgm:cxn modelId="{87AD8AFA-63A7-4E60-8D1E-7BEC0F1482D8}" srcId="{A17E68AF-AB49-44E9-997A-413496E32D8B}" destId="{47561674-BF90-4B62-8E3F-E505D86B3213}" srcOrd="0" destOrd="0" parTransId="{EBEC90E0-D63F-4A7F-A579-A92BE8166227}" sibTransId="{7AA2E2C1-910E-4EA6-A607-DC3667BE3237}"/>
    <dgm:cxn modelId="{EFA64DA9-C24C-4CB8-A5DF-243776FB9B4A}" type="presParOf" srcId="{29741418-BB29-48B3-BFB7-E6108179E336}" destId="{5A3F3867-A7E1-448D-9780-3171EA46F90E}" srcOrd="0" destOrd="0" presId="urn:microsoft.com/office/officeart/2005/8/layout/cycle4"/>
    <dgm:cxn modelId="{7DF01D27-2C29-4BA9-A3D7-5E69D6A3859D}" type="presParOf" srcId="{5A3F3867-A7E1-448D-9780-3171EA46F90E}" destId="{D29DE4BD-F395-4786-8805-1C6FA51F24B0}" srcOrd="0" destOrd="0" presId="urn:microsoft.com/office/officeart/2005/8/layout/cycle4"/>
    <dgm:cxn modelId="{A7C4E5CF-15CD-4841-ABA0-6F1E003F1C48}" type="presParOf" srcId="{D29DE4BD-F395-4786-8805-1C6FA51F24B0}" destId="{6339D7A8-402C-40B4-AE50-ABFD30C39AE9}" srcOrd="0" destOrd="0" presId="urn:microsoft.com/office/officeart/2005/8/layout/cycle4"/>
    <dgm:cxn modelId="{8AF95DB5-8C61-4954-8227-D0F8B32E86D2}" type="presParOf" srcId="{D29DE4BD-F395-4786-8805-1C6FA51F24B0}" destId="{BA4A39EA-C29F-4832-A820-26846CDFD2F3}" srcOrd="1" destOrd="0" presId="urn:microsoft.com/office/officeart/2005/8/layout/cycle4"/>
    <dgm:cxn modelId="{F724621E-5EC5-4037-8F1B-FFA574F0FF96}" type="presParOf" srcId="{5A3F3867-A7E1-448D-9780-3171EA46F90E}" destId="{2DE84E65-5AE5-4A83-AE0C-EC78852AC162}" srcOrd="1" destOrd="0" presId="urn:microsoft.com/office/officeart/2005/8/layout/cycle4"/>
    <dgm:cxn modelId="{6EB4A6F2-50EB-4F35-934E-B9BC09DD8C26}" type="presParOf" srcId="{2DE84E65-5AE5-4A83-AE0C-EC78852AC162}" destId="{612DCF89-4062-4805-9F51-47EAD469F392}" srcOrd="0" destOrd="0" presId="urn:microsoft.com/office/officeart/2005/8/layout/cycle4"/>
    <dgm:cxn modelId="{22723ACE-F7C2-4960-8F63-9A3AC71ABC30}" type="presParOf" srcId="{2DE84E65-5AE5-4A83-AE0C-EC78852AC162}" destId="{D048027B-FBAB-453C-932F-068BCF1FEB59}" srcOrd="1" destOrd="0" presId="urn:microsoft.com/office/officeart/2005/8/layout/cycle4"/>
    <dgm:cxn modelId="{32D8C8CE-3F21-47A9-AAF6-88685134CB86}" type="presParOf" srcId="{5A3F3867-A7E1-448D-9780-3171EA46F90E}" destId="{C2BCDB41-16FA-47AF-A3A6-0D277DFA98BC}" srcOrd="2" destOrd="0" presId="urn:microsoft.com/office/officeart/2005/8/layout/cycle4"/>
    <dgm:cxn modelId="{D1433395-69B1-4768-B898-46C220F0007F}" type="presParOf" srcId="{C2BCDB41-16FA-47AF-A3A6-0D277DFA98BC}" destId="{F305F7AC-75DA-486D-8FE9-8CC16DFE97E9}" srcOrd="0" destOrd="0" presId="urn:microsoft.com/office/officeart/2005/8/layout/cycle4"/>
    <dgm:cxn modelId="{88A88A93-1E93-447F-AC59-A0E32E7CFC76}" type="presParOf" srcId="{C2BCDB41-16FA-47AF-A3A6-0D277DFA98BC}" destId="{42E869A2-E374-4172-B3D3-913EDC33C4A8}" srcOrd="1" destOrd="0" presId="urn:microsoft.com/office/officeart/2005/8/layout/cycle4"/>
    <dgm:cxn modelId="{22B5A2E8-C401-4D86-A767-FABCBB95FE54}" type="presParOf" srcId="{5A3F3867-A7E1-448D-9780-3171EA46F90E}" destId="{FB772FCF-AA99-42CA-9CED-86539E36E989}" srcOrd="3" destOrd="0" presId="urn:microsoft.com/office/officeart/2005/8/layout/cycle4"/>
    <dgm:cxn modelId="{DC5721F5-014C-4595-B78D-615FA7286B37}" type="presParOf" srcId="{FB772FCF-AA99-42CA-9CED-86539E36E989}" destId="{020DA045-AE90-4ACB-9A0A-1542B01ED44D}" srcOrd="0" destOrd="0" presId="urn:microsoft.com/office/officeart/2005/8/layout/cycle4"/>
    <dgm:cxn modelId="{DCF38E43-005D-420F-BEA7-154010FAE61D}" type="presParOf" srcId="{FB772FCF-AA99-42CA-9CED-86539E36E989}" destId="{3667B021-39CF-46DB-A95E-31578D91C9F8}" srcOrd="1" destOrd="0" presId="urn:microsoft.com/office/officeart/2005/8/layout/cycle4"/>
    <dgm:cxn modelId="{74E56326-8927-4F9A-9246-5DE276F124B8}" type="presParOf" srcId="{5A3F3867-A7E1-448D-9780-3171EA46F90E}" destId="{D593AB9B-ECB7-4D54-BADE-F7E7DEE3482A}" srcOrd="4" destOrd="0" presId="urn:microsoft.com/office/officeart/2005/8/layout/cycle4"/>
    <dgm:cxn modelId="{0F9119F9-AC79-4076-9711-F03C70E6EC33}" type="presParOf" srcId="{29741418-BB29-48B3-BFB7-E6108179E336}" destId="{5B61318C-CED6-44B5-A3DF-D1E8562E9F5A}" srcOrd="1" destOrd="0" presId="urn:microsoft.com/office/officeart/2005/8/layout/cycle4"/>
    <dgm:cxn modelId="{639B311F-B87C-4C0E-84DB-2B7D02DB0F7D}" type="presParOf" srcId="{5B61318C-CED6-44B5-A3DF-D1E8562E9F5A}" destId="{5A4A25BD-C44C-4E39-8DAD-E58F25791F3A}" srcOrd="0" destOrd="0" presId="urn:microsoft.com/office/officeart/2005/8/layout/cycle4"/>
    <dgm:cxn modelId="{7DBB5DA3-153E-4798-939E-03F290786386}" type="presParOf" srcId="{5B61318C-CED6-44B5-A3DF-D1E8562E9F5A}" destId="{D1EEBD58-8745-453F-A72E-82CB4905F2A6}" srcOrd="1" destOrd="0" presId="urn:microsoft.com/office/officeart/2005/8/layout/cycle4"/>
    <dgm:cxn modelId="{BA71DA10-245B-45F0-9A60-46C957836A4C}" type="presParOf" srcId="{5B61318C-CED6-44B5-A3DF-D1E8562E9F5A}" destId="{4AA69806-CB57-41A9-96AB-5817C4AE168E}" srcOrd="2" destOrd="0" presId="urn:microsoft.com/office/officeart/2005/8/layout/cycle4"/>
    <dgm:cxn modelId="{7A91C7A4-4BBD-49FF-A22F-569FAF525305}" type="presParOf" srcId="{5B61318C-CED6-44B5-A3DF-D1E8562E9F5A}" destId="{62E1A43E-D4C8-4BDE-B77E-F49C30A0A42F}" srcOrd="3" destOrd="0" presId="urn:microsoft.com/office/officeart/2005/8/layout/cycle4"/>
    <dgm:cxn modelId="{E7CA24FA-78A4-45F6-88E6-C99D365DA509}" type="presParOf" srcId="{5B61318C-CED6-44B5-A3DF-D1E8562E9F5A}" destId="{A2866BEC-18FA-41C8-BE24-1452F370A97F}" srcOrd="4" destOrd="0" presId="urn:microsoft.com/office/officeart/2005/8/layout/cycle4"/>
    <dgm:cxn modelId="{777FC86C-5B07-4A87-B3F9-61714854C8B7}" type="presParOf" srcId="{29741418-BB29-48B3-BFB7-E6108179E336}" destId="{83998BFE-C87B-43E5-9399-95B284222DD1}" srcOrd="2" destOrd="0" presId="urn:microsoft.com/office/officeart/2005/8/layout/cycle4"/>
    <dgm:cxn modelId="{D4F6B9D7-3568-4D3F-8A3F-F2F0C3C83DCA}" type="presParOf" srcId="{29741418-BB29-48B3-BFB7-E6108179E336}" destId="{0D59D37A-936A-4BF2-AF9E-5FA8BCC6B7AE}"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895DEA-E921-4EF9-A9BF-9557621B6775}">
      <dsp:nvSpPr>
        <dsp:cNvPr id="0" name=""/>
        <dsp:cNvSpPr/>
      </dsp:nvSpPr>
      <dsp:spPr>
        <a:xfrm>
          <a:off x="418426" y="266275"/>
          <a:ext cx="261984" cy="261984"/>
        </a:xfrm>
        <a:prstGeom prst="gear9">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kern="1200" dirty="0"/>
        </a:p>
      </dsp:txBody>
      <dsp:txXfrm>
        <a:off x="471096" y="327644"/>
        <a:ext cx="156644" cy="134665"/>
      </dsp:txXfrm>
    </dsp:sp>
    <dsp:sp modelId="{590C3BC9-C121-4D99-9CE8-9CE781F2126F}">
      <dsp:nvSpPr>
        <dsp:cNvPr id="0" name=""/>
        <dsp:cNvSpPr/>
      </dsp:nvSpPr>
      <dsp:spPr>
        <a:xfrm>
          <a:off x="265999" y="204351"/>
          <a:ext cx="190533" cy="190533"/>
        </a:xfrm>
        <a:prstGeom prst="gear6">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13966" y="252608"/>
        <a:ext cx="94599" cy="94019"/>
      </dsp:txXfrm>
    </dsp:sp>
    <dsp:sp modelId="{61E8A9B4-241F-4F99-8CB0-12B70820337E}">
      <dsp:nvSpPr>
        <dsp:cNvPr id="0" name=""/>
        <dsp:cNvSpPr/>
      </dsp:nvSpPr>
      <dsp:spPr>
        <a:xfrm rot="20700000">
          <a:off x="372717" y="72902"/>
          <a:ext cx="186684" cy="186684"/>
        </a:xfrm>
        <a:prstGeom prst="gear6">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rot="-20700000">
        <a:off x="413662" y="113848"/>
        <a:ext cx="104793" cy="104793"/>
      </dsp:txXfrm>
    </dsp:sp>
    <dsp:sp modelId="{C5DA9F4D-E3F7-41D6-AB14-DC3A52503517}">
      <dsp:nvSpPr>
        <dsp:cNvPr id="0" name=""/>
        <dsp:cNvSpPr/>
      </dsp:nvSpPr>
      <dsp:spPr>
        <a:xfrm>
          <a:off x="376136" y="236519"/>
          <a:ext cx="335339" cy="335339"/>
        </a:xfrm>
        <a:prstGeom prst="circularArrow">
          <a:avLst>
            <a:gd name="adj1" fmla="val 4688"/>
            <a:gd name="adj2" fmla="val 299029"/>
            <a:gd name="adj3" fmla="val 2204257"/>
            <a:gd name="adj4" fmla="val 16947797"/>
            <a:gd name="adj5" fmla="val 5469"/>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F083CD82-BEF8-42EA-A4C8-6A269827866D}">
      <dsp:nvSpPr>
        <dsp:cNvPr id="0" name=""/>
        <dsp:cNvSpPr/>
      </dsp:nvSpPr>
      <dsp:spPr>
        <a:xfrm>
          <a:off x="232255" y="174789"/>
          <a:ext cx="243645" cy="243645"/>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88F676C0-DFFC-4EF4-A311-80DB135F5BDA}">
      <dsp:nvSpPr>
        <dsp:cNvPr id="0" name=""/>
        <dsp:cNvSpPr/>
      </dsp:nvSpPr>
      <dsp:spPr>
        <a:xfrm>
          <a:off x="329535" y="44608"/>
          <a:ext cx="262698" cy="262698"/>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EE5C7-CC04-439A-B3D4-FB2B1376F31A}">
      <dsp:nvSpPr>
        <dsp:cNvPr id="0" name=""/>
        <dsp:cNvSpPr/>
      </dsp:nvSpPr>
      <dsp:spPr>
        <a:xfrm>
          <a:off x="402443" y="0"/>
          <a:ext cx="301389" cy="301435"/>
        </a:xfrm>
        <a:prstGeom prst="circularArrow">
          <a:avLst>
            <a:gd name="adj1" fmla="val 10980"/>
            <a:gd name="adj2" fmla="val 1142322"/>
            <a:gd name="adj3" fmla="val 4500000"/>
            <a:gd name="adj4" fmla="val 10800000"/>
            <a:gd name="adj5" fmla="val 125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ADEECCD-5693-4D4D-9BD1-4843AD5DD2FC}">
      <dsp:nvSpPr>
        <dsp:cNvPr id="0" name=""/>
        <dsp:cNvSpPr/>
      </dsp:nvSpPr>
      <dsp:spPr>
        <a:xfrm>
          <a:off x="469060" y="108827"/>
          <a:ext cx="167476" cy="8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69060" y="108827"/>
        <a:ext cx="167476" cy="83718"/>
      </dsp:txXfrm>
    </dsp:sp>
    <dsp:sp modelId="{52EC855D-55A5-4F93-946C-8830FF7B80E1}">
      <dsp:nvSpPr>
        <dsp:cNvPr id="0" name=""/>
        <dsp:cNvSpPr/>
      </dsp:nvSpPr>
      <dsp:spPr>
        <a:xfrm>
          <a:off x="318733" y="173197"/>
          <a:ext cx="301389" cy="301435"/>
        </a:xfrm>
        <a:prstGeom prst="leftCircularArrow">
          <a:avLst>
            <a:gd name="adj1" fmla="val 10980"/>
            <a:gd name="adj2" fmla="val 1142322"/>
            <a:gd name="adj3" fmla="val 6300000"/>
            <a:gd name="adj4" fmla="val 18900000"/>
            <a:gd name="adj5" fmla="val 125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AB425B5-B844-4665-82BD-AEF33B56D60D}">
      <dsp:nvSpPr>
        <dsp:cNvPr id="0" name=""/>
        <dsp:cNvSpPr/>
      </dsp:nvSpPr>
      <dsp:spPr>
        <a:xfrm>
          <a:off x="385690" y="283026"/>
          <a:ext cx="167476" cy="8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5690" y="283026"/>
        <a:ext cx="167476" cy="83718"/>
      </dsp:txXfrm>
    </dsp:sp>
    <dsp:sp modelId="{41B99AB9-AD92-4562-9B5B-5B6E82C3D838}">
      <dsp:nvSpPr>
        <dsp:cNvPr id="0" name=""/>
        <dsp:cNvSpPr/>
      </dsp:nvSpPr>
      <dsp:spPr>
        <a:xfrm>
          <a:off x="423894" y="367120"/>
          <a:ext cx="258940" cy="259044"/>
        </a:xfrm>
        <a:prstGeom prst="blockArc">
          <a:avLst>
            <a:gd name="adj1" fmla="val 13500000"/>
            <a:gd name="adj2" fmla="val 10800000"/>
            <a:gd name="adj3" fmla="val 1274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D32B387-0D05-4632-A529-FC8A70EAA6E2}">
      <dsp:nvSpPr>
        <dsp:cNvPr id="0" name=""/>
        <dsp:cNvSpPr/>
      </dsp:nvSpPr>
      <dsp:spPr>
        <a:xfrm>
          <a:off x="469456" y="457476"/>
          <a:ext cx="167476" cy="8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69456" y="457476"/>
        <a:ext cx="167476" cy="83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BF79C-50E7-495A-BCB6-B2E3F2DA6C2B}">
      <dsp:nvSpPr>
        <dsp:cNvPr id="0" name=""/>
        <dsp:cNvSpPr/>
      </dsp:nvSpPr>
      <dsp:spPr>
        <a:xfrm>
          <a:off x="0" y="21350"/>
          <a:ext cx="748286" cy="467678"/>
        </a:xfrm>
        <a:prstGeom prst="swooshArrow">
          <a:avLst>
            <a:gd name="adj1" fmla="val 25000"/>
            <a:gd name="adj2" fmla="val 25000"/>
          </a:avLst>
        </a:prstGeom>
        <a:solidFill>
          <a:schemeClr val="accent1">
            <a:tint val="40000"/>
            <a:hueOff val="0"/>
            <a:satOff val="0"/>
            <a:lumOff val="0"/>
            <a:alphaOff val="0"/>
          </a:schemeClr>
        </a:solidFill>
        <a:ln>
          <a:noFill/>
        </a:ln>
        <a:effectLst/>
        <a:sp3d z="-152400" extrusionH="63500" prstMaterial="matte">
          <a:bevelT w="44450" h="6350" prst="relaxedInset"/>
          <a:contourClr>
            <a:schemeClr val="bg1"/>
          </a:contourClr>
        </a:sp3d>
      </dsp:spPr>
      <dsp:style>
        <a:lnRef idx="0">
          <a:scrgbClr r="0" g="0" b="0"/>
        </a:lnRef>
        <a:fillRef idx="1">
          <a:scrgbClr r="0" g="0" b="0"/>
        </a:fillRef>
        <a:effectRef idx="0">
          <a:scrgbClr r="0" g="0" b="0"/>
        </a:effectRef>
        <a:fontRef idx="minor"/>
      </dsp:style>
    </dsp:sp>
    <dsp:sp modelId="{B3C88B11-64D2-4743-8415-64FDE88B261D}">
      <dsp:nvSpPr>
        <dsp:cNvPr id="0" name=""/>
        <dsp:cNvSpPr/>
      </dsp:nvSpPr>
      <dsp:spPr>
        <a:xfrm>
          <a:off x="95032" y="333466"/>
          <a:ext cx="19455" cy="19455"/>
        </a:xfrm>
        <a:prstGeom prst="ellipse">
          <a:avLst/>
        </a:prstGeom>
        <a:solidFill>
          <a:schemeClr val="accent1">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151E695D-F4AB-4A91-9F00-01DFADEE7B26}">
      <dsp:nvSpPr>
        <dsp:cNvPr id="0" name=""/>
        <dsp:cNvSpPr/>
      </dsp:nvSpPr>
      <dsp:spPr>
        <a:xfrm>
          <a:off x="104760" y="343194"/>
          <a:ext cx="174350" cy="1351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9" tIns="0" rIns="0" bIns="0" numCol="1" spcCol="1270" anchor="t" anchorCtr="0">
          <a:noAutofit/>
        </a:bodyPr>
        <a:lstStyle/>
        <a:p>
          <a:pPr marL="0" lvl="0" indent="0" algn="l" defTabSz="444500">
            <a:lnSpc>
              <a:spcPct val="90000"/>
            </a:lnSpc>
            <a:spcBef>
              <a:spcPct val="0"/>
            </a:spcBef>
            <a:spcAft>
              <a:spcPct val="35000"/>
            </a:spcAft>
            <a:buNone/>
          </a:pPr>
          <a:endParaRPr lang="en-US" sz="1000" kern="1200" dirty="0"/>
        </a:p>
      </dsp:txBody>
      <dsp:txXfrm>
        <a:off x="104760" y="343194"/>
        <a:ext cx="174350" cy="135159"/>
      </dsp:txXfrm>
    </dsp:sp>
    <dsp:sp modelId="{569D95D0-9832-42A6-972F-EE58A354F7D0}">
      <dsp:nvSpPr>
        <dsp:cNvPr id="0" name=""/>
        <dsp:cNvSpPr/>
      </dsp:nvSpPr>
      <dsp:spPr>
        <a:xfrm>
          <a:off x="266763" y="206351"/>
          <a:ext cx="35169" cy="35169"/>
        </a:xfrm>
        <a:prstGeom prst="ellipse">
          <a:avLst/>
        </a:prstGeom>
        <a:solidFill>
          <a:schemeClr val="accent1">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901C6FC1-965A-40E2-86A8-B0D95BC02E68}">
      <dsp:nvSpPr>
        <dsp:cNvPr id="0" name=""/>
        <dsp:cNvSpPr/>
      </dsp:nvSpPr>
      <dsp:spPr>
        <a:xfrm>
          <a:off x="284348" y="223936"/>
          <a:ext cx="179588" cy="254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36" tIns="0" rIns="0" bIns="0" numCol="1" spcCol="1270" anchor="t" anchorCtr="0">
          <a:noAutofit/>
        </a:bodyPr>
        <a:lstStyle/>
        <a:p>
          <a:pPr marL="0" lvl="0" indent="0" algn="l" defTabSz="844550">
            <a:lnSpc>
              <a:spcPct val="90000"/>
            </a:lnSpc>
            <a:spcBef>
              <a:spcPct val="0"/>
            </a:spcBef>
            <a:spcAft>
              <a:spcPct val="35000"/>
            </a:spcAft>
            <a:buNone/>
          </a:pPr>
          <a:endParaRPr lang="en-US" sz="1900" kern="1200" dirty="0"/>
        </a:p>
      </dsp:txBody>
      <dsp:txXfrm>
        <a:off x="284348" y="223936"/>
        <a:ext cx="179588" cy="254417"/>
      </dsp:txXfrm>
    </dsp:sp>
    <dsp:sp modelId="{2414A263-E467-477B-924C-45A5D7EBDC26}">
      <dsp:nvSpPr>
        <dsp:cNvPr id="0" name=""/>
        <dsp:cNvSpPr/>
      </dsp:nvSpPr>
      <dsp:spPr>
        <a:xfrm>
          <a:off x="473290" y="128997"/>
          <a:ext cx="48638" cy="48638"/>
        </a:xfrm>
        <a:prstGeom prst="ellipse">
          <a:avLst/>
        </a:prstGeom>
        <a:solidFill>
          <a:schemeClr val="accent1">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FEA3716A-E38B-4D21-9AF2-501986B0EB34}">
      <dsp:nvSpPr>
        <dsp:cNvPr id="0" name=""/>
        <dsp:cNvSpPr/>
      </dsp:nvSpPr>
      <dsp:spPr>
        <a:xfrm>
          <a:off x="497610" y="153317"/>
          <a:ext cx="179588" cy="3250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773" tIns="0" rIns="0" bIns="0" numCol="1" spcCol="1270" anchor="t" anchorCtr="0">
          <a:noAutofit/>
        </a:bodyPr>
        <a:lstStyle/>
        <a:p>
          <a:pPr marL="0" lvl="0" indent="0" algn="l" defTabSz="1066800">
            <a:lnSpc>
              <a:spcPct val="90000"/>
            </a:lnSpc>
            <a:spcBef>
              <a:spcPct val="0"/>
            </a:spcBef>
            <a:spcAft>
              <a:spcPct val="35000"/>
            </a:spcAft>
            <a:buNone/>
          </a:pPr>
          <a:endParaRPr lang="en-US" sz="2400" kern="1200" dirty="0"/>
        </a:p>
      </dsp:txBody>
      <dsp:txXfrm>
        <a:off x="497610" y="153317"/>
        <a:ext cx="179588" cy="3250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05F7AC-75DA-486D-8FE9-8CC16DFE97E9}">
      <dsp:nvSpPr>
        <dsp:cNvPr id="0" name=""/>
        <dsp:cNvSpPr/>
      </dsp:nvSpPr>
      <dsp:spPr>
        <a:xfrm>
          <a:off x="5155518" y="4278444"/>
          <a:ext cx="2596969" cy="862634"/>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a:scene3d>
          <a:camera prst="orthographicFront">
            <a:rot lat="0" lon="0" rev="0"/>
          </a:camera>
          <a:lightRig rig="contrasting" dir="t">
            <a:rot lat="0" lon="0" rev="1200000"/>
          </a:lightRig>
        </a:scene3d>
        <a:sp3d z="-300000"/>
      </dsp:spPr>
      <dsp:style>
        <a:lnRef idx="1">
          <a:schemeClr val="accent1"/>
        </a:lnRef>
        <a:fillRef idx="2">
          <a:schemeClr val="accent1"/>
        </a:fillRef>
        <a:effectRef idx="1">
          <a:schemeClr val="accent1"/>
        </a:effectRef>
        <a:fontRef idx="minor">
          <a:schemeClr val="dk1"/>
        </a:fontRef>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kern="1200" dirty="0"/>
            <a:t>-Strong competitions</a:t>
          </a:r>
          <a:br>
            <a:rPr lang="en-US" sz="1100" kern="1200" dirty="0"/>
          </a:br>
          <a:r>
            <a:rPr lang="en-US" sz="1100" kern="1200" dirty="0"/>
            <a:t>Cyberattacks</a:t>
          </a:r>
          <a:br>
            <a:rPr lang="en-US" sz="1100" kern="1200" dirty="0"/>
          </a:br>
          <a:r>
            <a:rPr lang="en-US" sz="1100" kern="1200" dirty="0"/>
            <a:t>-Regulatory changes</a:t>
          </a:r>
          <a:br>
            <a:rPr lang="en-US" sz="1100" kern="1200" dirty="0"/>
          </a:br>
          <a:r>
            <a:rPr lang="en-US" sz="1100" kern="1200" dirty="0"/>
            <a:t>-Rapid tech disruption</a:t>
          </a:r>
        </a:p>
      </dsp:txBody>
      <dsp:txXfrm>
        <a:off x="5953558" y="4513052"/>
        <a:ext cx="1779980" cy="609077"/>
      </dsp:txXfrm>
    </dsp:sp>
    <dsp:sp modelId="{020DA045-AE90-4ACB-9A0A-1542B01ED44D}">
      <dsp:nvSpPr>
        <dsp:cNvPr id="0" name=""/>
        <dsp:cNvSpPr/>
      </dsp:nvSpPr>
      <dsp:spPr>
        <a:xfrm>
          <a:off x="413738" y="4104072"/>
          <a:ext cx="2718514" cy="1037006"/>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a:scene3d>
          <a:camera prst="orthographicFront">
            <a:rot lat="0" lon="0" rev="0"/>
          </a:camera>
          <a:lightRig rig="contrasting" dir="t">
            <a:rot lat="0" lon="0" rev="1200000"/>
          </a:lightRig>
        </a:scene3d>
        <a:sp3d z="-300000"/>
      </dsp:spPr>
      <dsp:style>
        <a:lnRef idx="1">
          <a:schemeClr val="accent1"/>
        </a:lnRef>
        <a:fillRef idx="2">
          <a:schemeClr val="accent1"/>
        </a:fillRef>
        <a:effectRef idx="1">
          <a:schemeClr val="accent1"/>
        </a:effectRef>
        <a:fontRef idx="minor">
          <a:schemeClr val="dk1"/>
        </a:fontRef>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kern="1200" dirty="0"/>
            <a:t>-AI integration</a:t>
          </a:r>
          <a:br>
            <a:rPr lang="en-US" sz="1100" kern="1200" dirty="0"/>
          </a:br>
          <a:r>
            <a:rPr lang="en-US" sz="1100" kern="1200" dirty="0"/>
            <a:t>-5G expansion</a:t>
          </a:r>
          <a:br>
            <a:rPr lang="en-US" sz="1100" kern="1200" dirty="0"/>
          </a:br>
          <a:r>
            <a:rPr lang="en-US" sz="1100" kern="1200" dirty="0"/>
            <a:t>-Smart cities</a:t>
          </a:r>
          <a:br>
            <a:rPr lang="en-US" sz="1100" kern="1200" dirty="0"/>
          </a:br>
          <a:r>
            <a:rPr lang="en-US" sz="1100" kern="1200" dirty="0"/>
            <a:t>-Cloud market growth</a:t>
          </a:r>
          <a:r>
            <a:rPr lang="en-US" sz="1100" kern="1200" dirty="0">
              <a:solidFill>
                <a:srgbClr val="FFFFFF"/>
              </a:solidFill>
              <a:latin typeface="Roboto"/>
              <a:ea typeface="Roboto"/>
              <a:cs typeface="Roboto"/>
              <a:sym typeface="Roboto"/>
            </a:rPr>
            <a:t>. </a:t>
          </a:r>
          <a:endParaRPr lang="en-US" sz="1100" kern="1200" dirty="0"/>
        </a:p>
      </dsp:txBody>
      <dsp:txXfrm>
        <a:off x="436518" y="4386103"/>
        <a:ext cx="1857400" cy="732194"/>
      </dsp:txXfrm>
    </dsp:sp>
    <dsp:sp modelId="{612DCF89-4062-4805-9F51-47EAD469F392}">
      <dsp:nvSpPr>
        <dsp:cNvPr id="0" name=""/>
        <dsp:cNvSpPr/>
      </dsp:nvSpPr>
      <dsp:spPr>
        <a:xfrm>
          <a:off x="4849209" y="417000"/>
          <a:ext cx="2718514" cy="926980"/>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a:scene3d>
          <a:camera prst="orthographicFront">
            <a:rot lat="0" lon="0" rev="0"/>
          </a:camera>
          <a:lightRig rig="contrasting" dir="t">
            <a:rot lat="0" lon="0" rev="1200000"/>
          </a:lightRig>
        </a:scene3d>
        <a:sp3d z="-300000"/>
      </dsp:spPr>
      <dsp:style>
        <a:lnRef idx="1">
          <a:schemeClr val="accent1"/>
        </a:lnRef>
        <a:fillRef idx="2">
          <a:schemeClr val="accent1"/>
        </a:fillRef>
        <a:effectRef idx="1">
          <a:schemeClr val="accent1"/>
        </a:effectRef>
        <a:fontRef idx="minor">
          <a:schemeClr val="dk1"/>
        </a:fontRef>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kern="1200" dirty="0"/>
            <a:t>-Bureaucratic structure</a:t>
          </a:r>
          <a:br>
            <a:rPr lang="en-US" sz="1100" kern="1200" dirty="0"/>
          </a:br>
          <a:r>
            <a:rPr lang="en-US" sz="1100" kern="1200" dirty="0"/>
            <a:t>-Slow decision cycles</a:t>
          </a:r>
          <a:br>
            <a:rPr lang="en-US" sz="1100" kern="1200" dirty="0"/>
          </a:br>
          <a:r>
            <a:rPr lang="en-US" sz="1100" kern="1200" dirty="0"/>
            <a:t>-Legacy systems</a:t>
          </a:r>
        </a:p>
      </dsp:txBody>
      <dsp:txXfrm>
        <a:off x="5685127" y="437363"/>
        <a:ext cx="1862234" cy="654509"/>
      </dsp:txXfrm>
    </dsp:sp>
    <dsp:sp modelId="{6339D7A8-402C-40B4-AE50-ABFD30C39AE9}">
      <dsp:nvSpPr>
        <dsp:cNvPr id="0" name=""/>
        <dsp:cNvSpPr/>
      </dsp:nvSpPr>
      <dsp:spPr>
        <a:xfrm>
          <a:off x="345626" y="384519"/>
          <a:ext cx="2854739" cy="991943"/>
        </a:xfrm>
        <a:prstGeom prst="roundRect">
          <a:avLst>
            <a:gd name="adj" fmla="val 10000"/>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a:scene3d>
          <a:camera prst="orthographicFront">
            <a:rot lat="0" lon="0" rev="0"/>
          </a:camera>
          <a:lightRig rig="contrasting" dir="t">
            <a:rot lat="0" lon="0" rev="1200000"/>
          </a:lightRig>
        </a:scene3d>
        <a:sp3d z="-300000"/>
      </dsp:spPr>
      <dsp:style>
        <a:lnRef idx="1">
          <a:schemeClr val="accent1"/>
        </a:lnRef>
        <a:fillRef idx="2">
          <a:schemeClr val="accent1"/>
        </a:fillRef>
        <a:effectRef idx="1">
          <a:schemeClr val="accent1"/>
        </a:effectRef>
        <a:fontRef idx="minor">
          <a:schemeClr val="dk1"/>
        </a:fontRef>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None/>
          </a:pPr>
          <a:r>
            <a:rPr lang="en-US" sz="1100" kern="1200" dirty="0"/>
            <a:t>-Largest fixed network in Egypt.</a:t>
          </a:r>
        </a:p>
        <a:p>
          <a:pPr marL="57150" lvl="1" indent="-57150" algn="l" defTabSz="488950">
            <a:lnSpc>
              <a:spcPct val="90000"/>
            </a:lnSpc>
            <a:spcBef>
              <a:spcPct val="0"/>
            </a:spcBef>
            <a:spcAft>
              <a:spcPct val="15000"/>
            </a:spcAft>
            <a:buFont typeface="Arial" panose="020B0604020202020204" pitchFamily="34" charset="0"/>
            <a:buNone/>
          </a:pPr>
          <a:r>
            <a:rPr lang="en-US" sz="1100" kern="1200" dirty="0"/>
            <a:t>-Strong government support.</a:t>
          </a:r>
        </a:p>
        <a:p>
          <a:pPr marL="57150" lvl="1" indent="-57150" algn="l" defTabSz="488950">
            <a:lnSpc>
              <a:spcPct val="90000"/>
            </a:lnSpc>
            <a:spcBef>
              <a:spcPct val="0"/>
            </a:spcBef>
            <a:spcAft>
              <a:spcPct val="15000"/>
            </a:spcAft>
            <a:buFont typeface="Arial" panose="020B0604020202020204" pitchFamily="34" charset="0"/>
            <a:buNone/>
          </a:pPr>
          <a:r>
            <a:rPr lang="en-US" sz="1100" kern="1200" dirty="0"/>
            <a:t>-Huge infrastructure assets.</a:t>
          </a:r>
        </a:p>
        <a:p>
          <a:pPr marL="57150" lvl="1" indent="-57150" algn="l" defTabSz="488950">
            <a:lnSpc>
              <a:spcPct val="90000"/>
            </a:lnSpc>
            <a:spcBef>
              <a:spcPct val="0"/>
            </a:spcBef>
            <a:spcAft>
              <a:spcPct val="15000"/>
            </a:spcAft>
            <a:buFont typeface="Arial" panose="020B0604020202020204" pitchFamily="34" charset="0"/>
            <a:buNone/>
          </a:pPr>
          <a:r>
            <a:rPr lang="en-US" sz="1100" kern="1200" dirty="0"/>
            <a:t>-Strong market position.</a:t>
          </a:r>
        </a:p>
      </dsp:txBody>
      <dsp:txXfrm>
        <a:off x="367416" y="406309"/>
        <a:ext cx="1954737" cy="700377"/>
      </dsp:txXfrm>
    </dsp:sp>
    <dsp:sp modelId="{5A4A25BD-C44C-4E39-8DAD-E58F25791F3A}">
      <dsp:nvSpPr>
        <dsp:cNvPr id="0" name=""/>
        <dsp:cNvSpPr/>
      </dsp:nvSpPr>
      <dsp:spPr>
        <a:xfrm>
          <a:off x="1518817" y="313674"/>
          <a:ext cx="2382827" cy="2382827"/>
        </a:xfrm>
        <a:prstGeom prst="pieWedge">
          <a:avLst/>
        </a:prstGeom>
        <a:solidFill>
          <a:srgbClr val="C0000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8960" tIns="568960" rIns="568960" bIns="568960" numCol="1" spcCol="1270" anchor="ctr" anchorCtr="0">
          <a:noAutofit/>
        </a:bodyPr>
        <a:lstStyle/>
        <a:p>
          <a:pPr marL="0" lvl="0" indent="0" algn="ctr" defTabSz="3556000">
            <a:lnSpc>
              <a:spcPct val="90000"/>
            </a:lnSpc>
            <a:spcBef>
              <a:spcPct val="0"/>
            </a:spcBef>
            <a:spcAft>
              <a:spcPct val="35000"/>
            </a:spcAft>
            <a:buNone/>
          </a:pPr>
          <a:r>
            <a:rPr lang="en-US" sz="8000" b="1" kern="1200" dirty="0">
              <a:solidFill>
                <a:srgbClr val="00B050"/>
              </a:solidFill>
              <a:latin typeface="Roboto"/>
              <a:ea typeface="Roboto"/>
              <a:cs typeface="Roboto"/>
              <a:sym typeface="Roboto"/>
            </a:rPr>
            <a:t>S</a:t>
          </a:r>
          <a:endParaRPr lang="en-US" sz="8000" kern="1200" dirty="0"/>
        </a:p>
      </dsp:txBody>
      <dsp:txXfrm>
        <a:off x="2216731" y="1011588"/>
        <a:ext cx="1684913" cy="1684913"/>
      </dsp:txXfrm>
    </dsp:sp>
    <dsp:sp modelId="{D1EEBD58-8745-453F-A72E-82CB4905F2A6}">
      <dsp:nvSpPr>
        <dsp:cNvPr id="0" name=""/>
        <dsp:cNvSpPr/>
      </dsp:nvSpPr>
      <dsp:spPr>
        <a:xfrm rot="5400000">
          <a:off x="4011706" y="313674"/>
          <a:ext cx="2382827" cy="2382827"/>
        </a:xfrm>
        <a:prstGeom prst="pieWedge">
          <a:avLst/>
        </a:prstGeom>
        <a:solidFill>
          <a:srgbClr val="00206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8960" tIns="568960" rIns="568960" bIns="568960" numCol="1" spcCol="1270" anchor="ctr" anchorCtr="0">
          <a:noAutofit/>
        </a:bodyPr>
        <a:lstStyle/>
        <a:p>
          <a:pPr marL="0" lvl="0" indent="0" algn="ctr" defTabSz="3556000">
            <a:lnSpc>
              <a:spcPct val="90000"/>
            </a:lnSpc>
            <a:spcBef>
              <a:spcPct val="0"/>
            </a:spcBef>
            <a:spcAft>
              <a:spcPct val="35000"/>
            </a:spcAft>
            <a:buNone/>
          </a:pPr>
          <a:r>
            <a:rPr lang="en-US" sz="8000" b="1" kern="1200" dirty="0">
              <a:solidFill>
                <a:srgbClr val="FF0000"/>
              </a:solidFill>
              <a:latin typeface="Roboto"/>
              <a:ea typeface="Roboto"/>
              <a:cs typeface="Roboto"/>
              <a:sym typeface="Roboto"/>
            </a:rPr>
            <a:t>W</a:t>
          </a:r>
          <a:endParaRPr lang="ar-EG" sz="8000" b="1" kern="1200" dirty="0">
            <a:solidFill>
              <a:srgbClr val="FF0000"/>
            </a:solidFill>
            <a:latin typeface="Roboto"/>
            <a:ea typeface="Roboto"/>
            <a:cs typeface="Roboto"/>
            <a:sym typeface="Roboto"/>
          </a:endParaRPr>
        </a:p>
      </dsp:txBody>
      <dsp:txXfrm rot="-5400000">
        <a:off x="4011706" y="1011588"/>
        <a:ext cx="1684913" cy="1684913"/>
      </dsp:txXfrm>
    </dsp:sp>
    <dsp:sp modelId="{4AA69806-CB57-41A9-96AB-5817C4AE168E}">
      <dsp:nvSpPr>
        <dsp:cNvPr id="0" name=""/>
        <dsp:cNvSpPr/>
      </dsp:nvSpPr>
      <dsp:spPr>
        <a:xfrm rot="10800000">
          <a:off x="4011706" y="2806563"/>
          <a:ext cx="2382827" cy="2382827"/>
        </a:xfrm>
        <a:prstGeom prst="pieWedge">
          <a:avLst/>
        </a:prstGeom>
        <a:solidFill>
          <a:srgbClr val="00B05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8960" tIns="568960" rIns="568960" bIns="568960" numCol="1" spcCol="1270" anchor="ctr" anchorCtr="0">
          <a:noAutofit/>
        </a:bodyPr>
        <a:lstStyle/>
        <a:p>
          <a:pPr marL="0" lvl="0" indent="0" algn="ctr" defTabSz="3556000">
            <a:lnSpc>
              <a:spcPct val="90000"/>
            </a:lnSpc>
            <a:spcBef>
              <a:spcPct val="0"/>
            </a:spcBef>
            <a:spcAft>
              <a:spcPct val="35000"/>
            </a:spcAft>
            <a:buNone/>
          </a:pPr>
          <a:r>
            <a:rPr lang="en-US" sz="8000" b="1" kern="1200" dirty="0">
              <a:solidFill>
                <a:srgbClr val="FFFF00"/>
              </a:solidFill>
              <a:latin typeface="Roboto"/>
              <a:ea typeface="Roboto"/>
              <a:cs typeface="Roboto"/>
              <a:sym typeface="Roboto"/>
            </a:rPr>
            <a:t>T</a:t>
          </a:r>
          <a:endParaRPr lang="en-US" sz="8000" kern="1200" dirty="0">
            <a:solidFill>
              <a:srgbClr val="FFFF00"/>
            </a:solidFill>
          </a:endParaRPr>
        </a:p>
      </dsp:txBody>
      <dsp:txXfrm rot="10800000">
        <a:off x="4011706" y="2806563"/>
        <a:ext cx="1684913" cy="1684913"/>
      </dsp:txXfrm>
    </dsp:sp>
    <dsp:sp modelId="{62E1A43E-D4C8-4BDE-B77E-F49C30A0A42F}">
      <dsp:nvSpPr>
        <dsp:cNvPr id="0" name=""/>
        <dsp:cNvSpPr/>
      </dsp:nvSpPr>
      <dsp:spPr>
        <a:xfrm rot="16200000">
          <a:off x="1518817" y="2806563"/>
          <a:ext cx="2382827" cy="2382827"/>
        </a:xfrm>
        <a:prstGeom prst="pieWedge">
          <a:avLst/>
        </a:prstGeom>
        <a:solidFill>
          <a:srgbClr val="FFFF0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68960" tIns="568960" rIns="568960" bIns="568960" numCol="1" spcCol="1270" anchor="ctr" anchorCtr="0">
          <a:noAutofit/>
        </a:bodyPr>
        <a:lstStyle/>
        <a:p>
          <a:pPr marL="0" lvl="0" indent="0" algn="ctr" defTabSz="3556000">
            <a:lnSpc>
              <a:spcPct val="90000"/>
            </a:lnSpc>
            <a:spcBef>
              <a:spcPct val="0"/>
            </a:spcBef>
            <a:spcAft>
              <a:spcPct val="35000"/>
            </a:spcAft>
            <a:buNone/>
          </a:pPr>
          <a:r>
            <a:rPr lang="en-US" sz="8000" b="1" kern="1200" dirty="0">
              <a:solidFill>
                <a:srgbClr val="0070C0"/>
              </a:solidFill>
              <a:latin typeface="Roboto"/>
              <a:ea typeface="Roboto"/>
              <a:cs typeface="Roboto"/>
              <a:sym typeface="Roboto"/>
            </a:rPr>
            <a:t>O</a:t>
          </a:r>
          <a:endParaRPr lang="en-US" sz="8000" kern="1200" dirty="0"/>
        </a:p>
      </dsp:txBody>
      <dsp:txXfrm rot="5400000">
        <a:off x="2216731" y="2806563"/>
        <a:ext cx="1684913" cy="1684913"/>
      </dsp:txXfrm>
    </dsp:sp>
    <dsp:sp modelId="{83998BFE-C87B-43E5-9399-95B284222DD1}">
      <dsp:nvSpPr>
        <dsp:cNvPr id="0" name=""/>
        <dsp:cNvSpPr/>
      </dsp:nvSpPr>
      <dsp:spPr>
        <a:xfrm>
          <a:off x="3545321" y="2256257"/>
          <a:ext cx="822708" cy="715398"/>
        </a:xfrm>
        <a:prstGeom prst="circularArrow">
          <a:avLst/>
        </a:prstGeom>
        <a:solidFill>
          <a:schemeClr val="accent4">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0D59D37A-936A-4BF2-AF9E-5FA8BCC6B7AE}">
      <dsp:nvSpPr>
        <dsp:cNvPr id="0" name=""/>
        <dsp:cNvSpPr/>
      </dsp:nvSpPr>
      <dsp:spPr>
        <a:xfrm rot="10800000">
          <a:off x="3545321" y="2531410"/>
          <a:ext cx="822708" cy="715398"/>
        </a:xfrm>
        <a:prstGeom prst="circularArrow">
          <a:avLst/>
        </a:prstGeom>
        <a:solidFill>
          <a:schemeClr val="accent4">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4.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5.jpeg"/></Relationships>
</file>

<file path=ppt/drawings/drawing1.xml><?xml version="1.0" encoding="utf-8"?>
<c:userShapes xmlns:c="http://schemas.openxmlformats.org/drawingml/2006/chart">
  <cdr:relSizeAnchor xmlns:cdr="http://schemas.openxmlformats.org/drawingml/2006/chartDrawing">
    <cdr:from>
      <cdr:x>0.39922</cdr:x>
      <cdr:y>0.33164</cdr:y>
    </cdr:from>
    <cdr:to>
      <cdr:x>0.6468</cdr:x>
      <cdr:y>0.65671</cdr:y>
    </cdr:to>
    <cdr:sp macro="" textlink="">
      <cdr:nvSpPr>
        <cdr:cNvPr id="3" name="TextBox 2">
          <a:extLst xmlns:a="http://schemas.openxmlformats.org/drawingml/2006/main">
            <a:ext uri="{FF2B5EF4-FFF2-40B4-BE49-F238E27FC236}">
              <a16:creationId xmlns:a16="http://schemas.microsoft.com/office/drawing/2014/main" id="{33FB907A-FA5C-300C-B88D-5B10F79D1DA3}"/>
            </a:ext>
          </a:extLst>
        </cdr:cNvPr>
        <cdr:cNvSpPr txBox="1"/>
      </cdr:nvSpPr>
      <cdr:spPr>
        <a:xfrm xmlns:a="http://schemas.openxmlformats.org/drawingml/2006/main">
          <a:off x="2465070" y="1501733"/>
          <a:ext cx="1528735" cy="147194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0.29392</cdr:x>
      <cdr:y>0.33593</cdr:y>
    </cdr:from>
    <cdr:to>
      <cdr:x>0.70795</cdr:x>
      <cdr:y>0.66014</cdr:y>
    </cdr:to>
    <cdr:pic>
      <cdr:nvPicPr>
        <cdr:cNvPr id="4" name="Picture 3">
          <a:extLst xmlns:a="http://schemas.openxmlformats.org/drawingml/2006/main">
            <a:ext uri="{FF2B5EF4-FFF2-40B4-BE49-F238E27FC236}">
              <a16:creationId xmlns:a16="http://schemas.microsoft.com/office/drawing/2014/main" id="{40FC7440-292B-A163-E410-FCF53C457153}"/>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rcRect xmlns:a="http://schemas.openxmlformats.org/drawingml/2006/main"/>
        <a:stretch xmlns:a="http://schemas.openxmlformats.org/drawingml/2006/main">
          <a:fillRect/>
        </a:stretch>
      </cdr:blipFill>
      <cdr:spPr bwMode="auto">
        <a:xfrm xmlns:a="http://schemas.openxmlformats.org/drawingml/2006/main">
          <a:off x="1814865" y="1521135"/>
          <a:ext cx="2556533" cy="1468087"/>
        </a:xfrm>
        <a:prstGeom xmlns:a="http://schemas.openxmlformats.org/drawingml/2006/main" prst="rect">
          <a:avLst/>
        </a:prstGeom>
        <a:noFill xmlns:a="http://schemas.openxmlformats.org/drawingml/2006/main"/>
        <a:ln xmlns:a="http://schemas.openxmlformats.org/drawingml/2006/main">
          <a:noFill/>
        </a:ln>
      </cdr:spPr>
    </cdr:pic>
  </cdr:relSizeAnchor>
  <cdr:relSizeAnchor xmlns:cdr="http://schemas.openxmlformats.org/drawingml/2006/chartDrawing">
    <cdr:from>
      <cdr:x>0.42654</cdr:x>
      <cdr:y>0.6755</cdr:y>
    </cdr:from>
    <cdr:to>
      <cdr:x>0.57683</cdr:x>
      <cdr:y>0.79749</cdr:y>
    </cdr:to>
    <cdr:sp macro="" textlink="">
      <cdr:nvSpPr>
        <cdr:cNvPr id="5" name="TextBox 4">
          <a:extLst xmlns:a="http://schemas.openxmlformats.org/drawingml/2006/main">
            <a:ext uri="{FF2B5EF4-FFF2-40B4-BE49-F238E27FC236}">
              <a16:creationId xmlns:a16="http://schemas.microsoft.com/office/drawing/2014/main" id="{FC1F0D0F-0EBC-5F71-EEBC-16CD6A5D97B4}"/>
            </a:ext>
          </a:extLst>
        </cdr:cNvPr>
        <cdr:cNvSpPr txBox="1"/>
      </cdr:nvSpPr>
      <cdr:spPr>
        <a:xfrm xmlns:a="http://schemas.openxmlformats.org/drawingml/2006/main">
          <a:off x="2633764" y="3058778"/>
          <a:ext cx="928026" cy="55238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solidFill>
                <a:schemeClr val="bg1"/>
              </a:solidFill>
            </a:rPr>
            <a:t>+184%</a:t>
          </a:r>
        </a:p>
        <a:p xmlns:a="http://schemas.openxmlformats.org/drawingml/2006/main">
          <a:pPr algn="ctr"/>
          <a:r>
            <a:rPr lang="en-US" sz="1400" b="1" dirty="0">
              <a:solidFill>
                <a:schemeClr val="bg1"/>
              </a:solidFill>
            </a:rPr>
            <a:t>Growth</a:t>
          </a:r>
        </a:p>
        <a:p xmlns:a="http://schemas.openxmlformats.org/drawingml/2006/main">
          <a:endParaRPr lang="en-US" sz="1100"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7/4/2026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C6D3C-9EB0-4F2C-9026-3887D1CDB44E}" type="slidenum">
              <a:rPr lang="en-US" smtClean="0"/>
              <a:t>2</a:t>
            </a:fld>
            <a:endParaRPr lang="en-US" dirty="0"/>
          </a:p>
        </p:txBody>
      </p:sp>
    </p:spTree>
    <p:extLst>
      <p:ext uri="{BB962C8B-B14F-4D97-AF65-F5344CB8AC3E}">
        <p14:creationId xmlns:p14="http://schemas.microsoft.com/office/powerpoint/2010/main" val="574928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C6D3C-9EB0-4F2C-9026-3887D1CDB44E}" type="slidenum">
              <a:rPr lang="en-US" smtClean="0"/>
              <a:t>3</a:t>
            </a:fld>
            <a:endParaRPr lang="en-US" dirty="0"/>
          </a:p>
        </p:txBody>
      </p:sp>
    </p:spTree>
    <p:extLst>
      <p:ext uri="{BB962C8B-B14F-4D97-AF65-F5344CB8AC3E}">
        <p14:creationId xmlns:p14="http://schemas.microsoft.com/office/powerpoint/2010/main" val="1811511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C6D3C-9EB0-4F2C-9026-3887D1CDB44E}" type="slidenum">
              <a:rPr lang="en-US" smtClean="0"/>
              <a:t>5</a:t>
            </a:fld>
            <a:endParaRPr lang="en-US" dirty="0"/>
          </a:p>
        </p:txBody>
      </p:sp>
    </p:spTree>
    <p:extLst>
      <p:ext uri="{BB962C8B-B14F-4D97-AF65-F5344CB8AC3E}">
        <p14:creationId xmlns:p14="http://schemas.microsoft.com/office/powerpoint/2010/main" val="3171523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3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5156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27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solidFill>
            <a:schemeClr val="tx2">
              <a:alpha val="70000"/>
            </a:schemeClr>
          </a:solidFill>
        </p:spPr>
        <p:txBody>
          <a:bodyPr lIns="1116000" rIns="180000" anchor="ctr"/>
          <a:lstStyle>
            <a:lvl1pPr algn="l">
              <a:defRPr sz="5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C97F3D-57FA-4E82-9EEC-E93088055A15}"/>
              </a:ext>
            </a:extLst>
          </p:cNvPr>
          <p:cNvSpPr>
            <a:spLocks noGrp="1"/>
          </p:cNvSpPr>
          <p:nvPr>
            <p:ph type="subTitle" idx="1"/>
          </p:nvPr>
        </p:nvSpPr>
        <p:spPr>
          <a:xfrm>
            <a:off x="3600000" y="4276447"/>
            <a:ext cx="5161550" cy="620016"/>
          </a:xfrm>
          <a:gradFill>
            <a:gsLst>
              <a:gs pos="0">
                <a:schemeClr val="tx2"/>
              </a:gs>
              <a:gs pos="100000">
                <a:schemeClr val="accent2"/>
              </a:gs>
            </a:gsLst>
            <a:lin ang="14400000" scaled="0"/>
          </a:gradFill>
        </p:spPr>
        <p:txBody>
          <a:bodyPr lIns="144000" anchor="ctr"/>
          <a:lstStyle>
            <a:lvl1pPr marL="0" indent="0" algn="l">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p>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tx2"/>
          </a:solidFill>
        </p:spPr>
        <p:txBody>
          <a:bodyPr/>
          <a:lstStyle>
            <a:lvl1pPr>
              <a:defRPr>
                <a:solidFill>
                  <a:schemeClr val="bg1"/>
                </a:solidFill>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p:spPr>
        <p:txBody>
          <a:bodyPr/>
          <a:lstStyle>
            <a:lvl1pPr>
              <a:defRPr sz="4000" cap="all" baseline="0">
                <a:solidFill>
                  <a:schemeClr val="bg1"/>
                </a:solidFill>
              </a:defRPr>
            </a:lvl1pPr>
          </a:lstStyle>
          <a:p>
            <a:r>
              <a:rPr lang="en-US"/>
              <a:t>Click to edit Master title style</a:t>
            </a:r>
            <a:endParaRPr lang="en-US" dirty="0"/>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gradFill>
            <a:gsLst>
              <a:gs pos="0">
                <a:schemeClr val="tx2"/>
              </a:gs>
              <a:gs pos="100000">
                <a:schemeClr val="accent2"/>
              </a:gs>
            </a:gsLst>
            <a:lin ang="14400000" scaled="0"/>
          </a:gradFill>
        </p:spPr>
        <p:txBody>
          <a:bodyPr lIns="0" anchor="ctr"/>
          <a:lstStyle>
            <a:lvl1pPr marL="0" indent="0" algn="ctr">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defRPr>
            </a:lvl1pPr>
          </a:lstStyle>
          <a:p>
            <a:r>
              <a:rPr lang="en-US" dirty="0"/>
              <a:t>Icon</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dirty="0"/>
              <a:t>SUBTITLE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p:txBody>
          <a:bodyPr/>
          <a:lstStyle/>
          <a:p>
            <a:r>
              <a:rPr lang="en-US"/>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lvl1pPr>
          </a:lstStyle>
          <a:p>
            <a:pPr lvl="0"/>
            <a:r>
              <a:rPr lang="en-US" dirty="0"/>
              <a:t>Description Here</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anchor="ctr"/>
          <a:lstStyle>
            <a:lvl1pPr marL="0" indent="0" algn="r">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solidFill>
            <a:schemeClr val="tx2">
              <a:alpha val="70000"/>
            </a:schemeClr>
          </a:solidFill>
        </p:spPr>
        <p:txBody>
          <a:bodyPr lIns="1116000" rIns="180000" bIns="756000" anchor="ctr"/>
          <a:lstStyle>
            <a:lvl1pPr algn="l">
              <a:lnSpc>
                <a:spcPct val="65000"/>
              </a:lnSpc>
              <a:defRPr sz="8800" cap="all" baseline="0">
                <a:solidFill>
                  <a:schemeClr val="bg1"/>
                </a:solidFill>
              </a:defRPr>
            </a:lvl1pPr>
          </a:lstStyle>
          <a:p>
            <a:r>
              <a:rPr lang="en-US" dirty="0"/>
              <a:t>Thank </a:t>
            </a:r>
            <a:br>
              <a:rPr lang="en-US" dirty="0"/>
            </a:br>
            <a:r>
              <a:rPr lang="en-US" dirty="0"/>
              <a:t>you</a:t>
            </a:r>
          </a:p>
        </p:txBody>
      </p:sp>
      <p:sp>
        <p:nvSpPr>
          <p:cNvPr id="6" name="Text Placeholder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anchor="t"/>
          <a:lstStyle>
            <a:lvl1pPr marL="0" indent="0">
              <a:buNone/>
              <a:defRPr sz="2000">
                <a:solidFill>
                  <a:schemeClr val="accent1"/>
                </a:solidFill>
                <a:latin typeface="+mj-lt"/>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Full Name</a:t>
            </a:r>
          </a:p>
        </p:txBody>
      </p:sp>
      <p:sp>
        <p:nvSpPr>
          <p:cNvPr id="9" name="Text Placeholder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Email</a:t>
            </a:r>
          </a:p>
        </p:txBody>
      </p:sp>
      <p:sp>
        <p:nvSpPr>
          <p:cNvPr id="10" name="Text Placeholder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Phone</a:t>
            </a:r>
          </a:p>
        </p:txBody>
      </p:sp>
      <p:sp>
        <p:nvSpPr>
          <p:cNvPr id="11" name="Text Placeholder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anchor="t"/>
          <a:lstStyle>
            <a:lvl1pPr marL="0" indent="0">
              <a:buNone/>
              <a:defRPr sz="1000" i="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POSITION</a:t>
            </a:r>
          </a:p>
        </p:txBody>
      </p:sp>
    </p:spTree>
    <p:extLst>
      <p:ext uri="{BB962C8B-B14F-4D97-AF65-F5344CB8AC3E}">
        <p14:creationId xmlns:p14="http://schemas.microsoft.com/office/powerpoint/2010/main" val="3185791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89857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A5246D-ECE9-473C-953D-D56C3F7B32F8}"/>
              </a:ext>
            </a:extLst>
          </p:cNvPr>
          <p:cNvSpPr>
            <a:spLocks noGrp="1"/>
          </p:cNvSpPr>
          <p:nvPr>
            <p:ph type="title"/>
          </p:nvPr>
        </p:nvSpPr>
        <p:spPr>
          <a:xfrm>
            <a:off x="684000" y="808186"/>
            <a:ext cx="7560000" cy="370166"/>
          </a:xfrm>
          <a:prstGeom prst="rect">
            <a:avLst/>
          </a:prstGeom>
        </p:spPr>
        <p:txBody>
          <a:bodyPr vert="horz" lIns="0" tIns="0" rIns="0" bIns="0" rtlCol="0" anchor="t">
            <a:no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1"/>
          </a:solidFill>
        </p:spPr>
        <p:txBody>
          <a:bodyPr vert="horz" lIns="0" tIns="0" rIns="0" bIns="0" rtlCol="0" anchor="ctr"/>
          <a:lstStyle>
            <a:lvl1pPr algn="ctr">
              <a:defRPr sz="1000">
                <a:solidFill>
                  <a:schemeClr val="tx2"/>
                </a:solidFill>
              </a:defRPr>
            </a:lvl1pPr>
          </a:lstStyle>
          <a:p>
            <a:fld id="{EECC7194-A4D0-457B-9D3E-53681723AFF7}" type="slidenum">
              <a:rPr lang="en-US" noProof="0" smtClean="0"/>
              <a:pPr/>
              <a:t>‹#›</a:t>
            </a:fld>
            <a:endParaRPr lang="en-US" noProof="0" dirty="0"/>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 id="2147483670" r:id="rId14"/>
  </p:sldLayoutIdLst>
  <p:hf hdr="0" ftr="0" dt="0"/>
  <p:txStyles>
    <p:titleStyle>
      <a:lvl1pPr algn="l" defTabSz="914400" rtl="0" eaLnBrk="1" latinLnBrk="0" hangingPunct="1">
        <a:lnSpc>
          <a:spcPct val="90000"/>
        </a:lnSpc>
        <a:spcBef>
          <a:spcPct val="0"/>
        </a:spcBef>
        <a:buNone/>
        <a:defRPr sz="3200" b="1" kern="1200" cap="all" spc="-150" baseline="0">
          <a:solidFill>
            <a:schemeClr val="accent2"/>
          </a:solidFill>
          <a:latin typeface="+mj-lt"/>
          <a:ea typeface="+mj-ea"/>
          <a:cs typeface="+mj-cs"/>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1.xml"/><Relationship Id="rId16" Type="http://schemas.openxmlformats.org/officeDocument/2006/relationships/diagramQuickStyle" Target="../diagrams/quickStyl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chart" Target="../charts/chart6.xml"/><Relationship Id="rId2" Type="http://schemas.openxmlformats.org/officeDocument/2006/relationships/chart" Target="../charts/chart2.xml"/><Relationship Id="rId1" Type="http://schemas.openxmlformats.org/officeDocument/2006/relationships/slideLayout" Target="../slideLayouts/slideLayout4.xml"/><Relationship Id="rId6" Type="http://schemas.openxmlformats.org/officeDocument/2006/relationships/chart" Target="../charts/chart5.xml"/><Relationship Id="rId5" Type="http://schemas.openxmlformats.org/officeDocument/2006/relationships/image" Target="../media/image10.jpe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a:stretch/>
        </p:blipFill>
        <p:spPr>
          <a:xfrm>
            <a:off x="0" y="-12537"/>
            <a:ext cx="12192000" cy="6858000"/>
          </a:xfrm>
          <a:effectLst>
            <a:outerShdw blurRad="50800" dist="50800" dir="5400000" algn="ctr" rotWithShape="0">
              <a:srgbClr val="000000"/>
            </a:outerShdw>
          </a:effectLst>
        </p:spPr>
      </p:pic>
      <p:sp>
        <p:nvSpPr>
          <p:cNvPr id="3" name="Title 2">
            <a:extLst>
              <a:ext uri="{FF2B5EF4-FFF2-40B4-BE49-F238E27FC236}">
                <a16:creationId xmlns:a16="http://schemas.microsoft.com/office/drawing/2014/main" id="{B8D8E648-93B0-47FF-A306-492EFF7FC499}"/>
              </a:ext>
            </a:extLst>
          </p:cNvPr>
          <p:cNvSpPr>
            <a:spLocks noGrp="1"/>
          </p:cNvSpPr>
          <p:nvPr>
            <p:ph type="ctrTitle"/>
          </p:nvPr>
        </p:nvSpPr>
        <p:spPr>
          <a:xfrm>
            <a:off x="4562376" y="-12537"/>
            <a:ext cx="7629624" cy="6883074"/>
          </a:xfrm>
          <a:solidFill>
            <a:schemeClr val="tx2">
              <a:alpha val="70000"/>
            </a:schemeClr>
          </a:solidFill>
        </p:spPr>
        <p:txBody>
          <a:bodyPr/>
          <a:lstStyle/>
          <a:p>
            <a:pPr algn="ctr">
              <a:lnSpc>
                <a:spcPct val="110000"/>
              </a:lnSpc>
            </a:pPr>
            <a:r>
              <a:rPr lang="en-US" dirty="0"/>
              <a:t>Telecom Egypt</a:t>
            </a:r>
            <a:br>
              <a:rPr lang="en-US" dirty="0"/>
            </a:br>
            <a:r>
              <a:rPr lang="en-US" dirty="0"/>
              <a:t>Governance Maturity</a:t>
            </a:r>
          </a:p>
        </p:txBody>
      </p:sp>
      <p:sp>
        <p:nvSpPr>
          <p:cNvPr id="4" name="Subtitle 3">
            <a:extLst>
              <a:ext uri="{FF2B5EF4-FFF2-40B4-BE49-F238E27FC236}">
                <a16:creationId xmlns:a16="http://schemas.microsoft.com/office/drawing/2014/main" id="{64857D70-F12B-4E1B-99F8-92DAD4349846}"/>
              </a:ext>
            </a:extLst>
          </p:cNvPr>
          <p:cNvSpPr>
            <a:spLocks noGrp="1"/>
          </p:cNvSpPr>
          <p:nvPr>
            <p:ph type="subTitle" idx="1"/>
          </p:nvPr>
        </p:nvSpPr>
        <p:spPr>
          <a:xfrm>
            <a:off x="7348054" y="5063203"/>
            <a:ext cx="3492000" cy="620016"/>
          </a:xfrm>
          <a:gradFill>
            <a:gsLst>
              <a:gs pos="8000">
                <a:schemeClr val="tx2"/>
              </a:gs>
              <a:gs pos="100000">
                <a:schemeClr val="accent2"/>
              </a:gs>
            </a:gsLst>
            <a:lin ang="14400000" scaled="0"/>
          </a:gradFill>
        </p:spPr>
        <p:txBody>
          <a:bodyPr/>
          <a:lstStyle/>
          <a:p>
            <a:r>
              <a:rPr lang="en-US" sz="2000" dirty="0"/>
              <a:t>Governance, Risk &amp; Digital Transformation</a:t>
            </a: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a:off x="6943632" y="304930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5" name="Rectangle 14">
            <a:extLst>
              <a:ext uri="{FF2B5EF4-FFF2-40B4-BE49-F238E27FC236}">
                <a16:creationId xmlns:a16="http://schemas.microsoft.com/office/drawing/2014/main" id="{DA136CB0-4ED9-43FA-81D5-6D3225795A7D}"/>
              </a:ext>
              <a:ext uri="{C183D7F6-B498-43B3-948B-1728B52AA6E4}">
                <adec:decorative xmlns:adec="http://schemas.microsoft.com/office/drawing/2017/decorative" val="1"/>
              </a:ext>
            </a:extLst>
          </p:cNvPr>
          <p:cNvSpPr/>
          <p:nvPr/>
        </p:nvSpPr>
        <p:spPr>
          <a:xfrm>
            <a:off x="7608537" y="5040343"/>
            <a:ext cx="2885950"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6">
            <a:extLst>
              <a:ext uri="{FF2B5EF4-FFF2-40B4-BE49-F238E27FC236}">
                <a16:creationId xmlns:a16="http://schemas.microsoft.com/office/drawing/2014/main" id="{EB3ABBE3-7408-8249-6D41-9CC788F732E1}"/>
              </a:ext>
            </a:extLst>
          </p:cNvPr>
          <p:cNvSpPr>
            <a:spLocks noGrp="1"/>
          </p:cNvSpPr>
          <p:nvPr>
            <p:ph type="ftr" sz="quarter" idx="10"/>
          </p:nvPr>
        </p:nvSpPr>
        <p:spPr>
          <a:xfrm>
            <a:off x="139700" y="6337319"/>
            <a:ext cx="12052300" cy="457180"/>
          </a:xfrm>
        </p:spPr>
        <p:txBody>
          <a:bodyPr/>
          <a:lstStyle/>
          <a:p>
            <a:r>
              <a:rPr lang="en-US" dirty="0"/>
              <a:t>Eng. Ola Elsheikh </a:t>
            </a:r>
            <a:r>
              <a:rPr lang="ar-EG" dirty="0"/>
              <a:t> </a:t>
            </a:r>
            <a:r>
              <a:rPr lang="en-US" dirty="0"/>
              <a:t>                                                                                                                                                                          </a:t>
            </a:r>
            <a:r>
              <a:rPr lang="ar-EG" dirty="0"/>
              <a:t>                                                                                                                      </a:t>
            </a:r>
            <a:r>
              <a:rPr lang="en-US" dirty="0"/>
              <a:t>Governance &amp; Digital Transformation Ambassadors Program </a:t>
            </a:r>
          </a:p>
          <a:p>
            <a:endParaRPr lang="en-US" dirty="0"/>
          </a:p>
        </p:txBody>
      </p:sp>
    </p:spTree>
    <p:extLst>
      <p:ext uri="{BB962C8B-B14F-4D97-AF65-F5344CB8AC3E}">
        <p14:creationId xmlns:p14="http://schemas.microsoft.com/office/powerpoint/2010/main" val="850593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0" presetClass="path" presetSubtype="0" accel="50000" decel="50000" fill="hold" grpId="0" nodeType="clickEffect">
                                  <p:stCondLst>
                                    <p:cond delay="0"/>
                                  </p:stCondLst>
                                  <p:childTnLst>
                                    <p:animMotion origin="layout" path="M -0.25 -0.25 L -0.125 -0.25 C -0.06901 -0.25 -1.25E-6 -0.18102 -1.25E-6 -0.125 L -1.25E-6 -3.33333E-6 " pathEditMode="relative" rAng="0" ptsTypes="AAAA">
                                      <p:cBhvr>
                                        <p:cTn id="13" dur="1250" fill="hold"/>
                                        <p:tgtEl>
                                          <p:spTgt spid="3"/>
                                        </p:tgtEl>
                                        <p:attrNameLst>
                                          <p:attrName>ppt_x</p:attrName>
                                          <p:attrName>ppt_y</p:attrName>
                                        </p:attrNameLst>
                                      </p:cBhvr>
                                      <p:rCtr x="12500" y="12500"/>
                                    </p:animMotion>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500" tmFilter="0, 0; .2, .5; .8, .5; 1, 0"/>
                                        <p:tgtEl>
                                          <p:spTgt spid="4">
                                            <p:txEl>
                                              <p:pRg st="0" end="0"/>
                                            </p:txEl>
                                          </p:spTgt>
                                        </p:tgtEl>
                                      </p:cBhvr>
                                    </p:animEffect>
                                    <p:animScale>
                                      <p:cBhvr>
                                        <p:cTn id="18" dur="250" autoRev="1" fill="hold"/>
                                        <p:tgtEl>
                                          <p:spTgt spid="4">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8" name="Picture Placeholder 27">
            <a:extLst>
              <a:ext uri="{FF2B5EF4-FFF2-40B4-BE49-F238E27FC236}">
                <a16:creationId xmlns:a16="http://schemas.microsoft.com/office/drawing/2014/main" id="{86D7D4AC-BE7B-45B9-AF4A-E2AF1B6C796D}"/>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256"/>
          <a:stretch>
            <a:fillRect/>
          </a:stretch>
        </p:blipFill>
        <p:spPr>
          <a:xfrm>
            <a:off x="1" y="-252919"/>
            <a:ext cx="12192000" cy="7295745"/>
          </a:xfrm>
        </p:spPr>
      </p:pic>
      <p:sp>
        <p:nvSpPr>
          <p:cNvPr id="4" name="Text Placeholder 3">
            <a:extLst>
              <a:ext uri="{FF2B5EF4-FFF2-40B4-BE49-F238E27FC236}">
                <a16:creationId xmlns:a16="http://schemas.microsoft.com/office/drawing/2014/main" id="{9AF7E39F-041F-4A45-A1CF-F8C269887D5A}"/>
              </a:ext>
            </a:extLst>
          </p:cNvPr>
          <p:cNvSpPr>
            <a:spLocks noGrp="1"/>
          </p:cNvSpPr>
          <p:nvPr>
            <p:ph type="body" sz="quarter" idx="13"/>
          </p:nvPr>
        </p:nvSpPr>
        <p:spPr>
          <a:xfrm>
            <a:off x="288236" y="576470"/>
            <a:ext cx="7614106" cy="4755926"/>
          </a:xfrm>
          <a:gradFill>
            <a:gsLst>
              <a:gs pos="0">
                <a:schemeClr val="tx2"/>
              </a:gs>
              <a:gs pos="100000">
                <a:schemeClr val="accent2"/>
              </a:gs>
            </a:gsLst>
            <a:lin ang="14400000" scaled="0"/>
          </a:gradFill>
        </p:spPr>
        <p:txBody>
          <a:bodyPr/>
          <a:lstStyle/>
          <a:p>
            <a:r>
              <a:rPr lang="en-US" dirty="0"/>
              <a:t>h</a:t>
            </a:r>
          </a:p>
        </p:txBody>
      </p:sp>
      <p:sp>
        <p:nvSpPr>
          <p:cNvPr id="3" name="Title 2">
            <a:extLst>
              <a:ext uri="{FF2B5EF4-FFF2-40B4-BE49-F238E27FC236}">
                <a16:creationId xmlns:a16="http://schemas.microsoft.com/office/drawing/2014/main" id="{E9BE4A06-2673-41EF-AF84-96B0EDEC0F01}"/>
              </a:ext>
            </a:extLst>
          </p:cNvPr>
          <p:cNvSpPr>
            <a:spLocks noGrp="1"/>
          </p:cNvSpPr>
          <p:nvPr>
            <p:ph type="title"/>
          </p:nvPr>
        </p:nvSpPr>
        <p:spPr>
          <a:xfrm>
            <a:off x="1887590" y="1062458"/>
            <a:ext cx="4585966" cy="1008000"/>
          </a:xfrm>
        </p:spPr>
        <p:txBody>
          <a:bodyPr/>
          <a:lstStyle/>
          <a:p>
            <a:r>
              <a:rPr lang="en-US" dirty="0"/>
              <a:t>Project Overview</a:t>
            </a:r>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a:off x="1694046" y="2149089"/>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1059828" y="1225493"/>
            <a:ext cx="362015" cy="584795"/>
            <a:chOff x="1684741" y="3186732"/>
            <a:chExt cx="530027" cy="856197"/>
          </a:xfrm>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1133586" y="5312551"/>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Slide Number Placeholder 51">
            <a:extLst>
              <a:ext uri="{FF2B5EF4-FFF2-40B4-BE49-F238E27FC236}">
                <a16:creationId xmlns:a16="http://schemas.microsoft.com/office/drawing/2014/main" id="{947A81F6-261F-44F4-B660-7BD323AE2991}"/>
              </a:ext>
            </a:extLst>
          </p:cNvPr>
          <p:cNvSpPr>
            <a:spLocks noGrp="1"/>
          </p:cNvSpPr>
          <p:nvPr>
            <p:ph type="sldNum" sz="quarter" idx="11"/>
          </p:nvPr>
        </p:nvSpPr>
        <p:spPr/>
        <p:txBody>
          <a:bodyPr/>
          <a:lstStyle/>
          <a:p>
            <a:fld id="{EECC7194-A4D0-457B-9D3E-53681723AFF7}" type="slidenum">
              <a:rPr lang="en-US" smtClean="0"/>
              <a:pPr/>
              <a:t>2</a:t>
            </a:fld>
            <a:endParaRPr lang="en-US" dirty="0"/>
          </a:p>
        </p:txBody>
      </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787627" y="1062458"/>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Rectangle 5">
            <a:extLst>
              <a:ext uri="{FF2B5EF4-FFF2-40B4-BE49-F238E27FC236}">
                <a16:creationId xmlns:a16="http://schemas.microsoft.com/office/drawing/2014/main" id="{4C099816-D871-CE62-3E89-C9F573F44AD4}"/>
              </a:ext>
            </a:extLst>
          </p:cNvPr>
          <p:cNvSpPr/>
          <p:nvPr/>
        </p:nvSpPr>
        <p:spPr>
          <a:xfrm>
            <a:off x="3280105" y="2454865"/>
            <a:ext cx="2030933" cy="2254046"/>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r>
              <a:rPr lang="en-US" b="1" dirty="0">
                <a:solidFill>
                  <a:schemeClr val="accent1">
                    <a:lumMod val="60000"/>
                    <a:lumOff val="40000"/>
                  </a:schemeClr>
                </a:solidFill>
                <a:effectLst>
                  <a:outerShdw blurRad="38100" dist="38100" dir="2700000" algn="tl">
                    <a:srgbClr val="000000">
                      <a:alpha val="43137"/>
                    </a:srgbClr>
                  </a:outerShdw>
                </a:effectLst>
              </a:rPr>
              <a:t>Focus Areas</a:t>
            </a:r>
          </a:p>
          <a:p>
            <a:pPr marL="285750" indent="-285750">
              <a:buFont typeface="Arial" panose="020B0604020202020204" pitchFamily="34" charset="0"/>
              <a:buChar char="•"/>
            </a:pPr>
            <a:r>
              <a:rPr lang="en-US" dirty="0"/>
              <a:t>Governance Effectiveness </a:t>
            </a:r>
          </a:p>
          <a:p>
            <a:pPr marL="285750" indent="-285750">
              <a:buFont typeface="Arial" panose="020B0604020202020204" pitchFamily="34" charset="0"/>
              <a:buChar char="•"/>
            </a:pPr>
            <a:r>
              <a:rPr lang="en-US" dirty="0"/>
              <a:t>Risk Management </a:t>
            </a:r>
          </a:p>
          <a:p>
            <a:pPr marL="285750" indent="-285750">
              <a:buFont typeface="Arial" panose="020B0604020202020204" pitchFamily="34" charset="0"/>
              <a:buChar char="•"/>
            </a:pPr>
            <a:r>
              <a:rPr lang="en-US" dirty="0"/>
              <a:t>Digital Transformation</a:t>
            </a:r>
          </a:p>
          <a:p>
            <a:pPr algn="ctr"/>
            <a:endParaRPr lang="en-US" dirty="0"/>
          </a:p>
        </p:txBody>
      </p:sp>
      <p:sp>
        <p:nvSpPr>
          <p:cNvPr id="7" name="Rectangle 6">
            <a:extLst>
              <a:ext uri="{FF2B5EF4-FFF2-40B4-BE49-F238E27FC236}">
                <a16:creationId xmlns:a16="http://schemas.microsoft.com/office/drawing/2014/main" id="{A71F5419-76AC-2D4A-F464-AC39CBD4F5B2}"/>
              </a:ext>
            </a:extLst>
          </p:cNvPr>
          <p:cNvSpPr/>
          <p:nvPr/>
        </p:nvSpPr>
        <p:spPr>
          <a:xfrm>
            <a:off x="5516069" y="2477599"/>
            <a:ext cx="2030933" cy="2264294"/>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endParaRPr lang="ar-EG" b="1" dirty="0">
              <a:solidFill>
                <a:schemeClr val="accent1">
                  <a:lumMod val="60000"/>
                  <a:lumOff val="40000"/>
                </a:schemeClr>
              </a:solidFill>
            </a:endParaRPr>
          </a:p>
          <a:p>
            <a:r>
              <a:rPr lang="en-US" b="1" dirty="0">
                <a:solidFill>
                  <a:schemeClr val="accent1">
                    <a:lumMod val="60000"/>
                    <a:lumOff val="40000"/>
                  </a:schemeClr>
                </a:solidFill>
              </a:rPr>
              <a:t>Outcome</a:t>
            </a:r>
          </a:p>
          <a:p>
            <a:r>
              <a:rPr lang="en-US" dirty="0"/>
              <a:t>Strategic recommendations to enhance governance, sustainability, and long-term growth</a:t>
            </a:r>
          </a:p>
          <a:p>
            <a:endParaRPr lang="en-US" dirty="0"/>
          </a:p>
        </p:txBody>
      </p:sp>
      <p:sp>
        <p:nvSpPr>
          <p:cNvPr id="13" name="Rectangle 12">
            <a:extLst>
              <a:ext uri="{FF2B5EF4-FFF2-40B4-BE49-F238E27FC236}">
                <a16:creationId xmlns:a16="http://schemas.microsoft.com/office/drawing/2014/main" id="{1F51D5D0-4EFB-DD0F-B87E-E2C82DD52A87}"/>
              </a:ext>
            </a:extLst>
          </p:cNvPr>
          <p:cNvSpPr/>
          <p:nvPr/>
        </p:nvSpPr>
        <p:spPr>
          <a:xfrm>
            <a:off x="866284" y="2454865"/>
            <a:ext cx="2226339" cy="2254046"/>
          </a:xfrm>
          <a:prstGeom prst="rect">
            <a:avLst/>
          </a:prstGeom>
          <a:ln/>
        </p:spPr>
        <p:style>
          <a:lnRef idx="0">
            <a:schemeClr val="accent2"/>
          </a:lnRef>
          <a:fillRef idx="3">
            <a:schemeClr val="accent2"/>
          </a:fillRef>
          <a:effectRef idx="3">
            <a:schemeClr val="accent2"/>
          </a:effectRef>
          <a:fontRef idx="minor">
            <a:schemeClr val="lt1"/>
          </a:fontRef>
        </p:style>
        <p:txBody>
          <a:bodyPr rtlCol="0" anchor="ctr"/>
          <a:lstStyle/>
          <a:p>
            <a:endParaRPr lang="ar-EG" b="1" dirty="0">
              <a:solidFill>
                <a:schemeClr val="accent1">
                  <a:lumMod val="60000"/>
                  <a:lumOff val="40000"/>
                </a:schemeClr>
              </a:solidFill>
              <a:effectLst>
                <a:outerShdw blurRad="38100" dist="38100" dir="2700000" algn="tl">
                  <a:srgbClr val="000000">
                    <a:alpha val="43137"/>
                  </a:srgbClr>
                </a:outerShdw>
              </a:effectLst>
            </a:endParaRPr>
          </a:p>
          <a:p>
            <a:r>
              <a:rPr lang="en-US" b="1" dirty="0">
                <a:solidFill>
                  <a:schemeClr val="accent1">
                    <a:lumMod val="60000"/>
                    <a:lumOff val="40000"/>
                  </a:schemeClr>
                </a:solidFill>
                <a:effectLst>
                  <a:outerShdw blurRad="38100" dist="38100" dir="2700000" algn="tl">
                    <a:srgbClr val="000000">
                      <a:alpha val="43137"/>
                    </a:srgbClr>
                  </a:outerShdw>
                </a:effectLst>
              </a:rPr>
              <a:t>Objective</a:t>
            </a:r>
          </a:p>
          <a:p>
            <a:r>
              <a:rPr lang="en-US" dirty="0"/>
              <a:t>Assess the governance maturity level of Telecom Egypt and evaluate its institutional effectiveness.</a:t>
            </a:r>
          </a:p>
          <a:p>
            <a:pPr algn="ctr"/>
            <a:endParaRPr lang="en-US" dirty="0"/>
          </a:p>
        </p:txBody>
      </p:sp>
      <p:graphicFrame>
        <p:nvGraphicFramePr>
          <p:cNvPr id="18" name="Diagram 17">
            <a:extLst>
              <a:ext uri="{FF2B5EF4-FFF2-40B4-BE49-F238E27FC236}">
                <a16:creationId xmlns:a16="http://schemas.microsoft.com/office/drawing/2014/main" id="{8B230C4B-262D-1454-4071-C1BCDD0C6B89}"/>
              </a:ext>
            </a:extLst>
          </p:cNvPr>
          <p:cNvGraphicFramePr/>
          <p:nvPr>
            <p:extLst>
              <p:ext uri="{D42A27DB-BD31-4B8C-83A1-F6EECF244321}">
                <p14:modId xmlns:p14="http://schemas.microsoft.com/office/powerpoint/2010/main" val="3818373310"/>
              </p:ext>
            </p:extLst>
          </p:nvPr>
        </p:nvGraphicFramePr>
        <p:xfrm>
          <a:off x="2069233" y="2403925"/>
          <a:ext cx="884486" cy="5856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0" name="Diagram 19">
            <a:extLst>
              <a:ext uri="{FF2B5EF4-FFF2-40B4-BE49-F238E27FC236}">
                <a16:creationId xmlns:a16="http://schemas.microsoft.com/office/drawing/2014/main" id="{732F889C-9C5A-F549-416A-7E1D28BD35DC}"/>
              </a:ext>
            </a:extLst>
          </p:cNvPr>
          <p:cNvGraphicFramePr/>
          <p:nvPr>
            <p:extLst>
              <p:ext uri="{D42A27DB-BD31-4B8C-83A1-F6EECF244321}">
                <p14:modId xmlns:p14="http://schemas.microsoft.com/office/powerpoint/2010/main" val="3582804799"/>
              </p:ext>
            </p:extLst>
          </p:nvPr>
        </p:nvGraphicFramePr>
        <p:xfrm>
          <a:off x="6437944" y="2556446"/>
          <a:ext cx="1022567" cy="62616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21" name="Diagram 20">
            <a:extLst>
              <a:ext uri="{FF2B5EF4-FFF2-40B4-BE49-F238E27FC236}">
                <a16:creationId xmlns:a16="http://schemas.microsoft.com/office/drawing/2014/main" id="{EE631297-2A25-25B1-808C-26B3232359BD}"/>
              </a:ext>
            </a:extLst>
          </p:cNvPr>
          <p:cNvGraphicFramePr/>
          <p:nvPr>
            <p:extLst>
              <p:ext uri="{D42A27DB-BD31-4B8C-83A1-F6EECF244321}">
                <p14:modId xmlns:p14="http://schemas.microsoft.com/office/powerpoint/2010/main" val="468076200"/>
              </p:ext>
            </p:extLst>
          </p:nvPr>
        </p:nvGraphicFramePr>
        <p:xfrm>
          <a:off x="4711701" y="2403925"/>
          <a:ext cx="748286" cy="489029"/>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23" name="Footer Placeholder 6">
            <a:extLst>
              <a:ext uri="{FF2B5EF4-FFF2-40B4-BE49-F238E27FC236}">
                <a16:creationId xmlns:a16="http://schemas.microsoft.com/office/drawing/2014/main" id="{1738C32D-3F60-A956-7183-940D7BE428BB}"/>
              </a:ext>
            </a:extLst>
          </p:cNvPr>
          <p:cNvSpPr>
            <a:spLocks noGrp="1"/>
          </p:cNvSpPr>
          <p:nvPr>
            <p:ph type="ftr" sz="quarter" idx="10"/>
          </p:nvPr>
        </p:nvSpPr>
        <p:spPr>
          <a:xfrm>
            <a:off x="208721" y="6213956"/>
            <a:ext cx="11983277" cy="725993"/>
          </a:xfrm>
        </p:spPr>
        <p:txBody>
          <a:bodyPr/>
          <a:lstStyle/>
          <a:p>
            <a:r>
              <a:rPr lang="en-US" dirty="0"/>
              <a:t>Eng. Ola Elsheikh </a:t>
            </a:r>
            <a:r>
              <a:rPr lang="ar-EG" dirty="0"/>
              <a:t>      </a:t>
            </a:r>
            <a:r>
              <a:rPr lang="en-US" dirty="0"/>
              <a:t>                                                                                                                                                                     </a:t>
            </a:r>
            <a:r>
              <a:rPr lang="ar-EG" dirty="0"/>
              <a:t>                                                                                                                 </a:t>
            </a:r>
            <a:r>
              <a:rPr lang="en-US" dirty="0"/>
              <a:t>Governance &amp; Digital Transformation Ambassadors Program </a:t>
            </a:r>
          </a:p>
          <a:p>
            <a:endParaRPr lang="en-US" dirty="0"/>
          </a:p>
        </p:txBody>
      </p:sp>
    </p:spTree>
    <p:extLst>
      <p:ext uri="{BB962C8B-B14F-4D97-AF65-F5344CB8AC3E}">
        <p14:creationId xmlns:p14="http://schemas.microsoft.com/office/powerpoint/2010/main" val="304320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arn(inVertical)">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6"/>
                                        </p:tgtEl>
                                        <p:attrNameLst>
                                          <p:attrName>style.visibility</p:attrName>
                                        </p:attrNameLst>
                                      </p:cBhvr>
                                      <p:to>
                                        <p:strVal val="visible"/>
                                      </p:to>
                                    </p:set>
                                    <p:anim calcmode="lin" valueType="num">
                                      <p:cBhvr additive="base">
                                        <p:cTn id="28" dur="500" fill="hold"/>
                                        <p:tgtEl>
                                          <p:spTgt spid="36"/>
                                        </p:tgtEl>
                                        <p:attrNameLst>
                                          <p:attrName>ppt_x</p:attrName>
                                        </p:attrNameLst>
                                      </p:cBhvr>
                                      <p:tavLst>
                                        <p:tav tm="0">
                                          <p:val>
                                            <p:strVal val="#ppt_x"/>
                                          </p:val>
                                        </p:tav>
                                        <p:tav tm="100000">
                                          <p:val>
                                            <p:strVal val="#ppt_x"/>
                                          </p:val>
                                        </p:tav>
                                      </p:tavLst>
                                    </p:anim>
                                    <p:anim calcmode="lin" valueType="num">
                                      <p:cBhvr additive="base">
                                        <p:cTn id="29"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a:stretch/>
        </p:blipFill>
        <p:spPr>
          <a:xfrm>
            <a:off x="179999" y="17203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179999" y="17203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510455" y="355910"/>
            <a:ext cx="9604506" cy="1568849"/>
          </a:xfrm>
        </p:spPr>
        <p:txBody>
          <a:bodyPr/>
          <a:lstStyle/>
          <a:p>
            <a:r>
              <a:rPr lang="en-US" sz="4000" dirty="0"/>
              <a:t>Why Telecom Egypt?</a:t>
            </a:r>
            <a:br>
              <a:rPr lang="en-US" dirty="0"/>
            </a:br>
            <a:br>
              <a:rPr lang="en-US" dirty="0"/>
            </a:br>
            <a:br>
              <a:rPr lang="en-US" dirty="0"/>
            </a:br>
            <a:endParaRPr lang="en-US" dirty="0"/>
          </a:p>
        </p:txBody>
      </p:sp>
      <p:sp>
        <p:nvSpPr>
          <p:cNvPr id="20" name="Footer Placeholder 19">
            <a:extLst>
              <a:ext uri="{FF2B5EF4-FFF2-40B4-BE49-F238E27FC236}">
                <a16:creationId xmlns:a16="http://schemas.microsoft.com/office/drawing/2014/main" id="{B898379A-942F-47A5-80B4-B1C6F09FCB41}"/>
              </a:ext>
            </a:extLst>
          </p:cNvPr>
          <p:cNvSpPr>
            <a:spLocks noGrp="1"/>
          </p:cNvSpPr>
          <p:nvPr>
            <p:ph type="ftr" sz="quarter" idx="10"/>
          </p:nvPr>
        </p:nvSpPr>
        <p:spPr>
          <a:xfrm>
            <a:off x="500223" y="1119442"/>
            <a:ext cx="7347776" cy="707626"/>
          </a:xfrm>
        </p:spPr>
        <p:txBody>
          <a:bodyPr/>
          <a:lstStyle/>
          <a:p>
            <a:r>
              <a:rPr lang="en-US" sz="1800"/>
              <a:t>Egypt’s first integrated telecom operator and a key enabler of Digital Egypt Vision 2030.</a:t>
            </a:r>
          </a:p>
          <a:p>
            <a:endParaRPr lang="en-US" dirty="0"/>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3</a:t>
            </a:fld>
            <a:endParaRPr lang="en-US" dirty="0"/>
          </a:p>
        </p:txBody>
      </p:sp>
      <p:sp>
        <p:nvSpPr>
          <p:cNvPr id="5" name="Text Placeholder 4">
            <a:extLst>
              <a:ext uri="{FF2B5EF4-FFF2-40B4-BE49-F238E27FC236}">
                <a16:creationId xmlns:a16="http://schemas.microsoft.com/office/drawing/2014/main" id="{E2B821A5-5262-4D44-AFEB-D049F229C856}"/>
              </a:ext>
            </a:extLst>
          </p:cNvPr>
          <p:cNvSpPr>
            <a:spLocks noGrp="1"/>
          </p:cNvSpPr>
          <p:nvPr>
            <p:ph type="body" sz="quarter" idx="13"/>
          </p:nvPr>
        </p:nvSpPr>
        <p:spPr>
          <a:xfrm>
            <a:off x="457201" y="3097188"/>
            <a:ext cx="2226902" cy="434163"/>
          </a:xfrm>
        </p:spPr>
        <p:txBody>
          <a:bodyPr/>
          <a:lstStyle/>
          <a:p>
            <a:r>
              <a:rPr lang="en-US" dirty="0"/>
              <a:t>Established</a:t>
            </a:r>
          </a:p>
        </p:txBody>
      </p:sp>
      <p:sp>
        <p:nvSpPr>
          <p:cNvPr id="6" name="Text Placeholder 5">
            <a:extLst>
              <a:ext uri="{FF2B5EF4-FFF2-40B4-BE49-F238E27FC236}">
                <a16:creationId xmlns:a16="http://schemas.microsoft.com/office/drawing/2014/main" id="{A327E535-262E-40B8-A9E1-0C08FFD80900}"/>
              </a:ext>
            </a:extLst>
          </p:cNvPr>
          <p:cNvSpPr>
            <a:spLocks noGrp="1"/>
          </p:cNvSpPr>
          <p:nvPr>
            <p:ph type="body" sz="quarter" idx="14"/>
          </p:nvPr>
        </p:nvSpPr>
        <p:spPr>
          <a:xfrm>
            <a:off x="510455" y="3695377"/>
            <a:ext cx="1999889" cy="846137"/>
          </a:xfrm>
        </p:spPr>
        <p:txBody>
          <a:bodyPr/>
          <a:lstStyle/>
          <a:p>
            <a:r>
              <a:rPr lang="en-US" dirty="0"/>
              <a:t>1854</a:t>
            </a:r>
          </a:p>
        </p:txBody>
      </p:sp>
      <p:sp>
        <p:nvSpPr>
          <p:cNvPr id="7" name="Text Placeholder 6">
            <a:extLst>
              <a:ext uri="{FF2B5EF4-FFF2-40B4-BE49-F238E27FC236}">
                <a16:creationId xmlns:a16="http://schemas.microsoft.com/office/drawing/2014/main" id="{030E095F-965E-476E-B681-EE615BECB08B}"/>
              </a:ext>
            </a:extLst>
          </p:cNvPr>
          <p:cNvSpPr>
            <a:spLocks noGrp="1"/>
          </p:cNvSpPr>
          <p:nvPr>
            <p:ph type="body" sz="quarter" idx="15"/>
          </p:nvPr>
        </p:nvSpPr>
        <p:spPr>
          <a:xfrm>
            <a:off x="2971013" y="3118184"/>
            <a:ext cx="2021495" cy="414604"/>
          </a:xfrm>
        </p:spPr>
        <p:txBody>
          <a:bodyPr/>
          <a:lstStyle/>
          <a:p>
            <a:r>
              <a:rPr lang="en-US" dirty="0"/>
              <a:t>Employees</a:t>
            </a:r>
          </a:p>
        </p:txBody>
      </p:sp>
      <p:sp>
        <p:nvSpPr>
          <p:cNvPr id="8" name="Text Placeholder 7">
            <a:extLst>
              <a:ext uri="{FF2B5EF4-FFF2-40B4-BE49-F238E27FC236}">
                <a16:creationId xmlns:a16="http://schemas.microsoft.com/office/drawing/2014/main" id="{AA5735F7-BDC6-4ACD-B0DE-4AB63D30BA52}"/>
              </a:ext>
            </a:extLst>
          </p:cNvPr>
          <p:cNvSpPr>
            <a:spLocks noGrp="1"/>
          </p:cNvSpPr>
          <p:nvPr>
            <p:ph type="body" sz="quarter" idx="16"/>
          </p:nvPr>
        </p:nvSpPr>
        <p:spPr>
          <a:xfrm>
            <a:off x="2970799" y="3695377"/>
            <a:ext cx="1652801" cy="846137"/>
          </a:xfrm>
        </p:spPr>
        <p:txBody>
          <a:bodyPr/>
          <a:lstStyle/>
          <a:p>
            <a:r>
              <a:rPr lang="en-US" dirty="0"/>
              <a:t>50,000+</a:t>
            </a:r>
          </a:p>
        </p:txBody>
      </p:sp>
      <p:sp>
        <p:nvSpPr>
          <p:cNvPr id="9" name="Text Placeholder 8">
            <a:extLst>
              <a:ext uri="{FF2B5EF4-FFF2-40B4-BE49-F238E27FC236}">
                <a16:creationId xmlns:a16="http://schemas.microsoft.com/office/drawing/2014/main" id="{F405F6BC-5682-4AA1-9F61-DDF021E685B0}"/>
              </a:ext>
            </a:extLst>
          </p:cNvPr>
          <p:cNvSpPr>
            <a:spLocks noGrp="1"/>
          </p:cNvSpPr>
          <p:nvPr>
            <p:ph type="body" sz="quarter" idx="17"/>
          </p:nvPr>
        </p:nvSpPr>
        <p:spPr>
          <a:xfrm>
            <a:off x="5269707" y="3131472"/>
            <a:ext cx="2172493" cy="401316"/>
          </a:xfrm>
        </p:spPr>
        <p:txBody>
          <a:bodyPr/>
          <a:lstStyle/>
          <a:p>
            <a:r>
              <a:rPr lang="en-US" dirty="0"/>
              <a:t>Subscribers</a:t>
            </a:r>
          </a:p>
        </p:txBody>
      </p:sp>
      <p:sp>
        <p:nvSpPr>
          <p:cNvPr id="10" name="Text Placeholder 9">
            <a:extLst>
              <a:ext uri="{FF2B5EF4-FFF2-40B4-BE49-F238E27FC236}">
                <a16:creationId xmlns:a16="http://schemas.microsoft.com/office/drawing/2014/main" id="{37BC20BC-85E6-48CD-B755-5D4149953C3B}"/>
              </a:ext>
            </a:extLst>
          </p:cNvPr>
          <p:cNvSpPr>
            <a:spLocks noGrp="1"/>
          </p:cNvSpPr>
          <p:nvPr>
            <p:ph type="body" sz="quarter" idx="18"/>
          </p:nvPr>
        </p:nvSpPr>
        <p:spPr>
          <a:xfrm>
            <a:off x="5269600" y="3695377"/>
            <a:ext cx="1652801" cy="846137"/>
          </a:xfrm>
        </p:spPr>
        <p:txBody>
          <a:bodyPr/>
          <a:lstStyle/>
          <a:p>
            <a:r>
              <a:rPr lang="en-US" dirty="0"/>
              <a:t>18M+</a:t>
            </a:r>
          </a:p>
        </p:txBody>
      </p:sp>
      <p:sp>
        <p:nvSpPr>
          <p:cNvPr id="11" name="Text Placeholder 10">
            <a:extLst>
              <a:ext uri="{FF2B5EF4-FFF2-40B4-BE49-F238E27FC236}">
                <a16:creationId xmlns:a16="http://schemas.microsoft.com/office/drawing/2014/main" id="{DDFBC7A3-AAE6-4502-9D44-F253ED1E8F97}"/>
              </a:ext>
            </a:extLst>
          </p:cNvPr>
          <p:cNvSpPr>
            <a:spLocks noGrp="1"/>
          </p:cNvSpPr>
          <p:nvPr>
            <p:ph type="body" sz="quarter" idx="19"/>
          </p:nvPr>
        </p:nvSpPr>
        <p:spPr>
          <a:xfrm>
            <a:off x="7544613" y="3097188"/>
            <a:ext cx="2113041" cy="434163"/>
          </a:xfrm>
        </p:spPr>
        <p:txBody>
          <a:bodyPr/>
          <a:lstStyle/>
          <a:p>
            <a:r>
              <a:rPr lang="en-US" dirty="0"/>
              <a:t>Services</a:t>
            </a:r>
          </a:p>
        </p:txBody>
      </p:sp>
      <p:sp>
        <p:nvSpPr>
          <p:cNvPr id="12" name="Text Placeholder 11">
            <a:extLst>
              <a:ext uri="{FF2B5EF4-FFF2-40B4-BE49-F238E27FC236}">
                <a16:creationId xmlns:a16="http://schemas.microsoft.com/office/drawing/2014/main" id="{DC6EAD81-841A-483E-9B44-512A1470E471}"/>
              </a:ext>
            </a:extLst>
          </p:cNvPr>
          <p:cNvSpPr>
            <a:spLocks noGrp="1"/>
          </p:cNvSpPr>
          <p:nvPr>
            <p:ph type="body" sz="quarter" idx="20"/>
          </p:nvPr>
        </p:nvSpPr>
        <p:spPr>
          <a:xfrm>
            <a:off x="7783536" y="3589867"/>
            <a:ext cx="1596914" cy="764156"/>
          </a:xfrm>
        </p:spPr>
        <p:txBody>
          <a:bodyPr/>
          <a:lstStyle/>
          <a:p>
            <a:r>
              <a:rPr lang="en-US" dirty="0"/>
              <a:t>• Fixed  • Mobile</a:t>
            </a:r>
          </a:p>
          <a:p>
            <a:r>
              <a:rPr lang="en-US" dirty="0"/>
              <a:t> • Internet • Cloud</a:t>
            </a:r>
          </a:p>
        </p:txBody>
      </p:sp>
      <p:sp>
        <p:nvSpPr>
          <p:cNvPr id="13" name="Text Placeholder 12">
            <a:extLst>
              <a:ext uri="{FF2B5EF4-FFF2-40B4-BE49-F238E27FC236}">
                <a16:creationId xmlns:a16="http://schemas.microsoft.com/office/drawing/2014/main" id="{E10C0A43-6ED0-45F1-9DF9-5F2F32278B15}"/>
              </a:ext>
            </a:extLst>
          </p:cNvPr>
          <p:cNvSpPr>
            <a:spLocks noGrp="1"/>
          </p:cNvSpPr>
          <p:nvPr>
            <p:ph type="body" sz="quarter" idx="21"/>
          </p:nvPr>
        </p:nvSpPr>
        <p:spPr>
          <a:xfrm>
            <a:off x="9831412" y="3035307"/>
            <a:ext cx="1903388" cy="497481"/>
          </a:xfrm>
        </p:spPr>
        <p:txBody>
          <a:bodyPr/>
          <a:lstStyle/>
          <a:p>
            <a:r>
              <a:rPr lang="en-US" dirty="0"/>
              <a:t>2026 Revenue</a:t>
            </a:r>
          </a:p>
        </p:txBody>
      </p:sp>
      <p:sp>
        <p:nvSpPr>
          <p:cNvPr id="14" name="Text Placeholder 13">
            <a:extLst>
              <a:ext uri="{FF2B5EF4-FFF2-40B4-BE49-F238E27FC236}">
                <a16:creationId xmlns:a16="http://schemas.microsoft.com/office/drawing/2014/main" id="{978028AA-13B5-4B26-947A-231084A75CD1}"/>
              </a:ext>
            </a:extLst>
          </p:cNvPr>
          <p:cNvSpPr>
            <a:spLocks noGrp="1"/>
          </p:cNvSpPr>
          <p:nvPr>
            <p:ph type="body" sz="quarter" idx="22"/>
          </p:nvPr>
        </p:nvSpPr>
        <p:spPr>
          <a:xfrm>
            <a:off x="9657654" y="3695377"/>
            <a:ext cx="1999889" cy="846137"/>
          </a:xfrm>
        </p:spPr>
        <p:txBody>
          <a:bodyPr/>
          <a:lstStyle/>
          <a:p>
            <a:r>
              <a:rPr lang="en-US" dirty="0"/>
              <a:t>88 Bn EGP (Projected)</a:t>
            </a:r>
          </a:p>
        </p:txBody>
      </p:sp>
      <p:sp>
        <p:nvSpPr>
          <p:cNvPr id="15" name="Subtitle 14">
            <a:extLst>
              <a:ext uri="{FF2B5EF4-FFF2-40B4-BE49-F238E27FC236}">
                <a16:creationId xmlns:a16="http://schemas.microsoft.com/office/drawing/2014/main" id="{65657426-6073-47AB-BB7D-5ED2CAFD6BF2}"/>
              </a:ext>
            </a:extLst>
          </p:cNvPr>
          <p:cNvSpPr>
            <a:spLocks noGrp="1"/>
          </p:cNvSpPr>
          <p:nvPr>
            <p:ph type="subTitle" idx="1"/>
          </p:nvPr>
        </p:nvSpPr>
        <p:spPr>
          <a:xfrm>
            <a:off x="5101000" y="5137535"/>
            <a:ext cx="1990001" cy="620016"/>
          </a:xfrm>
        </p:spPr>
        <p:txBody>
          <a:bodyPr/>
          <a:lstStyle/>
          <a:p>
            <a:r>
              <a:rPr lang="en-US" dirty="0"/>
              <a:t>Success</a:t>
            </a:r>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616221" y="928151"/>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cxnSp>
        <p:nvCxnSpPr>
          <p:cNvPr id="54" name="Straight Connector 53">
            <a:extLst>
              <a:ext uri="{FF2B5EF4-FFF2-40B4-BE49-F238E27FC236}">
                <a16:creationId xmlns:a16="http://schemas.microsoft.com/office/drawing/2014/main" id="{CC6D3F76-4C60-4559-AE48-60D6FBDC4B83}"/>
              </a:ext>
              <a:ext uri="{C183D7F6-B498-43B3-948B-1728B52AA6E4}">
                <adec:decorative xmlns:adec="http://schemas.microsoft.com/office/drawing/2017/decorative" val="1"/>
              </a:ext>
            </a:extLst>
          </p:cNvPr>
          <p:cNvCxnSpPr>
            <a:cxnSpLocks/>
          </p:cNvCxnSpPr>
          <p:nvPr/>
        </p:nvCxnSpPr>
        <p:spPr>
          <a:xfrm flipV="1">
            <a:off x="37591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CA93ACF-485A-4938-9815-8D5DFE3128D2}"/>
              </a:ext>
              <a:ext uri="{C183D7F6-B498-43B3-948B-1728B52AA6E4}">
                <adec:decorative xmlns:adec="http://schemas.microsoft.com/office/drawing/2017/decorative" val="1"/>
              </a:ext>
            </a:extLst>
          </p:cNvPr>
          <p:cNvCxnSpPr>
            <a:cxnSpLocks/>
          </p:cNvCxnSpPr>
          <p:nvPr/>
        </p:nvCxnSpPr>
        <p:spPr>
          <a:xfrm flipV="1">
            <a:off x="6096000" y="4527746"/>
            <a:ext cx="1"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8070A33-7382-44AE-AC77-685B09986FA1}"/>
              </a:ext>
              <a:ext uri="{C183D7F6-B498-43B3-948B-1728B52AA6E4}">
                <adec:decorative xmlns:adec="http://schemas.microsoft.com/office/drawing/2017/decorative" val="1"/>
              </a:ext>
            </a:extLst>
          </p:cNvPr>
          <p:cNvCxnSpPr>
            <a:cxnSpLocks/>
          </p:cNvCxnSpPr>
          <p:nvPr/>
        </p:nvCxnSpPr>
        <p:spPr>
          <a:xfrm flipV="1">
            <a:off x="83327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79784603-2F8F-493A-894B-9ECFC35876FE}"/>
              </a:ext>
              <a:ext uri="{C183D7F6-B498-43B3-948B-1728B52AA6E4}">
                <adec:decorative xmlns:adec="http://schemas.microsoft.com/office/drawing/2017/decorative" val="1"/>
              </a:ext>
            </a:extLst>
          </p:cNvPr>
          <p:cNvSpPr/>
          <p:nvPr/>
        </p:nvSpPr>
        <p:spPr>
          <a:xfrm>
            <a:off x="5281478" y="5747713"/>
            <a:ext cx="162904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2" name="Connector: Elbow 61">
            <a:extLst>
              <a:ext uri="{FF2B5EF4-FFF2-40B4-BE49-F238E27FC236}">
                <a16:creationId xmlns:a16="http://schemas.microsoft.com/office/drawing/2014/main" id="{9A6C85E8-3D95-45FE-A577-C08E6E920D70}"/>
              </a:ext>
              <a:ext uri="{C183D7F6-B498-43B3-948B-1728B52AA6E4}">
                <adec:decorative xmlns:adec="http://schemas.microsoft.com/office/drawing/2017/decorative" val="1"/>
              </a:ext>
            </a:extLst>
          </p:cNvPr>
          <p:cNvCxnSpPr>
            <a:cxnSpLocks/>
            <a:stCxn id="6" idx="2"/>
            <a:endCxn id="15" idx="0"/>
          </p:cNvCxnSpPr>
          <p:nvPr/>
        </p:nvCxnSpPr>
        <p:spPr>
          <a:xfrm rot="16200000" flipH="1">
            <a:off x="3505190" y="2546723"/>
            <a:ext cx="596021" cy="4585601"/>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F1BB5F7E-073B-4BF0-8FA1-F724BA8DB3D0}"/>
              </a:ext>
              <a:ext uri="{C183D7F6-B498-43B3-948B-1728B52AA6E4}">
                <adec:decorative xmlns:adec="http://schemas.microsoft.com/office/drawing/2017/decorative" val="1"/>
              </a:ext>
            </a:extLst>
          </p:cNvPr>
          <p:cNvCxnSpPr>
            <a:cxnSpLocks/>
            <a:stCxn id="14" idx="2"/>
            <a:endCxn id="15" idx="0"/>
          </p:cNvCxnSpPr>
          <p:nvPr/>
        </p:nvCxnSpPr>
        <p:spPr>
          <a:xfrm rot="5400000">
            <a:off x="8078790" y="2558725"/>
            <a:ext cx="596021" cy="4561598"/>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E2935599-B9F0-4312-864E-F6E3EF1AAC8E}"/>
              </a:ext>
              <a:ext uri="{C183D7F6-B498-43B3-948B-1728B52AA6E4}">
                <adec:decorative xmlns:adec="http://schemas.microsoft.com/office/drawing/2017/decorative" val="1"/>
              </a:ext>
            </a:extLst>
          </p:cNvPr>
          <p:cNvGrpSpPr>
            <a:grpSpLocks noChangeAspect="1"/>
          </p:cNvGrpSpPr>
          <p:nvPr/>
        </p:nvGrpSpPr>
        <p:grpSpPr>
          <a:xfrm>
            <a:off x="3380336" y="2224959"/>
            <a:ext cx="896287" cy="745643"/>
            <a:chOff x="1824638" y="1733550"/>
            <a:chExt cx="1192959" cy="992451"/>
          </a:xfrm>
        </p:grpSpPr>
        <p:sp>
          <p:nvSpPr>
            <p:cNvPr id="31" name="Rectangle 30">
              <a:extLst>
                <a:ext uri="{FF2B5EF4-FFF2-40B4-BE49-F238E27FC236}">
                  <a16:creationId xmlns:a16="http://schemas.microsoft.com/office/drawing/2014/main" id="{56718F85-02C5-4814-847B-818C8CCE6A2E}"/>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6B5C2063-3BBD-48BC-BDD6-D5E9563B1934}"/>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1" name="TextBox 40">
            <a:extLst>
              <a:ext uri="{FF2B5EF4-FFF2-40B4-BE49-F238E27FC236}">
                <a16:creationId xmlns:a16="http://schemas.microsoft.com/office/drawing/2014/main" id="{79C2A31E-83E1-1D1C-317F-4F121C2FB7DA}"/>
              </a:ext>
            </a:extLst>
          </p:cNvPr>
          <p:cNvSpPr txBox="1"/>
          <p:nvPr/>
        </p:nvSpPr>
        <p:spPr>
          <a:xfrm>
            <a:off x="1041965" y="2051345"/>
            <a:ext cx="680597" cy="923330"/>
          </a:xfrm>
          <a:prstGeom prst="rect">
            <a:avLst/>
          </a:prstGeom>
          <a:noFill/>
        </p:spPr>
        <p:txBody>
          <a:bodyPr wrap="square">
            <a:spAutoFit/>
          </a:bodyPr>
          <a:lstStyle/>
          <a:p>
            <a:r>
              <a:rPr lang="en-US" sz="5400" dirty="0"/>
              <a:t>📅</a:t>
            </a:r>
          </a:p>
        </p:txBody>
      </p:sp>
      <p:sp>
        <p:nvSpPr>
          <p:cNvPr id="61" name="TextBox 60">
            <a:extLst>
              <a:ext uri="{FF2B5EF4-FFF2-40B4-BE49-F238E27FC236}">
                <a16:creationId xmlns:a16="http://schemas.microsoft.com/office/drawing/2014/main" id="{D2D088D6-E5C1-C6AA-02B2-341C771B8410}"/>
              </a:ext>
            </a:extLst>
          </p:cNvPr>
          <p:cNvSpPr txBox="1"/>
          <p:nvPr/>
        </p:nvSpPr>
        <p:spPr>
          <a:xfrm>
            <a:off x="3391048" y="2174172"/>
            <a:ext cx="559818" cy="923330"/>
          </a:xfrm>
          <a:prstGeom prst="rect">
            <a:avLst/>
          </a:prstGeom>
          <a:noFill/>
        </p:spPr>
        <p:txBody>
          <a:bodyPr wrap="square">
            <a:spAutoFit/>
          </a:bodyPr>
          <a:lstStyle/>
          <a:p>
            <a:r>
              <a:rPr lang="en-US" sz="5400" dirty="0"/>
              <a:t>👥</a:t>
            </a:r>
          </a:p>
        </p:txBody>
      </p:sp>
      <p:sp>
        <p:nvSpPr>
          <p:cNvPr id="68" name="TextBox 67">
            <a:extLst>
              <a:ext uri="{FF2B5EF4-FFF2-40B4-BE49-F238E27FC236}">
                <a16:creationId xmlns:a16="http://schemas.microsoft.com/office/drawing/2014/main" id="{4448F6CD-7179-D19D-7652-F52BA3E2B644}"/>
              </a:ext>
            </a:extLst>
          </p:cNvPr>
          <p:cNvSpPr txBox="1"/>
          <p:nvPr/>
        </p:nvSpPr>
        <p:spPr>
          <a:xfrm flipH="1">
            <a:off x="10254981" y="1957269"/>
            <a:ext cx="499589" cy="923330"/>
          </a:xfrm>
          <a:prstGeom prst="rect">
            <a:avLst/>
          </a:prstGeom>
          <a:noFill/>
        </p:spPr>
        <p:txBody>
          <a:bodyPr wrap="square">
            <a:spAutoFit/>
          </a:bodyPr>
          <a:lstStyle/>
          <a:p>
            <a:r>
              <a:rPr lang="en-US" sz="5400" dirty="0"/>
              <a:t>💰</a:t>
            </a:r>
          </a:p>
        </p:txBody>
      </p:sp>
      <p:sp>
        <p:nvSpPr>
          <p:cNvPr id="73" name="TextBox 72">
            <a:extLst>
              <a:ext uri="{FF2B5EF4-FFF2-40B4-BE49-F238E27FC236}">
                <a16:creationId xmlns:a16="http://schemas.microsoft.com/office/drawing/2014/main" id="{9312D01F-DAB1-5A80-A0FE-A79D3DDC41B4}"/>
              </a:ext>
            </a:extLst>
          </p:cNvPr>
          <p:cNvSpPr txBox="1"/>
          <p:nvPr/>
        </p:nvSpPr>
        <p:spPr>
          <a:xfrm>
            <a:off x="5783752" y="2205064"/>
            <a:ext cx="653363" cy="923330"/>
          </a:xfrm>
          <a:prstGeom prst="rect">
            <a:avLst/>
          </a:prstGeom>
          <a:noFill/>
        </p:spPr>
        <p:txBody>
          <a:bodyPr wrap="square" rtlCol="0">
            <a:spAutoFit/>
          </a:bodyPr>
          <a:lstStyle/>
          <a:p>
            <a:r>
              <a:rPr lang="en-US" sz="5400" dirty="0"/>
              <a:t>📡</a:t>
            </a:r>
          </a:p>
        </p:txBody>
      </p:sp>
      <p:sp>
        <p:nvSpPr>
          <p:cNvPr id="74" name="TextBox 73">
            <a:extLst>
              <a:ext uri="{FF2B5EF4-FFF2-40B4-BE49-F238E27FC236}">
                <a16:creationId xmlns:a16="http://schemas.microsoft.com/office/drawing/2014/main" id="{93461ADB-BDC2-FC67-9D13-68F1878AE659}"/>
              </a:ext>
            </a:extLst>
          </p:cNvPr>
          <p:cNvSpPr txBox="1"/>
          <p:nvPr/>
        </p:nvSpPr>
        <p:spPr>
          <a:xfrm>
            <a:off x="7950715" y="2064751"/>
            <a:ext cx="580836" cy="923330"/>
          </a:xfrm>
          <a:prstGeom prst="rect">
            <a:avLst/>
          </a:prstGeom>
          <a:noFill/>
        </p:spPr>
        <p:txBody>
          <a:bodyPr wrap="square" rtlCol="0">
            <a:spAutoFit/>
          </a:bodyPr>
          <a:lstStyle/>
          <a:p>
            <a:r>
              <a:rPr lang="en-US" sz="5400" dirty="0"/>
              <a:t>☁️</a:t>
            </a:r>
          </a:p>
        </p:txBody>
      </p:sp>
      <p:sp>
        <p:nvSpPr>
          <p:cNvPr id="76" name="Footer Placeholder 6">
            <a:extLst>
              <a:ext uri="{FF2B5EF4-FFF2-40B4-BE49-F238E27FC236}">
                <a16:creationId xmlns:a16="http://schemas.microsoft.com/office/drawing/2014/main" id="{3263C070-98CA-C580-6DBF-FEA211F1180B}"/>
              </a:ext>
            </a:extLst>
          </p:cNvPr>
          <p:cNvSpPr txBox="1">
            <a:spLocks/>
          </p:cNvSpPr>
          <p:nvPr/>
        </p:nvSpPr>
        <p:spPr>
          <a:xfrm>
            <a:off x="457201" y="5929849"/>
            <a:ext cx="11362616" cy="689994"/>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Eng. Ola Elsheikh </a:t>
            </a:r>
            <a:r>
              <a:rPr lang="ar-EG" dirty="0"/>
              <a:t>            </a:t>
            </a:r>
            <a:r>
              <a:rPr lang="en-US" dirty="0"/>
              <a:t>                                                                                                                                         </a:t>
            </a:r>
            <a:r>
              <a:rPr lang="ar-EG" dirty="0"/>
              <a:t>                                                                                                           </a:t>
            </a:r>
            <a:r>
              <a:rPr lang="en-US" dirty="0"/>
              <a:t>Governance &amp; Digital Transformation Ambassadors Program </a:t>
            </a:r>
          </a:p>
          <a:p>
            <a:endParaRPr lang="en-US" dirty="0"/>
          </a:p>
        </p:txBody>
      </p:sp>
    </p:spTree>
    <p:extLst>
      <p:ext uri="{BB962C8B-B14F-4D97-AF65-F5344CB8AC3E}">
        <p14:creationId xmlns:p14="http://schemas.microsoft.com/office/powerpoint/2010/main" val="369769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0">
                                            <p:txEl>
                                              <p:pRg st="0" end="0"/>
                                            </p:txEl>
                                          </p:spTgt>
                                        </p:tgtEl>
                                        <p:attrNameLst>
                                          <p:attrName>style.visibility</p:attrName>
                                        </p:attrNameLst>
                                      </p:cBhvr>
                                      <p:to>
                                        <p:strVal val="visible"/>
                                      </p:to>
                                    </p:set>
                                    <p:animEffect transition="in" filter="fade">
                                      <p:cBhvr>
                                        <p:cTn id="13" dur="500"/>
                                        <p:tgtEl>
                                          <p:spTgt spid="2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bg/>
                                          </p:spTgt>
                                        </p:tgtEl>
                                        <p:attrNameLst>
                                          <p:attrName>style.visibility</p:attrName>
                                        </p:attrNameLst>
                                      </p:cBhvr>
                                      <p:to>
                                        <p:strVal val="visible"/>
                                      </p:to>
                                    </p:set>
                                    <p:animEffect transition="in" filter="fade">
                                      <p:cBhvr>
                                        <p:cTn id="18" dur="250"/>
                                        <p:tgtEl>
                                          <p:spTgt spid="5">
                                            <p:bg/>
                                          </p:spTgt>
                                        </p:tgtEl>
                                      </p:cBhvr>
                                    </p:animEffect>
                                    <p:anim calcmode="lin" valueType="num">
                                      <p:cBhvr>
                                        <p:cTn id="19" dur="250" fill="hold"/>
                                        <p:tgtEl>
                                          <p:spTgt spid="5">
                                            <p:bg/>
                                          </p:spTgt>
                                        </p:tgtEl>
                                        <p:attrNameLst>
                                          <p:attrName>ppt_x</p:attrName>
                                        </p:attrNameLst>
                                      </p:cBhvr>
                                      <p:tavLst>
                                        <p:tav tm="0">
                                          <p:val>
                                            <p:strVal val="#ppt_x"/>
                                          </p:val>
                                        </p:tav>
                                        <p:tav tm="100000">
                                          <p:val>
                                            <p:strVal val="#ppt_x"/>
                                          </p:val>
                                        </p:tav>
                                      </p:tavLst>
                                    </p:anim>
                                    <p:anim calcmode="lin" valueType="num">
                                      <p:cBhvr>
                                        <p:cTn id="20" dur="25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fade">
                                      <p:cBhvr>
                                        <p:cTn id="25" dur="250"/>
                                        <p:tgtEl>
                                          <p:spTgt spid="5">
                                            <p:txEl>
                                              <p:pRg st="0" end="0"/>
                                            </p:txEl>
                                          </p:spTgt>
                                        </p:tgtEl>
                                      </p:cBhvr>
                                    </p:animEffect>
                                    <p:anim calcmode="lin" valueType="num">
                                      <p:cBhvr>
                                        <p:cTn id="26" dur="25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7" dur="25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7">
                                            <p:bg/>
                                          </p:spTgt>
                                        </p:tgtEl>
                                        <p:attrNameLst>
                                          <p:attrName>style.visibility</p:attrName>
                                        </p:attrNameLst>
                                      </p:cBhvr>
                                      <p:to>
                                        <p:strVal val="visible"/>
                                      </p:to>
                                    </p:set>
                                    <p:animEffect transition="in" filter="fade">
                                      <p:cBhvr>
                                        <p:cTn id="32" dur="250"/>
                                        <p:tgtEl>
                                          <p:spTgt spid="7">
                                            <p:bg/>
                                          </p:spTgt>
                                        </p:tgtEl>
                                      </p:cBhvr>
                                    </p:animEffect>
                                    <p:anim calcmode="lin" valueType="num">
                                      <p:cBhvr>
                                        <p:cTn id="33" dur="250" fill="hold"/>
                                        <p:tgtEl>
                                          <p:spTgt spid="7">
                                            <p:bg/>
                                          </p:spTgt>
                                        </p:tgtEl>
                                        <p:attrNameLst>
                                          <p:attrName>ppt_x</p:attrName>
                                        </p:attrNameLst>
                                      </p:cBhvr>
                                      <p:tavLst>
                                        <p:tav tm="0">
                                          <p:val>
                                            <p:strVal val="#ppt_x"/>
                                          </p:val>
                                        </p:tav>
                                        <p:tav tm="100000">
                                          <p:val>
                                            <p:strVal val="#ppt_x"/>
                                          </p:val>
                                        </p:tav>
                                      </p:tavLst>
                                    </p:anim>
                                    <p:anim calcmode="lin" valueType="num">
                                      <p:cBhvr>
                                        <p:cTn id="34" dur="250" fill="hold"/>
                                        <p:tgtEl>
                                          <p:spTgt spid="7">
                                            <p:bg/>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fade">
                                      <p:cBhvr>
                                        <p:cTn id="39" dur="250"/>
                                        <p:tgtEl>
                                          <p:spTgt spid="7">
                                            <p:txEl>
                                              <p:pRg st="0" end="0"/>
                                            </p:txEl>
                                          </p:spTgt>
                                        </p:tgtEl>
                                      </p:cBhvr>
                                    </p:animEffect>
                                    <p:anim calcmode="lin" valueType="num">
                                      <p:cBhvr>
                                        <p:cTn id="40" dur="25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1" dur="25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9">
                                            <p:bg/>
                                          </p:spTgt>
                                        </p:tgtEl>
                                        <p:attrNameLst>
                                          <p:attrName>style.visibility</p:attrName>
                                        </p:attrNameLst>
                                      </p:cBhvr>
                                      <p:to>
                                        <p:strVal val="visible"/>
                                      </p:to>
                                    </p:set>
                                    <p:animEffect transition="in" filter="fade">
                                      <p:cBhvr>
                                        <p:cTn id="46" dur="250"/>
                                        <p:tgtEl>
                                          <p:spTgt spid="9">
                                            <p:bg/>
                                          </p:spTgt>
                                        </p:tgtEl>
                                      </p:cBhvr>
                                    </p:animEffect>
                                    <p:anim calcmode="lin" valueType="num">
                                      <p:cBhvr>
                                        <p:cTn id="47" dur="250" fill="hold"/>
                                        <p:tgtEl>
                                          <p:spTgt spid="9">
                                            <p:bg/>
                                          </p:spTgt>
                                        </p:tgtEl>
                                        <p:attrNameLst>
                                          <p:attrName>ppt_x</p:attrName>
                                        </p:attrNameLst>
                                      </p:cBhvr>
                                      <p:tavLst>
                                        <p:tav tm="0">
                                          <p:val>
                                            <p:strVal val="#ppt_x"/>
                                          </p:val>
                                        </p:tav>
                                        <p:tav tm="100000">
                                          <p:val>
                                            <p:strVal val="#ppt_x"/>
                                          </p:val>
                                        </p:tav>
                                      </p:tavLst>
                                    </p:anim>
                                    <p:anim calcmode="lin" valueType="num">
                                      <p:cBhvr>
                                        <p:cTn id="48" dur="250" fill="hold"/>
                                        <p:tgtEl>
                                          <p:spTgt spid="9">
                                            <p:bg/>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9">
                                            <p:txEl>
                                              <p:pRg st="0" end="0"/>
                                            </p:txEl>
                                          </p:spTgt>
                                        </p:tgtEl>
                                        <p:attrNameLst>
                                          <p:attrName>style.visibility</p:attrName>
                                        </p:attrNameLst>
                                      </p:cBhvr>
                                      <p:to>
                                        <p:strVal val="visible"/>
                                      </p:to>
                                    </p:set>
                                    <p:animEffect transition="in" filter="fade">
                                      <p:cBhvr>
                                        <p:cTn id="53" dur="250"/>
                                        <p:tgtEl>
                                          <p:spTgt spid="9">
                                            <p:txEl>
                                              <p:pRg st="0" end="0"/>
                                            </p:txEl>
                                          </p:spTgt>
                                        </p:tgtEl>
                                      </p:cBhvr>
                                    </p:animEffect>
                                    <p:anim calcmode="lin" valueType="num">
                                      <p:cBhvr>
                                        <p:cTn id="54" dur="25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55" dur="25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1">
                                            <p:bg/>
                                          </p:spTgt>
                                        </p:tgtEl>
                                        <p:attrNameLst>
                                          <p:attrName>style.visibility</p:attrName>
                                        </p:attrNameLst>
                                      </p:cBhvr>
                                      <p:to>
                                        <p:strVal val="visible"/>
                                      </p:to>
                                    </p:set>
                                    <p:anim calcmode="lin" valueType="num">
                                      <p:cBhvr additive="base">
                                        <p:cTn id="60" dur="250" fill="hold"/>
                                        <p:tgtEl>
                                          <p:spTgt spid="11">
                                            <p:bg/>
                                          </p:spTgt>
                                        </p:tgtEl>
                                        <p:attrNameLst>
                                          <p:attrName>ppt_x</p:attrName>
                                        </p:attrNameLst>
                                      </p:cBhvr>
                                      <p:tavLst>
                                        <p:tav tm="0">
                                          <p:val>
                                            <p:strVal val="#ppt_x"/>
                                          </p:val>
                                        </p:tav>
                                        <p:tav tm="100000">
                                          <p:val>
                                            <p:strVal val="#ppt_x"/>
                                          </p:val>
                                        </p:tav>
                                      </p:tavLst>
                                    </p:anim>
                                    <p:anim calcmode="lin" valueType="num">
                                      <p:cBhvr additive="base">
                                        <p:cTn id="61" dur="250" fill="hold"/>
                                        <p:tgtEl>
                                          <p:spTgt spid="11">
                                            <p:bg/>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1">
                                            <p:txEl>
                                              <p:pRg st="0" end="0"/>
                                            </p:txEl>
                                          </p:spTgt>
                                        </p:tgtEl>
                                        <p:attrNameLst>
                                          <p:attrName>style.visibility</p:attrName>
                                        </p:attrNameLst>
                                      </p:cBhvr>
                                      <p:to>
                                        <p:strVal val="visible"/>
                                      </p:to>
                                    </p:set>
                                    <p:anim calcmode="lin" valueType="num">
                                      <p:cBhvr additive="base">
                                        <p:cTn id="66" dur="25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67" dur="25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13">
                                            <p:bg/>
                                          </p:spTgt>
                                        </p:tgtEl>
                                        <p:attrNameLst>
                                          <p:attrName>style.visibility</p:attrName>
                                        </p:attrNameLst>
                                      </p:cBhvr>
                                      <p:to>
                                        <p:strVal val="visible"/>
                                      </p:to>
                                    </p:set>
                                    <p:animEffect transition="in" filter="fade">
                                      <p:cBhvr>
                                        <p:cTn id="72" dur="250"/>
                                        <p:tgtEl>
                                          <p:spTgt spid="13">
                                            <p:bg/>
                                          </p:spTgt>
                                        </p:tgtEl>
                                      </p:cBhvr>
                                    </p:animEffect>
                                    <p:anim calcmode="lin" valueType="num">
                                      <p:cBhvr>
                                        <p:cTn id="73" dur="250" fill="hold"/>
                                        <p:tgtEl>
                                          <p:spTgt spid="13">
                                            <p:bg/>
                                          </p:spTgt>
                                        </p:tgtEl>
                                        <p:attrNameLst>
                                          <p:attrName>ppt_x</p:attrName>
                                        </p:attrNameLst>
                                      </p:cBhvr>
                                      <p:tavLst>
                                        <p:tav tm="0">
                                          <p:val>
                                            <p:strVal val="#ppt_x"/>
                                          </p:val>
                                        </p:tav>
                                        <p:tav tm="100000">
                                          <p:val>
                                            <p:strVal val="#ppt_x"/>
                                          </p:val>
                                        </p:tav>
                                      </p:tavLst>
                                    </p:anim>
                                    <p:anim calcmode="lin" valueType="num">
                                      <p:cBhvr>
                                        <p:cTn id="74" dur="250" fill="hold"/>
                                        <p:tgtEl>
                                          <p:spTgt spid="13">
                                            <p:bg/>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3">
                                            <p:txEl>
                                              <p:pRg st="0" end="0"/>
                                            </p:txEl>
                                          </p:spTgt>
                                        </p:tgtEl>
                                        <p:attrNameLst>
                                          <p:attrName>style.visibility</p:attrName>
                                        </p:attrNameLst>
                                      </p:cBhvr>
                                      <p:to>
                                        <p:strVal val="visible"/>
                                      </p:to>
                                    </p:set>
                                    <p:animEffect transition="in" filter="fade">
                                      <p:cBhvr>
                                        <p:cTn id="79" dur="250"/>
                                        <p:tgtEl>
                                          <p:spTgt spid="13">
                                            <p:txEl>
                                              <p:pRg st="0" end="0"/>
                                            </p:txEl>
                                          </p:spTgt>
                                        </p:tgtEl>
                                      </p:cBhvr>
                                    </p:animEffect>
                                    <p:anim calcmode="lin" valueType="num">
                                      <p:cBhvr>
                                        <p:cTn id="80" dur="25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81" dur="25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15">
                                            <p:bg/>
                                          </p:spTgt>
                                        </p:tgtEl>
                                        <p:attrNameLst>
                                          <p:attrName>style.visibility</p:attrName>
                                        </p:attrNameLst>
                                      </p:cBhvr>
                                      <p:to>
                                        <p:strVal val="visible"/>
                                      </p:to>
                                    </p:set>
                                    <p:anim calcmode="lin" valueType="num">
                                      <p:cBhvr additive="base">
                                        <p:cTn id="86" dur="250" fill="hold"/>
                                        <p:tgtEl>
                                          <p:spTgt spid="15">
                                            <p:bg/>
                                          </p:spTgt>
                                        </p:tgtEl>
                                        <p:attrNameLst>
                                          <p:attrName>ppt_x</p:attrName>
                                        </p:attrNameLst>
                                      </p:cBhvr>
                                      <p:tavLst>
                                        <p:tav tm="0">
                                          <p:val>
                                            <p:strVal val="#ppt_x"/>
                                          </p:val>
                                        </p:tav>
                                        <p:tav tm="100000">
                                          <p:val>
                                            <p:strVal val="#ppt_x"/>
                                          </p:val>
                                        </p:tav>
                                      </p:tavLst>
                                    </p:anim>
                                    <p:anim calcmode="lin" valueType="num">
                                      <p:cBhvr additive="base">
                                        <p:cTn id="87" dur="250" fill="hold"/>
                                        <p:tgtEl>
                                          <p:spTgt spid="15">
                                            <p:bg/>
                                          </p:spTgt>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15">
                                            <p:txEl>
                                              <p:pRg st="0" end="0"/>
                                            </p:txEl>
                                          </p:spTgt>
                                        </p:tgtEl>
                                        <p:attrNameLst>
                                          <p:attrName>style.visibility</p:attrName>
                                        </p:attrNameLst>
                                      </p:cBhvr>
                                      <p:to>
                                        <p:strVal val="visible"/>
                                      </p:to>
                                    </p:set>
                                    <p:anim calcmode="lin" valueType="num">
                                      <p:cBhvr additive="base">
                                        <p:cTn id="92" dur="25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93" dur="25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animBg="1"/>
      <p:bldP spid="7" grpId="0" build="p" animBg="1"/>
      <p:bldP spid="9" grpId="0" build="p" animBg="1"/>
      <p:bldP spid="11" grpId="0" build="p" animBg="1"/>
      <p:bldP spid="13" grpId="0" build="p" animBg="1"/>
      <p:bldP spid="1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Worm view of buildings">
            <a:extLst>
              <a:ext uri="{FF2B5EF4-FFF2-40B4-BE49-F238E27FC236}">
                <a16:creationId xmlns:a16="http://schemas.microsoft.com/office/drawing/2014/main" id="{094A5D1B-B8BE-4CE8-8D90-3F36D4EADDEA}"/>
              </a:ext>
              <a:ext uri="{C183D7F6-B498-43B3-948B-1728B52AA6E4}">
                <adec:decorative xmlns:adec="http://schemas.microsoft.com/office/drawing/2017/decorative" val="0"/>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24" name="Rectangle 23">
            <a:extLst>
              <a:ext uri="{FF2B5EF4-FFF2-40B4-BE49-F238E27FC236}">
                <a16:creationId xmlns:a16="http://schemas.microsoft.com/office/drawing/2014/main" id="{4C9191F1-E8DF-4B64-8A28-BC458F6A039C}"/>
              </a:ext>
              <a:ext uri="{C183D7F6-B498-43B3-948B-1728B52AA6E4}">
                <adec:decorative xmlns:adec="http://schemas.microsoft.com/office/drawing/2017/decorative" val="1"/>
              </a:ext>
            </a:extLst>
          </p:cNvPr>
          <p:cNvSpPr/>
          <p:nvPr/>
        </p:nvSpPr>
        <p:spPr>
          <a:xfrm>
            <a:off x="172095" y="16496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601358" y="559838"/>
            <a:ext cx="7560000" cy="360000"/>
          </a:xfrm>
        </p:spPr>
        <p:txBody>
          <a:bodyPr/>
          <a:lstStyle/>
          <a:p>
            <a:r>
              <a:rPr lang="en-US" sz="4000" dirty="0"/>
              <a:t>Company Growth</a:t>
            </a:r>
          </a:p>
        </p:txBody>
      </p:sp>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4</a:t>
            </a:fld>
            <a:endParaRPr lang="en-US" dirty="0"/>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673280" y="1023288"/>
            <a:ext cx="3903042" cy="74773"/>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599775" y="3457740"/>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descr="Icon Stethoscope ">
            <a:extLst>
              <a:ext uri="{FF2B5EF4-FFF2-40B4-BE49-F238E27FC236}">
                <a16:creationId xmlns:a16="http://schemas.microsoft.com/office/drawing/2014/main" id="{49C2930A-BA57-460C-81A6-F126250C3554}"/>
              </a:ext>
            </a:extLst>
          </p:cNvPr>
          <p:cNvGrpSpPr>
            <a:grpSpLocks noChangeAspect="1"/>
          </p:cNvGrpSpPr>
          <p:nvPr/>
        </p:nvGrpSpPr>
        <p:grpSpPr>
          <a:xfrm>
            <a:off x="5929814" y="3738901"/>
            <a:ext cx="332372" cy="430129"/>
            <a:chOff x="5772150" y="3009900"/>
            <a:chExt cx="647700" cy="838200"/>
          </a:xfrm>
        </p:grpSpPr>
        <p:sp>
          <p:nvSpPr>
            <p:cNvPr id="19" name="Freeform: Shape 18">
              <a:extLst>
                <a:ext uri="{FF2B5EF4-FFF2-40B4-BE49-F238E27FC236}">
                  <a16:creationId xmlns:a16="http://schemas.microsoft.com/office/drawing/2014/main" id="{242E6F12-4FB5-4776-8A61-3CC1958EF92F}"/>
                </a:ext>
              </a:extLst>
            </p:cNvPr>
            <p:cNvSpPr/>
            <p:nvPr/>
          </p:nvSpPr>
          <p:spPr>
            <a:xfrm>
              <a:off x="5772150" y="3009900"/>
              <a:ext cx="647700" cy="838200"/>
            </a:xfrm>
            <a:custGeom>
              <a:avLst/>
              <a:gdLst>
                <a:gd name="connsiteX0" fmla="*/ 542925 w 647700"/>
                <a:gd name="connsiteY0" fmla="*/ 381000 h 838200"/>
                <a:gd name="connsiteX1" fmla="*/ 476250 w 647700"/>
                <a:gd name="connsiteY1" fmla="*/ 314325 h 838200"/>
                <a:gd name="connsiteX2" fmla="*/ 542925 w 647700"/>
                <a:gd name="connsiteY2" fmla="*/ 247650 h 838200"/>
                <a:gd name="connsiteX3" fmla="*/ 609600 w 647700"/>
                <a:gd name="connsiteY3" fmla="*/ 314325 h 838200"/>
                <a:gd name="connsiteX4" fmla="*/ 542925 w 647700"/>
                <a:gd name="connsiteY4" fmla="*/ 381000 h 838200"/>
                <a:gd name="connsiteX5" fmla="*/ 647700 w 647700"/>
                <a:gd name="connsiteY5" fmla="*/ 314325 h 838200"/>
                <a:gd name="connsiteX6" fmla="*/ 542925 w 647700"/>
                <a:gd name="connsiteY6" fmla="*/ 209550 h 838200"/>
                <a:gd name="connsiteX7" fmla="*/ 438150 w 647700"/>
                <a:gd name="connsiteY7" fmla="*/ 314325 h 838200"/>
                <a:gd name="connsiteX8" fmla="*/ 514350 w 647700"/>
                <a:gd name="connsiteY8" fmla="*/ 415290 h 838200"/>
                <a:gd name="connsiteX9" fmla="*/ 514350 w 647700"/>
                <a:gd name="connsiteY9" fmla="*/ 638175 h 838200"/>
                <a:gd name="connsiteX10" fmla="*/ 371475 w 647700"/>
                <a:gd name="connsiteY10" fmla="*/ 781050 h 838200"/>
                <a:gd name="connsiteX11" fmla="*/ 228600 w 647700"/>
                <a:gd name="connsiteY11" fmla="*/ 638175 h 838200"/>
                <a:gd name="connsiteX12" fmla="*/ 228600 w 647700"/>
                <a:gd name="connsiteY12" fmla="*/ 541020 h 838200"/>
                <a:gd name="connsiteX13" fmla="*/ 400050 w 647700"/>
                <a:gd name="connsiteY13" fmla="*/ 342900 h 838200"/>
                <a:gd name="connsiteX14" fmla="*/ 381000 w 647700"/>
                <a:gd name="connsiteY14" fmla="*/ 310515 h 838200"/>
                <a:gd name="connsiteX15" fmla="*/ 381000 w 647700"/>
                <a:gd name="connsiteY15" fmla="*/ 76200 h 838200"/>
                <a:gd name="connsiteX16" fmla="*/ 331470 w 647700"/>
                <a:gd name="connsiteY16" fmla="*/ 20003 h 838200"/>
                <a:gd name="connsiteX17" fmla="*/ 304800 w 647700"/>
                <a:gd name="connsiteY17" fmla="*/ 0 h 838200"/>
                <a:gd name="connsiteX18" fmla="*/ 295275 w 647700"/>
                <a:gd name="connsiteY18" fmla="*/ 0 h 838200"/>
                <a:gd name="connsiteX19" fmla="*/ 257175 w 647700"/>
                <a:gd name="connsiteY19" fmla="*/ 38100 h 838200"/>
                <a:gd name="connsiteX20" fmla="*/ 295275 w 647700"/>
                <a:gd name="connsiteY20" fmla="*/ 76200 h 838200"/>
                <a:gd name="connsiteX21" fmla="*/ 304800 w 647700"/>
                <a:gd name="connsiteY21" fmla="*/ 76200 h 838200"/>
                <a:gd name="connsiteX22" fmla="*/ 331470 w 647700"/>
                <a:gd name="connsiteY22" fmla="*/ 59055 h 838200"/>
                <a:gd name="connsiteX23" fmla="*/ 342900 w 647700"/>
                <a:gd name="connsiteY23" fmla="*/ 76200 h 838200"/>
                <a:gd name="connsiteX24" fmla="*/ 342900 w 647700"/>
                <a:gd name="connsiteY24" fmla="*/ 310515 h 838200"/>
                <a:gd name="connsiteX25" fmla="*/ 323850 w 647700"/>
                <a:gd name="connsiteY25" fmla="*/ 342900 h 838200"/>
                <a:gd name="connsiteX26" fmla="*/ 200025 w 647700"/>
                <a:gd name="connsiteY26" fmla="*/ 466725 h 838200"/>
                <a:gd name="connsiteX27" fmla="*/ 76200 w 647700"/>
                <a:gd name="connsiteY27" fmla="*/ 342900 h 838200"/>
                <a:gd name="connsiteX28" fmla="*/ 57150 w 647700"/>
                <a:gd name="connsiteY28" fmla="*/ 310515 h 838200"/>
                <a:gd name="connsiteX29" fmla="*/ 57150 w 647700"/>
                <a:gd name="connsiteY29" fmla="*/ 76200 h 838200"/>
                <a:gd name="connsiteX30" fmla="*/ 68580 w 647700"/>
                <a:gd name="connsiteY30" fmla="*/ 59055 h 838200"/>
                <a:gd name="connsiteX31" fmla="*/ 95250 w 647700"/>
                <a:gd name="connsiteY31" fmla="*/ 76200 h 838200"/>
                <a:gd name="connsiteX32" fmla="*/ 104775 w 647700"/>
                <a:gd name="connsiteY32" fmla="*/ 76200 h 838200"/>
                <a:gd name="connsiteX33" fmla="*/ 142875 w 647700"/>
                <a:gd name="connsiteY33" fmla="*/ 38100 h 838200"/>
                <a:gd name="connsiteX34" fmla="*/ 104775 w 647700"/>
                <a:gd name="connsiteY34" fmla="*/ 0 h 838200"/>
                <a:gd name="connsiteX35" fmla="*/ 95250 w 647700"/>
                <a:gd name="connsiteY35" fmla="*/ 0 h 838200"/>
                <a:gd name="connsiteX36" fmla="*/ 68580 w 647700"/>
                <a:gd name="connsiteY36" fmla="*/ 20003 h 838200"/>
                <a:gd name="connsiteX37" fmla="*/ 19050 w 647700"/>
                <a:gd name="connsiteY37" fmla="*/ 76200 h 838200"/>
                <a:gd name="connsiteX38" fmla="*/ 19050 w 647700"/>
                <a:gd name="connsiteY38" fmla="*/ 310515 h 838200"/>
                <a:gd name="connsiteX39" fmla="*/ 0 w 647700"/>
                <a:gd name="connsiteY39" fmla="*/ 342900 h 838200"/>
                <a:gd name="connsiteX40" fmla="*/ 171450 w 647700"/>
                <a:gd name="connsiteY40" fmla="*/ 541020 h 838200"/>
                <a:gd name="connsiteX41" fmla="*/ 171450 w 647700"/>
                <a:gd name="connsiteY41" fmla="*/ 638175 h 838200"/>
                <a:gd name="connsiteX42" fmla="*/ 371475 w 647700"/>
                <a:gd name="connsiteY42" fmla="*/ 838200 h 838200"/>
                <a:gd name="connsiteX43" fmla="*/ 571500 w 647700"/>
                <a:gd name="connsiteY43" fmla="*/ 638175 h 838200"/>
                <a:gd name="connsiteX44" fmla="*/ 571500 w 647700"/>
                <a:gd name="connsiteY44" fmla="*/ 415290 h 838200"/>
                <a:gd name="connsiteX45" fmla="*/ 647700 w 647700"/>
                <a:gd name="connsiteY45" fmla="*/ 314325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47700" h="838200">
                  <a:moveTo>
                    <a:pt x="542925" y="381000"/>
                  </a:moveTo>
                  <a:cubicBezTo>
                    <a:pt x="505778" y="381000"/>
                    <a:pt x="476250" y="351473"/>
                    <a:pt x="476250" y="314325"/>
                  </a:cubicBezTo>
                  <a:cubicBezTo>
                    <a:pt x="476250" y="277178"/>
                    <a:pt x="505778" y="247650"/>
                    <a:pt x="542925" y="247650"/>
                  </a:cubicBezTo>
                  <a:cubicBezTo>
                    <a:pt x="580073" y="247650"/>
                    <a:pt x="609600" y="277178"/>
                    <a:pt x="609600" y="314325"/>
                  </a:cubicBezTo>
                  <a:cubicBezTo>
                    <a:pt x="609600" y="351473"/>
                    <a:pt x="580073" y="381000"/>
                    <a:pt x="542925" y="381000"/>
                  </a:cubicBezTo>
                  <a:close/>
                  <a:moveTo>
                    <a:pt x="647700" y="314325"/>
                  </a:moveTo>
                  <a:cubicBezTo>
                    <a:pt x="647700" y="256223"/>
                    <a:pt x="601028" y="209550"/>
                    <a:pt x="542925" y="209550"/>
                  </a:cubicBezTo>
                  <a:cubicBezTo>
                    <a:pt x="484823" y="209550"/>
                    <a:pt x="438150" y="256223"/>
                    <a:pt x="438150" y="314325"/>
                  </a:cubicBezTo>
                  <a:cubicBezTo>
                    <a:pt x="438150" y="361950"/>
                    <a:pt x="470535" y="402908"/>
                    <a:pt x="514350" y="415290"/>
                  </a:cubicBezTo>
                  <a:lnTo>
                    <a:pt x="514350" y="638175"/>
                  </a:lnTo>
                  <a:cubicBezTo>
                    <a:pt x="514350" y="717233"/>
                    <a:pt x="450533" y="781050"/>
                    <a:pt x="371475" y="781050"/>
                  </a:cubicBezTo>
                  <a:cubicBezTo>
                    <a:pt x="292418" y="781050"/>
                    <a:pt x="228600" y="717233"/>
                    <a:pt x="228600" y="638175"/>
                  </a:cubicBezTo>
                  <a:lnTo>
                    <a:pt x="228600" y="541020"/>
                  </a:lnTo>
                  <a:cubicBezTo>
                    <a:pt x="325755" y="526733"/>
                    <a:pt x="400050" y="443865"/>
                    <a:pt x="400050" y="342900"/>
                  </a:cubicBezTo>
                  <a:cubicBezTo>
                    <a:pt x="400050" y="328613"/>
                    <a:pt x="392430" y="316230"/>
                    <a:pt x="381000" y="310515"/>
                  </a:cubicBezTo>
                  <a:lnTo>
                    <a:pt x="381000" y="76200"/>
                  </a:lnTo>
                  <a:cubicBezTo>
                    <a:pt x="381000" y="47625"/>
                    <a:pt x="359093" y="23813"/>
                    <a:pt x="331470" y="20003"/>
                  </a:cubicBezTo>
                  <a:cubicBezTo>
                    <a:pt x="327660" y="8573"/>
                    <a:pt x="317183" y="0"/>
                    <a:pt x="304800" y="0"/>
                  </a:cubicBezTo>
                  <a:lnTo>
                    <a:pt x="295275" y="0"/>
                  </a:lnTo>
                  <a:cubicBezTo>
                    <a:pt x="274320" y="0"/>
                    <a:pt x="257175" y="17145"/>
                    <a:pt x="257175" y="38100"/>
                  </a:cubicBezTo>
                  <a:cubicBezTo>
                    <a:pt x="257175" y="59055"/>
                    <a:pt x="274320" y="76200"/>
                    <a:pt x="295275" y="76200"/>
                  </a:cubicBezTo>
                  <a:lnTo>
                    <a:pt x="304800" y="76200"/>
                  </a:lnTo>
                  <a:cubicBezTo>
                    <a:pt x="316230" y="76200"/>
                    <a:pt x="326708" y="68580"/>
                    <a:pt x="331470" y="59055"/>
                  </a:cubicBezTo>
                  <a:cubicBezTo>
                    <a:pt x="338138" y="61913"/>
                    <a:pt x="342900" y="68580"/>
                    <a:pt x="342900" y="76200"/>
                  </a:cubicBezTo>
                  <a:lnTo>
                    <a:pt x="342900" y="310515"/>
                  </a:lnTo>
                  <a:cubicBezTo>
                    <a:pt x="331470" y="317183"/>
                    <a:pt x="323850" y="329565"/>
                    <a:pt x="323850" y="342900"/>
                  </a:cubicBezTo>
                  <a:cubicBezTo>
                    <a:pt x="323850" y="411480"/>
                    <a:pt x="268605" y="466725"/>
                    <a:pt x="200025" y="466725"/>
                  </a:cubicBezTo>
                  <a:cubicBezTo>
                    <a:pt x="131445" y="466725"/>
                    <a:pt x="76200" y="411480"/>
                    <a:pt x="76200" y="342900"/>
                  </a:cubicBezTo>
                  <a:cubicBezTo>
                    <a:pt x="76200" y="328613"/>
                    <a:pt x="68580" y="316230"/>
                    <a:pt x="57150" y="310515"/>
                  </a:cubicBezTo>
                  <a:lnTo>
                    <a:pt x="57150" y="76200"/>
                  </a:lnTo>
                  <a:cubicBezTo>
                    <a:pt x="57150" y="68580"/>
                    <a:pt x="61913" y="61913"/>
                    <a:pt x="68580" y="59055"/>
                  </a:cubicBezTo>
                  <a:cubicBezTo>
                    <a:pt x="73343" y="69533"/>
                    <a:pt x="82868" y="76200"/>
                    <a:pt x="95250" y="76200"/>
                  </a:cubicBezTo>
                  <a:lnTo>
                    <a:pt x="104775" y="76200"/>
                  </a:lnTo>
                  <a:cubicBezTo>
                    <a:pt x="125730" y="76200"/>
                    <a:pt x="142875" y="59055"/>
                    <a:pt x="142875" y="38100"/>
                  </a:cubicBezTo>
                  <a:cubicBezTo>
                    <a:pt x="142875" y="17145"/>
                    <a:pt x="125730" y="0"/>
                    <a:pt x="104775" y="0"/>
                  </a:cubicBezTo>
                  <a:lnTo>
                    <a:pt x="95250" y="0"/>
                  </a:lnTo>
                  <a:cubicBezTo>
                    <a:pt x="82868" y="0"/>
                    <a:pt x="72390" y="8573"/>
                    <a:pt x="68580" y="20003"/>
                  </a:cubicBezTo>
                  <a:cubicBezTo>
                    <a:pt x="40957" y="23813"/>
                    <a:pt x="19050" y="47625"/>
                    <a:pt x="19050" y="76200"/>
                  </a:cubicBezTo>
                  <a:lnTo>
                    <a:pt x="19050" y="310515"/>
                  </a:lnTo>
                  <a:cubicBezTo>
                    <a:pt x="7620" y="317183"/>
                    <a:pt x="0" y="329565"/>
                    <a:pt x="0" y="342900"/>
                  </a:cubicBezTo>
                  <a:cubicBezTo>
                    <a:pt x="0" y="443865"/>
                    <a:pt x="74295" y="526733"/>
                    <a:pt x="171450" y="541020"/>
                  </a:cubicBezTo>
                  <a:lnTo>
                    <a:pt x="171450" y="638175"/>
                  </a:lnTo>
                  <a:cubicBezTo>
                    <a:pt x="171450" y="748665"/>
                    <a:pt x="260985" y="838200"/>
                    <a:pt x="371475" y="838200"/>
                  </a:cubicBezTo>
                  <a:cubicBezTo>
                    <a:pt x="481965" y="838200"/>
                    <a:pt x="571500" y="748665"/>
                    <a:pt x="571500" y="638175"/>
                  </a:cubicBezTo>
                  <a:lnTo>
                    <a:pt x="571500" y="415290"/>
                  </a:lnTo>
                  <a:cubicBezTo>
                    <a:pt x="615315" y="402908"/>
                    <a:pt x="647700" y="361950"/>
                    <a:pt x="647700" y="314325"/>
                  </a:cubicBezTo>
                  <a:close/>
                </a:path>
              </a:pathLst>
            </a:custGeom>
            <a:solidFill>
              <a:schemeClr val="bg1"/>
            </a:solid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BD8EA7DE-86F4-478B-9D9B-28A0D3E0D041}"/>
                </a:ext>
              </a:extLst>
            </p:cNvPr>
            <p:cNvSpPr/>
            <p:nvPr/>
          </p:nvSpPr>
          <p:spPr>
            <a:xfrm>
              <a:off x="6267450" y="3276600"/>
              <a:ext cx="95250" cy="95250"/>
            </a:xfrm>
            <a:custGeom>
              <a:avLst/>
              <a:gdLst>
                <a:gd name="connsiteX0" fmla="*/ 95250 w 95250"/>
                <a:gd name="connsiteY0" fmla="*/ 47625 h 95250"/>
                <a:gd name="connsiteX1" fmla="*/ 47625 w 95250"/>
                <a:gd name="connsiteY1" fmla="*/ 95250 h 95250"/>
                <a:gd name="connsiteX2" fmla="*/ 0 w 95250"/>
                <a:gd name="connsiteY2" fmla="*/ 47625 h 95250"/>
                <a:gd name="connsiteX3" fmla="*/ 47625 w 95250"/>
                <a:gd name="connsiteY3" fmla="*/ 0 h 95250"/>
                <a:gd name="connsiteX4" fmla="*/ 95250 w 95250"/>
                <a:gd name="connsiteY4" fmla="*/ 47625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chemeClr val="bg1"/>
            </a:solidFill>
            <a:ln w="9525" cap="flat">
              <a:noFill/>
              <a:prstDash val="solid"/>
              <a:miter/>
            </a:ln>
          </p:spPr>
          <p:txBody>
            <a:bodyPr rtlCol="0" anchor="ctr"/>
            <a:lstStyle/>
            <a:p>
              <a:endParaRPr lang="en-US" dirty="0"/>
            </a:p>
          </p:txBody>
        </p:sp>
      </p:grpSp>
      <p:graphicFrame>
        <p:nvGraphicFramePr>
          <p:cNvPr id="32" name="Chart 31">
            <a:extLst>
              <a:ext uri="{FF2B5EF4-FFF2-40B4-BE49-F238E27FC236}">
                <a16:creationId xmlns:a16="http://schemas.microsoft.com/office/drawing/2014/main" id="{F08F0F99-C79A-4CE0-89AB-B33FE3FDFD3B}"/>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897807678"/>
              </p:ext>
            </p:extLst>
          </p:nvPr>
        </p:nvGraphicFramePr>
        <p:xfrm>
          <a:off x="2949391" y="1660567"/>
          <a:ext cx="6233979" cy="5018324"/>
        </p:xfrm>
        <a:graphic>
          <a:graphicData uri="http://schemas.openxmlformats.org/drawingml/2006/chart">
            <c:chart xmlns:c="http://schemas.openxmlformats.org/drawingml/2006/chart" xmlns:r="http://schemas.openxmlformats.org/officeDocument/2006/relationships" r:id="rId3"/>
          </a:graphicData>
        </a:graphic>
      </p:graphicFrame>
      <p:sp>
        <p:nvSpPr>
          <p:cNvPr id="50" name="Rectangle 49">
            <a:extLst>
              <a:ext uri="{FF2B5EF4-FFF2-40B4-BE49-F238E27FC236}">
                <a16:creationId xmlns:a16="http://schemas.microsoft.com/office/drawing/2014/main" id="{9461AA33-C31E-4FC9-AC74-48CD41F6A5D8}"/>
              </a:ext>
            </a:extLst>
          </p:cNvPr>
          <p:cNvSpPr/>
          <p:nvPr/>
        </p:nvSpPr>
        <p:spPr>
          <a:xfrm>
            <a:off x="1400801" y="5581325"/>
            <a:ext cx="2448000" cy="216000"/>
          </a:xfrm>
          <a:prstGeom prst="rect">
            <a:avLst/>
          </a:prstGeom>
        </p:spPr>
        <p:txBody>
          <a:bodyPr wrap="square" lIns="0" tIns="0" rIns="108000" bIns="0">
            <a:noAutofit/>
          </a:bodyPr>
          <a:lstStyle/>
          <a:p>
            <a:pPr algn="r"/>
            <a:r>
              <a:rPr lang="en-US" sz="1400" dirty="0">
                <a:solidFill>
                  <a:schemeClr val="accent5">
                    <a:lumMod val="40000"/>
                    <a:lumOff val="60000"/>
                  </a:schemeClr>
                </a:solidFill>
              </a:rPr>
              <a:t>2026 → 88 Bn</a:t>
            </a:r>
            <a:endParaRPr lang="en-US" sz="1400" dirty="0">
              <a:solidFill>
                <a:schemeClr val="accent5">
                  <a:lumMod val="40000"/>
                  <a:lumOff val="60000"/>
                </a:schemeClr>
              </a:solidFill>
              <a:latin typeface="+mj-lt"/>
              <a:ea typeface="Lato" panose="020F0502020204030203" pitchFamily="34" charset="0"/>
              <a:cs typeface="Lato" panose="020F0502020204030203" pitchFamily="34" charset="0"/>
            </a:endParaRPr>
          </a:p>
        </p:txBody>
      </p:sp>
      <p:sp>
        <p:nvSpPr>
          <p:cNvPr id="51" name="Rectangle 50">
            <a:extLst>
              <a:ext uri="{FF2B5EF4-FFF2-40B4-BE49-F238E27FC236}">
                <a16:creationId xmlns:a16="http://schemas.microsoft.com/office/drawing/2014/main" id="{8AE4075F-6CDB-42CC-9B2E-17626DED01F3}"/>
              </a:ext>
            </a:extLst>
          </p:cNvPr>
          <p:cNvSpPr/>
          <p:nvPr/>
        </p:nvSpPr>
        <p:spPr>
          <a:xfrm>
            <a:off x="1601895" y="3894268"/>
            <a:ext cx="1279651" cy="217438"/>
          </a:xfrm>
          <a:prstGeom prst="rect">
            <a:avLst/>
          </a:prstGeom>
        </p:spPr>
        <p:txBody>
          <a:bodyPr wrap="square" lIns="0" tIns="0" rIns="108000" bIns="0">
            <a:spAutoFit/>
          </a:bodyPr>
          <a:lstStyle/>
          <a:p>
            <a:r>
              <a:rPr lang="en-US" sz="1400" dirty="0">
                <a:solidFill>
                  <a:schemeClr val="accent5">
                    <a:lumMod val="40000"/>
                    <a:lumOff val="60000"/>
                  </a:schemeClr>
                </a:solidFill>
              </a:rPr>
              <a:t>2020 → 31 Bn</a:t>
            </a:r>
            <a:endParaRPr lang="en-US" sz="1400" dirty="0">
              <a:solidFill>
                <a:schemeClr val="accent5">
                  <a:lumMod val="40000"/>
                  <a:lumOff val="60000"/>
                </a:schemeClr>
              </a:solidFill>
              <a:ea typeface="Lato" panose="020F0502020204030203" pitchFamily="34" charset="0"/>
              <a:cs typeface="Lato" panose="020F0502020204030203" pitchFamily="34" charset="0"/>
            </a:endParaRPr>
          </a:p>
        </p:txBody>
      </p:sp>
      <p:sp>
        <p:nvSpPr>
          <p:cNvPr id="52" name="Rectangle 51">
            <a:extLst>
              <a:ext uri="{FF2B5EF4-FFF2-40B4-BE49-F238E27FC236}">
                <a16:creationId xmlns:a16="http://schemas.microsoft.com/office/drawing/2014/main" id="{57205FBE-B5DC-426E-8EAF-A431201C872E}"/>
              </a:ext>
            </a:extLst>
          </p:cNvPr>
          <p:cNvSpPr/>
          <p:nvPr/>
        </p:nvSpPr>
        <p:spPr>
          <a:xfrm>
            <a:off x="365701" y="3698115"/>
            <a:ext cx="2448000" cy="215444"/>
          </a:xfrm>
          <a:prstGeom prst="rect">
            <a:avLst/>
          </a:prstGeom>
        </p:spPr>
        <p:txBody>
          <a:bodyPr wrap="square" lIns="0" tIns="0" rIns="108000" bIns="0">
            <a:spAutoFit/>
          </a:bodyPr>
          <a:lstStyle/>
          <a:p>
            <a:pPr algn="r"/>
            <a:r>
              <a:rPr lang="en-US" sz="1400" dirty="0">
                <a:solidFill>
                  <a:schemeClr val="accent5">
                    <a:lumMod val="40000"/>
                    <a:lumOff val="60000"/>
                  </a:schemeClr>
                </a:solidFill>
              </a:rPr>
              <a:t>2022 → 44 Bn</a:t>
            </a:r>
            <a:endParaRPr lang="en-US" sz="1400" dirty="0">
              <a:solidFill>
                <a:schemeClr val="accent5">
                  <a:lumMod val="40000"/>
                  <a:lumOff val="60000"/>
                </a:schemeClr>
              </a:solidFill>
              <a:latin typeface="+mj-lt"/>
              <a:ea typeface="Lato" panose="020F0502020204030203" pitchFamily="34" charset="0"/>
              <a:cs typeface="Lato" panose="020F0502020204030203" pitchFamily="34" charset="0"/>
            </a:endParaRPr>
          </a:p>
        </p:txBody>
      </p:sp>
      <p:sp>
        <p:nvSpPr>
          <p:cNvPr id="69" name="Rectangle 68">
            <a:extLst>
              <a:ext uri="{FF2B5EF4-FFF2-40B4-BE49-F238E27FC236}">
                <a16:creationId xmlns:a16="http://schemas.microsoft.com/office/drawing/2014/main" id="{8858D075-D152-4824-942D-18F09EB96E38}"/>
              </a:ext>
            </a:extLst>
          </p:cNvPr>
          <p:cNvSpPr/>
          <p:nvPr/>
        </p:nvSpPr>
        <p:spPr>
          <a:xfrm>
            <a:off x="8335005" y="2025061"/>
            <a:ext cx="2448000" cy="216000"/>
          </a:xfrm>
          <a:prstGeom prst="rect">
            <a:avLst/>
          </a:prstGeom>
        </p:spPr>
        <p:txBody>
          <a:bodyPr wrap="square" lIns="108000" tIns="0" rIns="0" bIns="0">
            <a:noAutofit/>
          </a:bodyPr>
          <a:lstStyle/>
          <a:p>
            <a:r>
              <a:rPr lang="en-US" sz="1400" dirty="0">
                <a:solidFill>
                  <a:schemeClr val="accent5">
                    <a:lumMod val="40000"/>
                    <a:lumOff val="60000"/>
                  </a:schemeClr>
                </a:solidFill>
              </a:rPr>
              <a:t>2025 → 77 Bn</a:t>
            </a:r>
            <a:endParaRPr lang="en-US" sz="1400" dirty="0">
              <a:solidFill>
                <a:schemeClr val="accent5">
                  <a:lumMod val="40000"/>
                  <a:lumOff val="60000"/>
                </a:schemeClr>
              </a:solidFill>
              <a:latin typeface="+mj-lt"/>
              <a:ea typeface="Lato" panose="020F0502020204030203" pitchFamily="34" charset="0"/>
              <a:cs typeface="Lato" panose="020F0502020204030203" pitchFamily="34" charset="0"/>
            </a:endParaRPr>
          </a:p>
        </p:txBody>
      </p:sp>
      <p:sp>
        <p:nvSpPr>
          <p:cNvPr id="70" name="Rectangle 69">
            <a:extLst>
              <a:ext uri="{FF2B5EF4-FFF2-40B4-BE49-F238E27FC236}">
                <a16:creationId xmlns:a16="http://schemas.microsoft.com/office/drawing/2014/main" id="{90FAEC7D-86CD-4334-ACAE-C1C20F137C93}"/>
              </a:ext>
            </a:extLst>
          </p:cNvPr>
          <p:cNvSpPr/>
          <p:nvPr/>
        </p:nvSpPr>
        <p:spPr>
          <a:xfrm>
            <a:off x="8335005" y="5293004"/>
            <a:ext cx="2448000" cy="289291"/>
          </a:xfrm>
          <a:prstGeom prst="rect">
            <a:avLst/>
          </a:prstGeom>
        </p:spPr>
        <p:txBody>
          <a:bodyPr wrap="square" lIns="108000" tIns="0" rIns="0" bIns="0">
            <a:noAutofit/>
          </a:bodyPr>
          <a:lstStyle/>
          <a:p>
            <a:r>
              <a:rPr lang="en-US" sz="1400" dirty="0">
                <a:solidFill>
                  <a:schemeClr val="accent5">
                    <a:lumMod val="40000"/>
                    <a:lumOff val="60000"/>
                  </a:schemeClr>
                </a:solidFill>
              </a:rPr>
              <a:t>2024 → 67 Bn</a:t>
            </a:r>
            <a:endParaRPr lang="en-US" sz="1400" dirty="0">
              <a:solidFill>
                <a:schemeClr val="accent5">
                  <a:lumMod val="40000"/>
                  <a:lumOff val="60000"/>
                </a:schemeClr>
              </a:solidFill>
              <a:latin typeface="+mj-lt"/>
              <a:ea typeface="Lato" panose="020F0502020204030203" pitchFamily="34" charset="0"/>
              <a:cs typeface="Lato" panose="020F0502020204030203" pitchFamily="34" charset="0"/>
            </a:endParaRPr>
          </a:p>
        </p:txBody>
      </p:sp>
      <p:sp>
        <p:nvSpPr>
          <p:cNvPr id="71" name="Rectangle 70">
            <a:extLst>
              <a:ext uri="{FF2B5EF4-FFF2-40B4-BE49-F238E27FC236}">
                <a16:creationId xmlns:a16="http://schemas.microsoft.com/office/drawing/2014/main" id="{F69439AC-F25B-4EE0-A1B7-5E440F45AAA9}"/>
              </a:ext>
            </a:extLst>
          </p:cNvPr>
          <p:cNvSpPr/>
          <p:nvPr/>
        </p:nvSpPr>
        <p:spPr>
          <a:xfrm>
            <a:off x="8335005" y="5581325"/>
            <a:ext cx="2448000" cy="216000"/>
          </a:xfrm>
          <a:prstGeom prst="rect">
            <a:avLst/>
          </a:prstGeom>
        </p:spPr>
        <p:txBody>
          <a:bodyPr wrap="square" lIns="108000" tIns="0" rIns="0" bIns="0">
            <a:noAutofit/>
          </a:bodyPr>
          <a:lstStyle/>
          <a:p>
            <a:r>
              <a:rPr lang="en-US" sz="1400" dirty="0">
                <a:solidFill>
                  <a:schemeClr val="accent5">
                    <a:lumMod val="40000"/>
                    <a:lumOff val="60000"/>
                  </a:schemeClr>
                </a:solidFill>
              </a:rPr>
              <a:t>2023 → 56 Bn</a:t>
            </a:r>
            <a:endParaRPr lang="en-US" sz="1400" dirty="0">
              <a:solidFill>
                <a:schemeClr val="accent5">
                  <a:lumMod val="40000"/>
                  <a:lumOff val="60000"/>
                </a:schemeClr>
              </a:solidFill>
              <a:latin typeface="+mj-lt"/>
              <a:ea typeface="Lato" panose="020F0502020204030203" pitchFamily="34" charset="0"/>
              <a:cs typeface="Lato" panose="020F0502020204030203" pitchFamily="34" charset="0"/>
            </a:endParaRPr>
          </a:p>
        </p:txBody>
      </p:sp>
      <p:sp>
        <p:nvSpPr>
          <p:cNvPr id="73" name="Rectangle 72">
            <a:extLst>
              <a:ext uri="{FF2B5EF4-FFF2-40B4-BE49-F238E27FC236}">
                <a16:creationId xmlns:a16="http://schemas.microsoft.com/office/drawing/2014/main" id="{B2133C82-78B8-4F5A-A194-5108506FC629}"/>
              </a:ext>
            </a:extLst>
          </p:cNvPr>
          <p:cNvSpPr/>
          <p:nvPr/>
        </p:nvSpPr>
        <p:spPr>
          <a:xfrm>
            <a:off x="8335005" y="1807623"/>
            <a:ext cx="2448000" cy="216000"/>
          </a:xfrm>
          <a:prstGeom prst="rect">
            <a:avLst/>
          </a:prstGeom>
        </p:spPr>
        <p:txBody>
          <a:bodyPr wrap="square" lIns="108000" tIns="0" rIns="0" bIns="0">
            <a:noAutofit/>
          </a:bodyPr>
          <a:lstStyle/>
          <a:p>
            <a:r>
              <a:rPr lang="en-US" sz="1400" dirty="0">
                <a:solidFill>
                  <a:schemeClr val="accent5">
                    <a:lumMod val="40000"/>
                    <a:lumOff val="60000"/>
                  </a:schemeClr>
                </a:solidFill>
              </a:rPr>
              <a:t>2021 → 38 Bn</a:t>
            </a:r>
            <a:endParaRPr lang="en-US" sz="1400" dirty="0">
              <a:solidFill>
                <a:schemeClr val="accent5">
                  <a:lumMod val="40000"/>
                  <a:lumOff val="60000"/>
                </a:schemeClr>
              </a:solidFill>
              <a:latin typeface="+mj-lt"/>
              <a:ea typeface="Lato" panose="020F0502020204030203" pitchFamily="34" charset="0"/>
              <a:cs typeface="Lato" panose="020F0502020204030203" pitchFamily="34" charset="0"/>
            </a:endParaRPr>
          </a:p>
        </p:txBody>
      </p:sp>
      <p:sp>
        <p:nvSpPr>
          <p:cNvPr id="29" name="Oval 28">
            <a:extLst>
              <a:ext uri="{FF2B5EF4-FFF2-40B4-BE49-F238E27FC236}">
                <a16:creationId xmlns:a16="http://schemas.microsoft.com/office/drawing/2014/main" id="{BF530341-3267-48B2-9656-418026034E94}"/>
              </a:ext>
              <a:ext uri="{C183D7F6-B498-43B3-948B-1728B52AA6E4}">
                <adec:decorative xmlns:adec="http://schemas.microsoft.com/office/drawing/2017/decorative" val="1"/>
              </a:ext>
            </a:extLst>
          </p:cNvPr>
          <p:cNvSpPr/>
          <p:nvPr/>
        </p:nvSpPr>
        <p:spPr>
          <a:xfrm>
            <a:off x="5081318" y="2301320"/>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C02F1619-684F-4E5B-8B47-248B2866D2EF}"/>
              </a:ext>
              <a:ext uri="{C183D7F6-B498-43B3-948B-1728B52AA6E4}">
                <adec:decorative xmlns:adec="http://schemas.microsoft.com/office/drawing/2017/decorative" val="1"/>
              </a:ext>
            </a:extLst>
          </p:cNvPr>
          <p:cNvSpPr/>
          <p:nvPr/>
        </p:nvSpPr>
        <p:spPr>
          <a:xfrm>
            <a:off x="5993827" y="2035213"/>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30F522B1-F9C8-450A-B7B9-1F835972E66A}"/>
              </a:ext>
              <a:ext uri="{C183D7F6-B498-43B3-948B-1728B52AA6E4}">
                <adec:decorative xmlns:adec="http://schemas.microsoft.com/office/drawing/2017/decorative" val="1"/>
              </a:ext>
            </a:extLst>
          </p:cNvPr>
          <p:cNvSpPr/>
          <p:nvPr/>
        </p:nvSpPr>
        <p:spPr>
          <a:xfrm>
            <a:off x="4719368" y="2602509"/>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8" name="Connector: Elbow 87">
            <a:extLst>
              <a:ext uri="{FF2B5EF4-FFF2-40B4-BE49-F238E27FC236}">
                <a16:creationId xmlns:a16="http://schemas.microsoft.com/office/drawing/2014/main" id="{F87C087B-CD00-4FF7-A024-A30FD0BFB415}"/>
              </a:ext>
              <a:ext uri="{C183D7F6-B498-43B3-948B-1728B52AA6E4}">
                <adec:decorative xmlns:adec="http://schemas.microsoft.com/office/drawing/2017/decorative" val="1"/>
              </a:ext>
            </a:extLst>
          </p:cNvPr>
          <p:cNvCxnSpPr>
            <a:cxnSpLocks/>
            <a:stCxn id="52" idx="3"/>
            <a:endCxn id="29" idx="0"/>
          </p:cNvCxnSpPr>
          <p:nvPr/>
        </p:nvCxnSpPr>
        <p:spPr>
          <a:xfrm flipV="1">
            <a:off x="2813701" y="2301320"/>
            <a:ext cx="2314751" cy="1504517"/>
          </a:xfrm>
          <a:prstGeom prst="bentConnector4">
            <a:avLst>
              <a:gd name="adj1" fmla="val 48982"/>
              <a:gd name="adj2" fmla="val 115194"/>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59D5A8F9-03EE-4AD6-900C-6CB3155F6A38}"/>
              </a:ext>
              <a:ext uri="{C183D7F6-B498-43B3-948B-1728B52AA6E4}">
                <adec:decorative xmlns:adec="http://schemas.microsoft.com/office/drawing/2017/decorative" val="1"/>
              </a:ext>
            </a:extLst>
          </p:cNvPr>
          <p:cNvCxnSpPr>
            <a:cxnSpLocks/>
            <a:stCxn id="51" idx="3"/>
            <a:endCxn id="76" idx="0"/>
          </p:cNvCxnSpPr>
          <p:nvPr/>
        </p:nvCxnSpPr>
        <p:spPr>
          <a:xfrm flipV="1">
            <a:off x="2881546" y="2602509"/>
            <a:ext cx="1884956" cy="1400478"/>
          </a:xfrm>
          <a:prstGeom prst="bentConnector4">
            <a:avLst>
              <a:gd name="adj1" fmla="val 48750"/>
              <a:gd name="adj2" fmla="val 116323"/>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7E495AD6-0D3C-45BA-BAF4-3228E1545A33}"/>
              </a:ext>
              <a:ext uri="{C183D7F6-B498-43B3-948B-1728B52AA6E4}">
                <adec:decorative xmlns:adec="http://schemas.microsoft.com/office/drawing/2017/decorative" val="1"/>
              </a:ext>
            </a:extLst>
          </p:cNvPr>
          <p:cNvSpPr/>
          <p:nvPr/>
        </p:nvSpPr>
        <p:spPr>
          <a:xfrm>
            <a:off x="7002435" y="2301320"/>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Oval 94">
            <a:extLst>
              <a:ext uri="{FF2B5EF4-FFF2-40B4-BE49-F238E27FC236}">
                <a16:creationId xmlns:a16="http://schemas.microsoft.com/office/drawing/2014/main" id="{B1C42E16-C832-416F-A954-48DEE44887F9}"/>
              </a:ext>
              <a:ext uri="{C183D7F6-B498-43B3-948B-1728B52AA6E4}">
                <adec:decorative xmlns:adec="http://schemas.microsoft.com/office/drawing/2017/decorative" val="1"/>
              </a:ext>
            </a:extLst>
          </p:cNvPr>
          <p:cNvSpPr/>
          <p:nvPr/>
        </p:nvSpPr>
        <p:spPr>
          <a:xfrm>
            <a:off x="4672234" y="5108020"/>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1E5B5DC7-F6C3-425D-ACC9-2D81600FDBB2}"/>
              </a:ext>
              <a:ext uri="{C183D7F6-B498-43B3-948B-1728B52AA6E4}">
                <adec:decorative xmlns:adec="http://schemas.microsoft.com/office/drawing/2017/decorative" val="1"/>
              </a:ext>
            </a:extLst>
          </p:cNvPr>
          <p:cNvSpPr/>
          <p:nvPr/>
        </p:nvSpPr>
        <p:spPr>
          <a:xfrm>
            <a:off x="6617626" y="5642191"/>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Oval 98">
            <a:extLst>
              <a:ext uri="{FF2B5EF4-FFF2-40B4-BE49-F238E27FC236}">
                <a16:creationId xmlns:a16="http://schemas.microsoft.com/office/drawing/2014/main" id="{60A3D05C-DE27-48B9-A6FC-362B5658EC27}"/>
              </a:ext>
              <a:ext uri="{C183D7F6-B498-43B3-948B-1728B52AA6E4}">
                <adec:decorative xmlns:adec="http://schemas.microsoft.com/office/drawing/2017/decorative" val="1"/>
              </a:ext>
            </a:extLst>
          </p:cNvPr>
          <p:cNvSpPr/>
          <p:nvPr/>
        </p:nvSpPr>
        <p:spPr>
          <a:xfrm>
            <a:off x="7493447" y="5011540"/>
            <a:ext cx="94268" cy="94268"/>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0" name="Connector: Elbow 99">
            <a:extLst>
              <a:ext uri="{FF2B5EF4-FFF2-40B4-BE49-F238E27FC236}">
                <a16:creationId xmlns:a16="http://schemas.microsoft.com/office/drawing/2014/main" id="{D0BED382-34EA-4006-BEAB-FDA474FFFA95}"/>
              </a:ext>
              <a:ext uri="{C183D7F6-B498-43B3-948B-1728B52AA6E4}">
                <adec:decorative xmlns:adec="http://schemas.microsoft.com/office/drawing/2017/decorative" val="1"/>
              </a:ext>
            </a:extLst>
          </p:cNvPr>
          <p:cNvCxnSpPr>
            <a:cxnSpLocks/>
            <a:stCxn id="73" idx="1"/>
            <a:endCxn id="75" idx="0"/>
          </p:cNvCxnSpPr>
          <p:nvPr/>
        </p:nvCxnSpPr>
        <p:spPr>
          <a:xfrm rot="10800000" flipV="1">
            <a:off x="6040961" y="1915623"/>
            <a:ext cx="2294044" cy="119590"/>
          </a:xfrm>
          <a:prstGeom prst="bentConnector2">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6D3DFA9F-6E1C-4E7E-834B-AD49DBBEAD6E}"/>
              </a:ext>
              <a:ext uri="{C183D7F6-B498-43B3-948B-1728B52AA6E4}">
                <adec:decorative xmlns:adec="http://schemas.microsoft.com/office/drawing/2017/decorative" val="1"/>
              </a:ext>
            </a:extLst>
          </p:cNvPr>
          <p:cNvCxnSpPr>
            <a:cxnSpLocks/>
            <a:stCxn id="69" idx="1"/>
            <a:endCxn id="94" idx="0"/>
          </p:cNvCxnSpPr>
          <p:nvPr/>
        </p:nvCxnSpPr>
        <p:spPr>
          <a:xfrm rot="10800000" flipV="1">
            <a:off x="7049569" y="2133060"/>
            <a:ext cx="1285436" cy="168259"/>
          </a:xfrm>
          <a:prstGeom prst="bentConnector2">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CB655F58-7325-4F39-8678-9A4E4654C901}"/>
              </a:ext>
              <a:ext uri="{C183D7F6-B498-43B3-948B-1728B52AA6E4}">
                <adec:decorative xmlns:adec="http://schemas.microsoft.com/office/drawing/2017/decorative" val="1"/>
              </a:ext>
            </a:extLst>
          </p:cNvPr>
          <p:cNvCxnSpPr>
            <a:cxnSpLocks/>
            <a:stCxn id="70" idx="1"/>
            <a:endCxn id="99" idx="4"/>
          </p:cNvCxnSpPr>
          <p:nvPr/>
        </p:nvCxnSpPr>
        <p:spPr>
          <a:xfrm rot="10800000">
            <a:off x="7540581" y="5105808"/>
            <a:ext cx="794424" cy="331842"/>
          </a:xfrm>
          <a:prstGeom prst="bentConnector2">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B096407-8ABA-4AC2-9B70-3CA7320B4CD8}"/>
              </a:ext>
              <a:ext uri="{C183D7F6-B498-43B3-948B-1728B52AA6E4}">
                <adec:decorative xmlns:adec="http://schemas.microsoft.com/office/drawing/2017/decorative" val="1"/>
              </a:ext>
            </a:extLst>
          </p:cNvPr>
          <p:cNvCxnSpPr>
            <a:cxnSpLocks/>
            <a:stCxn id="71" idx="1"/>
            <a:endCxn id="98" idx="6"/>
          </p:cNvCxnSpPr>
          <p:nvPr/>
        </p:nvCxnSpPr>
        <p:spPr>
          <a:xfrm flipH="1">
            <a:off x="6711894" y="5689325"/>
            <a:ext cx="1623111" cy="0"/>
          </a:xfrm>
          <a:prstGeom prst="line">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C3736416-33EA-41FA-AAD8-72A77ADEA4A6}"/>
              </a:ext>
              <a:ext uri="{C183D7F6-B498-43B3-948B-1728B52AA6E4}">
                <adec:decorative xmlns:adec="http://schemas.microsoft.com/office/drawing/2017/decorative" val="1"/>
              </a:ext>
            </a:extLst>
          </p:cNvPr>
          <p:cNvCxnSpPr>
            <a:cxnSpLocks/>
            <a:stCxn id="50" idx="3"/>
            <a:endCxn id="95" idx="4"/>
          </p:cNvCxnSpPr>
          <p:nvPr/>
        </p:nvCxnSpPr>
        <p:spPr>
          <a:xfrm flipV="1">
            <a:off x="3848801" y="5202288"/>
            <a:ext cx="870567" cy="487037"/>
          </a:xfrm>
          <a:prstGeom prst="bentConnector2">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CAC1489-441A-1E81-25B1-6B6FA2C48EFF}"/>
              </a:ext>
            </a:extLst>
          </p:cNvPr>
          <p:cNvSpPr txBox="1"/>
          <p:nvPr/>
        </p:nvSpPr>
        <p:spPr>
          <a:xfrm>
            <a:off x="758718" y="1212833"/>
            <a:ext cx="3455394" cy="2031325"/>
          </a:xfrm>
          <a:prstGeom prst="rect">
            <a:avLst/>
          </a:prstGeom>
          <a:noFill/>
        </p:spPr>
        <p:txBody>
          <a:bodyPr wrap="square" rtlCol="0">
            <a:spAutoFit/>
          </a:bodyPr>
          <a:lstStyle/>
          <a:p>
            <a:r>
              <a:rPr lang="en-US" dirty="0">
                <a:solidFill>
                  <a:schemeClr val="bg1"/>
                </a:solidFill>
              </a:rPr>
              <a:t>Telecom Egypt’s revenue increased from 31 to 88 billion EGP between 2020 and 2026, reflecting strong market expansion and digital transformation.</a:t>
            </a:r>
          </a:p>
          <a:p>
            <a:endParaRPr lang="en-US" dirty="0"/>
          </a:p>
        </p:txBody>
      </p:sp>
      <p:sp>
        <p:nvSpPr>
          <p:cNvPr id="112" name="Footer Placeholder 6">
            <a:extLst>
              <a:ext uri="{FF2B5EF4-FFF2-40B4-BE49-F238E27FC236}">
                <a16:creationId xmlns:a16="http://schemas.microsoft.com/office/drawing/2014/main" id="{21CA1573-5FFD-02FD-FBB0-2EF3AD8AFF19}"/>
              </a:ext>
            </a:extLst>
          </p:cNvPr>
          <p:cNvSpPr txBox="1">
            <a:spLocks/>
          </p:cNvSpPr>
          <p:nvPr/>
        </p:nvSpPr>
        <p:spPr>
          <a:xfrm>
            <a:off x="457201" y="5929849"/>
            <a:ext cx="11362616" cy="689994"/>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Eng. Ola Elsheikh </a:t>
            </a:r>
            <a:r>
              <a:rPr lang="ar-EG" dirty="0"/>
              <a:t>            </a:t>
            </a:r>
            <a:r>
              <a:rPr lang="en-US" dirty="0"/>
              <a:t>                                                                                                                                         </a:t>
            </a:r>
            <a:r>
              <a:rPr lang="ar-EG" dirty="0"/>
              <a:t>                                                                                                           </a:t>
            </a:r>
            <a:r>
              <a:rPr lang="en-US" dirty="0"/>
              <a:t>Governance &amp; Digital Transformation Ambassadors Program </a:t>
            </a:r>
          </a:p>
          <a:p>
            <a:endParaRPr lang="en-US" dirty="0"/>
          </a:p>
        </p:txBody>
      </p:sp>
    </p:spTree>
    <p:extLst>
      <p:ext uri="{BB962C8B-B14F-4D97-AF65-F5344CB8AC3E}">
        <p14:creationId xmlns:p14="http://schemas.microsoft.com/office/powerpoint/2010/main" val="7137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125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250" fill="hold"/>
                                        <p:tgtEl>
                                          <p:spTgt spid="2"/>
                                        </p:tgtEl>
                                        <p:attrNameLst>
                                          <p:attrName>ppt_x</p:attrName>
                                        </p:attrNameLst>
                                      </p:cBhvr>
                                      <p:tavLst>
                                        <p:tav tm="0">
                                          <p:val>
                                            <p:strVal val="#ppt_x"/>
                                          </p:val>
                                        </p:tav>
                                        <p:tav tm="100000">
                                          <p:val>
                                            <p:strVal val="#ppt_x"/>
                                          </p:val>
                                        </p:tav>
                                      </p:tavLst>
                                    </p:anim>
                                    <p:anim calcmode="lin" valueType="num">
                                      <p:cBhvr additive="base">
                                        <p:cTn id="13" dur="2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5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down)">
                                      <p:cBhvr>
                                        <p:cTn id="23" dur="10"/>
                                        <p:tgtEl>
                                          <p:spTgt spid="5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ipe(down)">
                                      <p:cBhvr>
                                        <p:cTn id="28" dur="1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down)">
                                      <p:cBhvr>
                                        <p:cTn id="33" dur="10"/>
                                        <p:tgtEl>
                                          <p:spTgt spid="5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wipe(down)">
                                      <p:cBhvr>
                                        <p:cTn id="38" dur="10"/>
                                        <p:tgtEl>
                                          <p:spTgt spid="6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73"/>
                                        </p:tgtEl>
                                        <p:attrNameLst>
                                          <p:attrName>style.visibility</p:attrName>
                                        </p:attrNameLst>
                                      </p:cBhvr>
                                      <p:to>
                                        <p:strVal val="visible"/>
                                      </p:to>
                                    </p:set>
                                    <p:animEffect transition="in" filter="wipe(down)">
                                      <p:cBhvr>
                                        <p:cTn id="43" dur="10"/>
                                        <p:tgtEl>
                                          <p:spTgt spid="7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wipe(down)">
                                      <p:cBhvr>
                                        <p:cTn id="48" dur="1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71"/>
                                        </p:tgtEl>
                                        <p:attrNameLst>
                                          <p:attrName>style.visibility</p:attrName>
                                        </p:attrNameLst>
                                      </p:cBhvr>
                                      <p:to>
                                        <p:strVal val="visible"/>
                                      </p:to>
                                    </p:set>
                                    <p:animEffect transition="in" filter="wipe(down)">
                                      <p:cBhvr>
                                        <p:cTn id="53" dur="1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32" grpId="0">
        <p:bldAsOne/>
      </p:bldGraphic>
      <p:bldP spid="50" grpId="0"/>
      <p:bldP spid="51" grpId="0"/>
      <p:bldP spid="52" grpId="0"/>
      <p:bldP spid="69" grpId="0"/>
      <p:bldP spid="70" grpId="0"/>
      <p:bldP spid="71" grpId="0"/>
      <p:bldP spid="7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5C84B00A-2062-4E70-8AD4-A114464A66DC}"/>
              </a:ext>
              <a:ext uri="{C183D7F6-B498-43B3-948B-1728B52AA6E4}">
                <adec:decorative xmlns:adec="http://schemas.microsoft.com/office/drawing/2017/decorative" val="1"/>
              </a:ext>
            </a:extLst>
          </p:cNvPr>
          <p:cNvSpPr/>
          <p:nvPr/>
        </p:nvSpPr>
        <p:spPr>
          <a:xfrm>
            <a:off x="764584" y="2238573"/>
            <a:ext cx="10629202" cy="2291045"/>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AD429F02-7E8D-405F-86D3-2E794F83D8FE}"/>
              </a:ext>
            </a:extLst>
          </p:cNvPr>
          <p:cNvSpPr>
            <a:spLocks noGrp="1"/>
          </p:cNvSpPr>
          <p:nvPr>
            <p:ph type="sldNum" sz="quarter" idx="11"/>
          </p:nvPr>
        </p:nvSpPr>
        <p:spPr/>
        <p:txBody>
          <a:bodyPr/>
          <a:lstStyle/>
          <a:p>
            <a:fld id="{EECC7194-A4D0-457B-9D3E-53681723AFF7}" type="slidenum">
              <a:rPr lang="en-US" smtClean="0"/>
              <a:pPr/>
              <a:t>5</a:t>
            </a:fld>
            <a:endParaRPr lang="en-US" dirty="0"/>
          </a:p>
        </p:txBody>
      </p:sp>
      <p:sp>
        <p:nvSpPr>
          <p:cNvPr id="3" name="Text Placeholder 2">
            <a:extLst>
              <a:ext uri="{FF2B5EF4-FFF2-40B4-BE49-F238E27FC236}">
                <a16:creationId xmlns:a16="http://schemas.microsoft.com/office/drawing/2014/main" id="{1D7C3B75-767E-4A8C-803F-FA7025A67F7C}"/>
              </a:ext>
            </a:extLst>
          </p:cNvPr>
          <p:cNvSpPr>
            <a:spLocks noGrp="1"/>
          </p:cNvSpPr>
          <p:nvPr>
            <p:ph type="body" sz="quarter" idx="13"/>
          </p:nvPr>
        </p:nvSpPr>
        <p:spPr>
          <a:xfrm>
            <a:off x="1290469" y="3383268"/>
            <a:ext cx="2171829" cy="941207"/>
          </a:xfrm>
        </p:spPr>
        <p:txBody>
          <a:bodyPr/>
          <a:lstStyle/>
          <a:p>
            <a:r>
              <a:rPr lang="en-US" dirty="0"/>
              <a:t>Collecting data from annual reports, public disclosures, and industry benchmarks to build the assessment foundation.</a:t>
            </a:r>
          </a:p>
        </p:txBody>
      </p:sp>
      <p:sp>
        <p:nvSpPr>
          <p:cNvPr id="4" name="Text Placeholder 3">
            <a:extLst>
              <a:ext uri="{FF2B5EF4-FFF2-40B4-BE49-F238E27FC236}">
                <a16:creationId xmlns:a16="http://schemas.microsoft.com/office/drawing/2014/main" id="{019EEC6C-3C57-4B01-80D3-53DFDB5F7853}"/>
              </a:ext>
            </a:extLst>
          </p:cNvPr>
          <p:cNvSpPr>
            <a:spLocks noGrp="1"/>
          </p:cNvSpPr>
          <p:nvPr>
            <p:ph type="body" sz="quarter" idx="14"/>
          </p:nvPr>
        </p:nvSpPr>
        <p:spPr>
          <a:xfrm>
            <a:off x="1303794" y="3005055"/>
            <a:ext cx="2034138" cy="360445"/>
          </a:xfrm>
        </p:spPr>
        <p:txBody>
          <a:bodyPr/>
          <a:lstStyle/>
          <a:p>
            <a:r>
              <a:rPr lang="en-US" dirty="0"/>
              <a:t>Data Collection</a:t>
            </a:r>
            <a:endParaRPr lang="en-US" noProof="1"/>
          </a:p>
        </p:txBody>
      </p:sp>
      <p:sp>
        <p:nvSpPr>
          <p:cNvPr id="5" name="Text Placeholder 4">
            <a:extLst>
              <a:ext uri="{FF2B5EF4-FFF2-40B4-BE49-F238E27FC236}">
                <a16:creationId xmlns:a16="http://schemas.microsoft.com/office/drawing/2014/main" id="{1F60D19E-57E1-4373-8049-5E1098419094}"/>
              </a:ext>
            </a:extLst>
          </p:cNvPr>
          <p:cNvSpPr>
            <a:spLocks noGrp="1"/>
          </p:cNvSpPr>
          <p:nvPr>
            <p:ph type="body" sz="quarter" idx="15"/>
          </p:nvPr>
        </p:nvSpPr>
        <p:spPr>
          <a:xfrm>
            <a:off x="5078931" y="3483979"/>
            <a:ext cx="2034138" cy="873723"/>
          </a:xfrm>
        </p:spPr>
        <p:txBody>
          <a:bodyPr/>
          <a:lstStyle/>
          <a:p>
            <a:r>
              <a:rPr lang="en-US" dirty="0"/>
              <a:t>Evaluating organizational strengths, weaknesses, opportunities, and threats affecting strategic performance.</a:t>
            </a:r>
          </a:p>
        </p:txBody>
      </p:sp>
      <p:sp>
        <p:nvSpPr>
          <p:cNvPr id="6" name="Text Placeholder 5">
            <a:extLst>
              <a:ext uri="{FF2B5EF4-FFF2-40B4-BE49-F238E27FC236}">
                <a16:creationId xmlns:a16="http://schemas.microsoft.com/office/drawing/2014/main" id="{C2FD735F-3532-48E3-982E-20E3B7CD4E77}"/>
              </a:ext>
            </a:extLst>
          </p:cNvPr>
          <p:cNvSpPr>
            <a:spLocks noGrp="1"/>
          </p:cNvSpPr>
          <p:nvPr>
            <p:ph type="body" sz="quarter" idx="16"/>
          </p:nvPr>
        </p:nvSpPr>
        <p:spPr>
          <a:xfrm>
            <a:off x="5078931" y="3005055"/>
            <a:ext cx="2034138" cy="360445"/>
          </a:xfrm>
        </p:spPr>
        <p:txBody>
          <a:bodyPr/>
          <a:lstStyle/>
          <a:p>
            <a:r>
              <a:rPr lang="en-US" dirty="0"/>
              <a:t>SWOT Analysis</a:t>
            </a:r>
            <a:endParaRPr lang="en-US" noProof="1"/>
          </a:p>
        </p:txBody>
      </p:sp>
      <p:sp>
        <p:nvSpPr>
          <p:cNvPr id="7" name="Text Placeholder 6">
            <a:extLst>
              <a:ext uri="{FF2B5EF4-FFF2-40B4-BE49-F238E27FC236}">
                <a16:creationId xmlns:a16="http://schemas.microsoft.com/office/drawing/2014/main" id="{EF36C327-EB57-4A15-A015-B46391E9E732}"/>
              </a:ext>
            </a:extLst>
          </p:cNvPr>
          <p:cNvSpPr>
            <a:spLocks noGrp="1"/>
          </p:cNvSpPr>
          <p:nvPr>
            <p:ph type="body" sz="quarter" idx="17"/>
          </p:nvPr>
        </p:nvSpPr>
        <p:spPr>
          <a:xfrm>
            <a:off x="8828931" y="3407563"/>
            <a:ext cx="2171828" cy="1018158"/>
          </a:xfrm>
        </p:spPr>
        <p:txBody>
          <a:bodyPr/>
          <a:lstStyle/>
          <a:p>
            <a:r>
              <a:rPr lang="en-US" dirty="0"/>
              <a:t>Identifying key stakeholders and analyzing their influence, interest, and impact on governance decisions.</a:t>
            </a:r>
          </a:p>
        </p:txBody>
      </p:sp>
      <p:sp>
        <p:nvSpPr>
          <p:cNvPr id="8" name="Text Placeholder 7">
            <a:extLst>
              <a:ext uri="{FF2B5EF4-FFF2-40B4-BE49-F238E27FC236}">
                <a16:creationId xmlns:a16="http://schemas.microsoft.com/office/drawing/2014/main" id="{C4044465-8F5D-4E03-90E0-7A3034CF8A69}"/>
              </a:ext>
            </a:extLst>
          </p:cNvPr>
          <p:cNvSpPr>
            <a:spLocks noGrp="1"/>
          </p:cNvSpPr>
          <p:nvPr>
            <p:ph type="body" sz="quarter" idx="18"/>
          </p:nvPr>
        </p:nvSpPr>
        <p:spPr>
          <a:xfrm>
            <a:off x="8828931" y="3005055"/>
            <a:ext cx="2034138" cy="360445"/>
          </a:xfrm>
        </p:spPr>
        <p:txBody>
          <a:bodyPr/>
          <a:lstStyle/>
          <a:p>
            <a:r>
              <a:rPr lang="en-US" dirty="0"/>
              <a:t>Stakeholder Analysis</a:t>
            </a:r>
            <a:endParaRPr lang="en-US" noProof="1"/>
          </a:p>
        </p:txBody>
      </p:sp>
      <p:sp>
        <p:nvSpPr>
          <p:cNvPr id="12" name="Text Placeholder 11">
            <a:extLst>
              <a:ext uri="{FF2B5EF4-FFF2-40B4-BE49-F238E27FC236}">
                <a16:creationId xmlns:a16="http://schemas.microsoft.com/office/drawing/2014/main" id="{AF5648F8-8F3A-42B3-BEE2-8FFE23B20945}"/>
              </a:ext>
            </a:extLst>
          </p:cNvPr>
          <p:cNvSpPr>
            <a:spLocks noGrp="1"/>
          </p:cNvSpPr>
          <p:nvPr>
            <p:ph type="body" sz="quarter" idx="26"/>
          </p:nvPr>
        </p:nvSpPr>
        <p:spPr>
          <a:xfrm>
            <a:off x="3221880" y="5639546"/>
            <a:ext cx="2059277" cy="1084004"/>
          </a:xfrm>
        </p:spPr>
        <p:txBody>
          <a:bodyPr/>
          <a:lstStyle/>
          <a:p>
            <a:r>
              <a:rPr lang="en-US" dirty="0"/>
              <a:t>Assessing governance principles using a maturity scoring model based on qualitative evaluation.</a:t>
            </a:r>
          </a:p>
        </p:txBody>
      </p:sp>
      <p:sp>
        <p:nvSpPr>
          <p:cNvPr id="13" name="Text Placeholder 12">
            <a:extLst>
              <a:ext uri="{FF2B5EF4-FFF2-40B4-BE49-F238E27FC236}">
                <a16:creationId xmlns:a16="http://schemas.microsoft.com/office/drawing/2014/main" id="{756F0BBC-32F1-4620-B380-877B895D8342}"/>
              </a:ext>
            </a:extLst>
          </p:cNvPr>
          <p:cNvSpPr>
            <a:spLocks noGrp="1"/>
          </p:cNvSpPr>
          <p:nvPr>
            <p:ph type="body" sz="quarter" idx="27"/>
          </p:nvPr>
        </p:nvSpPr>
        <p:spPr>
          <a:xfrm>
            <a:off x="3185078" y="5334150"/>
            <a:ext cx="2034138" cy="360445"/>
          </a:xfrm>
        </p:spPr>
        <p:txBody>
          <a:bodyPr/>
          <a:lstStyle/>
          <a:p>
            <a:r>
              <a:rPr lang="en-US" dirty="0"/>
              <a:t>Governance Scoring</a:t>
            </a:r>
            <a:endParaRPr lang="en-US" noProof="1"/>
          </a:p>
        </p:txBody>
      </p:sp>
      <p:sp>
        <p:nvSpPr>
          <p:cNvPr id="14" name="Text Placeholder 13">
            <a:extLst>
              <a:ext uri="{FF2B5EF4-FFF2-40B4-BE49-F238E27FC236}">
                <a16:creationId xmlns:a16="http://schemas.microsoft.com/office/drawing/2014/main" id="{5B295A8B-B83E-4EE4-8FA9-BA532E65E574}"/>
              </a:ext>
            </a:extLst>
          </p:cNvPr>
          <p:cNvSpPr>
            <a:spLocks noGrp="1"/>
          </p:cNvSpPr>
          <p:nvPr>
            <p:ph type="body" sz="quarter" idx="28"/>
          </p:nvPr>
        </p:nvSpPr>
        <p:spPr>
          <a:xfrm>
            <a:off x="6947645" y="5736658"/>
            <a:ext cx="2059277" cy="985771"/>
          </a:xfrm>
        </p:spPr>
        <p:txBody>
          <a:bodyPr/>
          <a:lstStyle/>
          <a:p>
            <a:r>
              <a:rPr lang="en-US" dirty="0"/>
              <a:t>Identifying major risks and evaluating their probability and impact on organizational sustainability.</a:t>
            </a:r>
          </a:p>
        </p:txBody>
      </p:sp>
      <p:sp>
        <p:nvSpPr>
          <p:cNvPr id="15" name="Text Placeholder 14">
            <a:extLst>
              <a:ext uri="{FF2B5EF4-FFF2-40B4-BE49-F238E27FC236}">
                <a16:creationId xmlns:a16="http://schemas.microsoft.com/office/drawing/2014/main" id="{6A12FCC6-43B7-4221-A65B-003F82F88161}"/>
              </a:ext>
            </a:extLst>
          </p:cNvPr>
          <p:cNvSpPr>
            <a:spLocks noGrp="1"/>
          </p:cNvSpPr>
          <p:nvPr>
            <p:ph type="body" sz="quarter" idx="29"/>
          </p:nvPr>
        </p:nvSpPr>
        <p:spPr>
          <a:xfrm>
            <a:off x="6947646" y="5334150"/>
            <a:ext cx="2034138" cy="360445"/>
          </a:xfrm>
        </p:spPr>
        <p:txBody>
          <a:bodyPr/>
          <a:lstStyle/>
          <a:p>
            <a:r>
              <a:rPr lang="en-US" dirty="0"/>
              <a:t>Risk Assessment</a:t>
            </a:r>
            <a:endParaRPr lang="en-US" noProof="1"/>
          </a:p>
        </p:txBody>
      </p:sp>
      <p:sp>
        <p:nvSpPr>
          <p:cNvPr id="21" name="Title 20">
            <a:extLst>
              <a:ext uri="{FF2B5EF4-FFF2-40B4-BE49-F238E27FC236}">
                <a16:creationId xmlns:a16="http://schemas.microsoft.com/office/drawing/2014/main" id="{BC5F3A4A-2857-4A67-818B-E62AB2121E48}"/>
              </a:ext>
            </a:extLst>
          </p:cNvPr>
          <p:cNvSpPr>
            <a:spLocks noGrp="1"/>
          </p:cNvSpPr>
          <p:nvPr>
            <p:ph type="title"/>
          </p:nvPr>
        </p:nvSpPr>
        <p:spPr>
          <a:xfrm>
            <a:off x="345762" y="799702"/>
            <a:ext cx="7560000" cy="370166"/>
          </a:xfrm>
        </p:spPr>
        <p:txBody>
          <a:bodyPr/>
          <a:lstStyle/>
          <a:p>
            <a:r>
              <a:rPr lang="en-US" dirty="0"/>
              <a:t>Assessment Methodology</a:t>
            </a:r>
          </a:p>
        </p:txBody>
      </p:sp>
      <p:sp>
        <p:nvSpPr>
          <p:cNvPr id="22" name="object 7" descr="Beige rectangle">
            <a:extLst>
              <a:ext uri="{FF2B5EF4-FFF2-40B4-BE49-F238E27FC236}">
                <a16:creationId xmlns:a16="http://schemas.microsoft.com/office/drawing/2014/main" id="{FEEE4553-844E-49F9-8166-2F2E938E3677}"/>
              </a:ext>
            </a:extLst>
          </p:cNvPr>
          <p:cNvSpPr/>
          <p:nvPr/>
        </p:nvSpPr>
        <p:spPr bwMode="white">
          <a:xfrm flipV="1">
            <a:off x="722099" y="12770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53" name="Rectangle 52">
            <a:extLst>
              <a:ext uri="{FF2B5EF4-FFF2-40B4-BE49-F238E27FC236}">
                <a16:creationId xmlns:a16="http://schemas.microsoft.com/office/drawing/2014/main" id="{AA951CEE-7CE6-4A91-B2A1-B443273C6F3E}"/>
              </a:ext>
              <a:ext uri="{C183D7F6-B498-43B3-948B-1728B52AA6E4}">
                <adec:decorative xmlns:adec="http://schemas.microsoft.com/office/drawing/2017/decorative" val="1"/>
              </a:ext>
            </a:extLst>
          </p:cNvPr>
          <p:cNvSpPr/>
          <p:nvPr/>
        </p:nvSpPr>
        <p:spPr>
          <a:xfrm>
            <a:off x="1594339" y="1841895"/>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B085FEF7-45BC-4B49-8329-097F23476A6A}"/>
              </a:ext>
              <a:ext uri="{C183D7F6-B498-43B3-948B-1728B52AA6E4}">
                <adec:decorative xmlns:adec="http://schemas.microsoft.com/office/drawing/2017/decorative" val="1"/>
              </a:ext>
            </a:extLst>
          </p:cNvPr>
          <p:cNvSpPr/>
          <p:nvPr/>
        </p:nvSpPr>
        <p:spPr>
          <a:xfrm>
            <a:off x="9119476" y="1841895"/>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5CCC7563-285F-46AC-90A3-8D8D6F494498}"/>
              </a:ext>
              <a:ext uri="{C183D7F6-B498-43B3-948B-1728B52AA6E4}">
                <adec:decorative xmlns:adec="http://schemas.microsoft.com/office/drawing/2017/decorative" val="1"/>
              </a:ext>
            </a:extLst>
          </p:cNvPr>
          <p:cNvSpPr/>
          <p:nvPr/>
        </p:nvSpPr>
        <p:spPr>
          <a:xfrm>
            <a:off x="3475623" y="4170990"/>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23D892D7-D87B-407B-85EF-921DF3E196A0}"/>
              </a:ext>
              <a:ext uri="{C183D7F6-B498-43B3-948B-1728B52AA6E4}">
                <adec:decorative xmlns:adec="http://schemas.microsoft.com/office/drawing/2017/decorative" val="1"/>
              </a:ext>
            </a:extLst>
          </p:cNvPr>
          <p:cNvSpPr/>
          <p:nvPr/>
        </p:nvSpPr>
        <p:spPr>
          <a:xfrm>
            <a:off x="7238191" y="4170990"/>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01A47850-696A-4153-953F-D3D2FB5C31A9}"/>
              </a:ext>
              <a:ext uri="{C183D7F6-B498-43B3-948B-1728B52AA6E4}">
                <adec:decorative xmlns:adec="http://schemas.microsoft.com/office/drawing/2017/decorative" val="1"/>
              </a:ext>
            </a:extLst>
          </p:cNvPr>
          <p:cNvSpPr/>
          <p:nvPr/>
        </p:nvSpPr>
        <p:spPr>
          <a:xfrm>
            <a:off x="5369476" y="1841895"/>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a:extLst>
              <a:ext uri="{FF2B5EF4-FFF2-40B4-BE49-F238E27FC236}">
                <a16:creationId xmlns:a16="http://schemas.microsoft.com/office/drawing/2014/main" id="{7F56A979-DEC2-9C1C-4E5F-44481C816365}"/>
              </a:ext>
            </a:extLst>
          </p:cNvPr>
          <p:cNvPicPr>
            <a:picLocks noChangeAspect="1"/>
          </p:cNvPicPr>
          <p:nvPr/>
        </p:nvPicPr>
        <p:blipFill>
          <a:blip r:embed="rId3"/>
          <a:srcRect l="2080" t="36491" r="80361" b="25543"/>
          <a:stretch>
            <a:fillRect/>
          </a:stretch>
        </p:blipFill>
        <p:spPr>
          <a:xfrm>
            <a:off x="1702164" y="1607376"/>
            <a:ext cx="1237398" cy="1415309"/>
          </a:xfrm>
          <a:prstGeom prst="rect">
            <a:avLst/>
          </a:prstGeom>
        </p:spPr>
      </p:pic>
      <p:pic>
        <p:nvPicPr>
          <p:cNvPr id="29" name="Picture 28">
            <a:extLst>
              <a:ext uri="{FF2B5EF4-FFF2-40B4-BE49-F238E27FC236}">
                <a16:creationId xmlns:a16="http://schemas.microsoft.com/office/drawing/2014/main" id="{64952A56-E202-5A83-0CB9-A71DF0CAF7CA}"/>
              </a:ext>
            </a:extLst>
          </p:cNvPr>
          <p:cNvPicPr>
            <a:picLocks noChangeAspect="1"/>
          </p:cNvPicPr>
          <p:nvPr/>
        </p:nvPicPr>
        <p:blipFill>
          <a:blip r:embed="rId4"/>
          <a:srcRect l="22622" t="30184" r="58847" b="37051"/>
          <a:stretch>
            <a:fillRect/>
          </a:stretch>
        </p:blipFill>
        <p:spPr>
          <a:xfrm>
            <a:off x="5452135" y="1688883"/>
            <a:ext cx="1370389" cy="1316172"/>
          </a:xfrm>
          <a:prstGeom prst="rect">
            <a:avLst/>
          </a:prstGeom>
        </p:spPr>
      </p:pic>
      <p:pic>
        <p:nvPicPr>
          <p:cNvPr id="35" name="Picture 34">
            <a:extLst>
              <a:ext uri="{FF2B5EF4-FFF2-40B4-BE49-F238E27FC236}">
                <a16:creationId xmlns:a16="http://schemas.microsoft.com/office/drawing/2014/main" id="{441DA952-0E61-D749-BB7E-F239D8D2BF86}"/>
              </a:ext>
            </a:extLst>
          </p:cNvPr>
          <p:cNvPicPr>
            <a:picLocks noChangeAspect="1"/>
          </p:cNvPicPr>
          <p:nvPr/>
        </p:nvPicPr>
        <p:blipFill>
          <a:blip r:embed="rId4"/>
          <a:srcRect l="41065" t="29290" r="36446" b="35317"/>
          <a:stretch>
            <a:fillRect/>
          </a:stretch>
        </p:blipFill>
        <p:spPr>
          <a:xfrm>
            <a:off x="8981784" y="1592413"/>
            <a:ext cx="1672967" cy="1430272"/>
          </a:xfrm>
          <a:prstGeom prst="rect">
            <a:avLst/>
          </a:prstGeom>
        </p:spPr>
      </p:pic>
      <p:pic>
        <p:nvPicPr>
          <p:cNvPr id="41" name="Picture 40">
            <a:extLst>
              <a:ext uri="{FF2B5EF4-FFF2-40B4-BE49-F238E27FC236}">
                <a16:creationId xmlns:a16="http://schemas.microsoft.com/office/drawing/2014/main" id="{DCB9FB03-5571-506B-F67D-50161C8E9765}"/>
              </a:ext>
            </a:extLst>
          </p:cNvPr>
          <p:cNvPicPr>
            <a:picLocks noChangeAspect="1"/>
          </p:cNvPicPr>
          <p:nvPr/>
        </p:nvPicPr>
        <p:blipFill>
          <a:blip r:embed="rId4"/>
          <a:srcRect l="65037" t="31601" r="19029" b="36365"/>
          <a:stretch>
            <a:fillRect/>
          </a:stretch>
        </p:blipFill>
        <p:spPr>
          <a:xfrm>
            <a:off x="3549228" y="3780282"/>
            <a:ext cx="1404579" cy="1533951"/>
          </a:xfrm>
          <a:prstGeom prst="rect">
            <a:avLst/>
          </a:prstGeom>
        </p:spPr>
      </p:pic>
      <p:pic>
        <p:nvPicPr>
          <p:cNvPr id="43" name="Picture 42">
            <a:extLst>
              <a:ext uri="{FF2B5EF4-FFF2-40B4-BE49-F238E27FC236}">
                <a16:creationId xmlns:a16="http://schemas.microsoft.com/office/drawing/2014/main" id="{ECD75BE3-03AC-90A1-D4E0-D5A2C5AA40DB}"/>
              </a:ext>
            </a:extLst>
          </p:cNvPr>
          <p:cNvPicPr>
            <a:picLocks noChangeAspect="1"/>
          </p:cNvPicPr>
          <p:nvPr/>
        </p:nvPicPr>
        <p:blipFill>
          <a:blip r:embed="rId4"/>
          <a:srcRect l="82936" t="31149" r="2604" b="37268"/>
          <a:stretch>
            <a:fillRect/>
          </a:stretch>
        </p:blipFill>
        <p:spPr>
          <a:xfrm>
            <a:off x="7211375" y="3646769"/>
            <a:ext cx="1405449" cy="1667464"/>
          </a:xfrm>
          <a:prstGeom prst="rect">
            <a:avLst/>
          </a:prstGeom>
        </p:spPr>
      </p:pic>
      <p:sp>
        <p:nvSpPr>
          <p:cNvPr id="44" name="Footer Placeholder 6">
            <a:extLst>
              <a:ext uri="{FF2B5EF4-FFF2-40B4-BE49-F238E27FC236}">
                <a16:creationId xmlns:a16="http://schemas.microsoft.com/office/drawing/2014/main" id="{D6D0E0D3-FFB9-50A1-D880-5637E107CA0A}"/>
              </a:ext>
            </a:extLst>
          </p:cNvPr>
          <p:cNvSpPr txBox="1">
            <a:spLocks/>
          </p:cNvSpPr>
          <p:nvPr/>
        </p:nvSpPr>
        <p:spPr>
          <a:xfrm>
            <a:off x="345762" y="6164483"/>
            <a:ext cx="11500475" cy="557946"/>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Eng. Ola Elsheikh </a:t>
            </a:r>
            <a:r>
              <a:rPr lang="ar-EG" dirty="0"/>
              <a:t>            </a:t>
            </a:r>
            <a:r>
              <a:rPr lang="en-US" dirty="0"/>
              <a:t>                                                                                                                                         </a:t>
            </a:r>
            <a:r>
              <a:rPr lang="ar-EG" dirty="0"/>
              <a:t>  </a:t>
            </a:r>
            <a:r>
              <a:rPr lang="en-US" dirty="0"/>
              <a:t>                  </a:t>
            </a:r>
            <a:r>
              <a:rPr lang="ar-EG" dirty="0"/>
              <a:t>                                                                                                         </a:t>
            </a:r>
            <a:r>
              <a:rPr lang="en-US" dirty="0"/>
              <a:t>Governance &amp; Digital Transformation Ambassadors Program </a:t>
            </a:r>
          </a:p>
          <a:p>
            <a:endParaRPr lang="en-US" dirty="0"/>
          </a:p>
        </p:txBody>
      </p:sp>
    </p:spTree>
    <p:extLst>
      <p:ext uri="{BB962C8B-B14F-4D97-AF65-F5344CB8AC3E}">
        <p14:creationId xmlns:p14="http://schemas.microsoft.com/office/powerpoint/2010/main" val="78640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2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250" fill="hold"/>
                                        <p:tgtEl>
                                          <p:spTgt spid="21"/>
                                        </p:tgtEl>
                                        <p:attrNameLst>
                                          <p:attrName>ppt_x</p:attrName>
                                        </p:attrNameLst>
                                      </p:cBhvr>
                                      <p:tavLst>
                                        <p:tav tm="0">
                                          <p:val>
                                            <p:strVal val="#ppt_x"/>
                                          </p:val>
                                        </p:tav>
                                        <p:tav tm="100000">
                                          <p:val>
                                            <p:strVal val="#ppt_x"/>
                                          </p:val>
                                        </p:tav>
                                      </p:tavLst>
                                    </p:anim>
                                    <p:anim calcmode="lin" valueType="num">
                                      <p:cBhvr additive="base">
                                        <p:cTn id="13" dur="25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down)">
                                      <p:cBhvr>
                                        <p:cTn id="18" dur="25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down)">
                                      <p:cBhvr>
                                        <p:cTn id="23" dur="250"/>
                                        <p:tgtEl>
                                          <p:spTgt spid="3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down)">
                                      <p:cBhvr>
                                        <p:cTn id="28" dur="25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wipe(down)">
                                      <p:cBhvr>
                                        <p:cTn id="33" dur="25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4">
                                            <p:bg/>
                                          </p:spTgt>
                                        </p:tgtEl>
                                        <p:attrNameLst>
                                          <p:attrName>style.visibility</p:attrName>
                                        </p:attrNameLst>
                                      </p:cBhvr>
                                      <p:to>
                                        <p:strVal val="visible"/>
                                      </p:to>
                                    </p:set>
                                    <p:animEffect transition="in" filter="fade">
                                      <p:cBhvr>
                                        <p:cTn id="38" dur="250"/>
                                        <p:tgtEl>
                                          <p:spTgt spid="4">
                                            <p:bg/>
                                          </p:spTgt>
                                        </p:tgtEl>
                                      </p:cBhvr>
                                    </p:animEffect>
                                    <p:anim calcmode="lin" valueType="num">
                                      <p:cBhvr>
                                        <p:cTn id="39" dur="250" fill="hold"/>
                                        <p:tgtEl>
                                          <p:spTgt spid="4">
                                            <p:bg/>
                                          </p:spTgt>
                                        </p:tgtEl>
                                        <p:attrNameLst>
                                          <p:attrName>ppt_x</p:attrName>
                                        </p:attrNameLst>
                                      </p:cBhvr>
                                      <p:tavLst>
                                        <p:tav tm="0">
                                          <p:val>
                                            <p:strVal val="#ppt_x"/>
                                          </p:val>
                                        </p:tav>
                                        <p:tav tm="100000">
                                          <p:val>
                                            <p:strVal val="#ppt_x"/>
                                          </p:val>
                                        </p:tav>
                                      </p:tavLst>
                                    </p:anim>
                                    <p:anim calcmode="lin" valueType="num">
                                      <p:cBhvr>
                                        <p:cTn id="40" dur="25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4">
                                            <p:txEl>
                                              <p:pRg st="0" end="0"/>
                                            </p:txEl>
                                          </p:spTgt>
                                        </p:tgtEl>
                                        <p:attrNameLst>
                                          <p:attrName>style.visibility</p:attrName>
                                        </p:attrNameLst>
                                      </p:cBhvr>
                                      <p:to>
                                        <p:strVal val="visible"/>
                                      </p:to>
                                    </p:set>
                                    <p:animEffect transition="in" filter="fade">
                                      <p:cBhvr>
                                        <p:cTn id="45" dur="250"/>
                                        <p:tgtEl>
                                          <p:spTgt spid="4">
                                            <p:txEl>
                                              <p:pRg st="0" end="0"/>
                                            </p:txEl>
                                          </p:spTgt>
                                        </p:tgtEl>
                                      </p:cBhvr>
                                    </p:animEffect>
                                    <p:anim calcmode="lin" valueType="num">
                                      <p:cBhvr>
                                        <p:cTn id="46" dur="25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7" dur="25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6">
                                            <p:bg/>
                                          </p:spTgt>
                                        </p:tgtEl>
                                        <p:attrNameLst>
                                          <p:attrName>style.visibility</p:attrName>
                                        </p:attrNameLst>
                                      </p:cBhvr>
                                      <p:to>
                                        <p:strVal val="visible"/>
                                      </p:to>
                                    </p:set>
                                    <p:animEffect transition="in" filter="fade">
                                      <p:cBhvr>
                                        <p:cTn id="52" dur="250"/>
                                        <p:tgtEl>
                                          <p:spTgt spid="6">
                                            <p:bg/>
                                          </p:spTgt>
                                        </p:tgtEl>
                                      </p:cBhvr>
                                    </p:animEffect>
                                    <p:anim calcmode="lin" valueType="num">
                                      <p:cBhvr>
                                        <p:cTn id="53" dur="250" fill="hold"/>
                                        <p:tgtEl>
                                          <p:spTgt spid="6">
                                            <p:bg/>
                                          </p:spTgt>
                                        </p:tgtEl>
                                        <p:attrNameLst>
                                          <p:attrName>ppt_x</p:attrName>
                                        </p:attrNameLst>
                                      </p:cBhvr>
                                      <p:tavLst>
                                        <p:tav tm="0">
                                          <p:val>
                                            <p:strVal val="#ppt_x"/>
                                          </p:val>
                                        </p:tav>
                                        <p:tav tm="100000">
                                          <p:val>
                                            <p:strVal val="#ppt_x"/>
                                          </p:val>
                                        </p:tav>
                                      </p:tavLst>
                                    </p:anim>
                                    <p:anim calcmode="lin" valueType="num">
                                      <p:cBhvr>
                                        <p:cTn id="54" dur="25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6">
                                            <p:txEl>
                                              <p:pRg st="0" end="0"/>
                                            </p:txEl>
                                          </p:spTgt>
                                        </p:tgtEl>
                                        <p:attrNameLst>
                                          <p:attrName>style.visibility</p:attrName>
                                        </p:attrNameLst>
                                      </p:cBhvr>
                                      <p:to>
                                        <p:strVal val="visible"/>
                                      </p:to>
                                    </p:set>
                                    <p:animEffect transition="in" filter="fade">
                                      <p:cBhvr>
                                        <p:cTn id="59" dur="250"/>
                                        <p:tgtEl>
                                          <p:spTgt spid="6">
                                            <p:txEl>
                                              <p:pRg st="0" end="0"/>
                                            </p:txEl>
                                          </p:spTgt>
                                        </p:tgtEl>
                                      </p:cBhvr>
                                    </p:animEffect>
                                    <p:anim calcmode="lin" valueType="num">
                                      <p:cBhvr>
                                        <p:cTn id="60" dur="25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61" dur="25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8">
                                            <p:bg/>
                                          </p:spTgt>
                                        </p:tgtEl>
                                        <p:attrNameLst>
                                          <p:attrName>style.visibility</p:attrName>
                                        </p:attrNameLst>
                                      </p:cBhvr>
                                      <p:to>
                                        <p:strVal val="visible"/>
                                      </p:to>
                                    </p:set>
                                    <p:animEffect transition="in" filter="fade">
                                      <p:cBhvr>
                                        <p:cTn id="66" dur="250"/>
                                        <p:tgtEl>
                                          <p:spTgt spid="8">
                                            <p:bg/>
                                          </p:spTgt>
                                        </p:tgtEl>
                                      </p:cBhvr>
                                    </p:animEffect>
                                    <p:anim calcmode="lin" valueType="num">
                                      <p:cBhvr>
                                        <p:cTn id="67" dur="250" fill="hold"/>
                                        <p:tgtEl>
                                          <p:spTgt spid="8">
                                            <p:bg/>
                                          </p:spTgt>
                                        </p:tgtEl>
                                        <p:attrNameLst>
                                          <p:attrName>ppt_x</p:attrName>
                                        </p:attrNameLst>
                                      </p:cBhvr>
                                      <p:tavLst>
                                        <p:tav tm="0">
                                          <p:val>
                                            <p:strVal val="#ppt_x"/>
                                          </p:val>
                                        </p:tav>
                                        <p:tav tm="100000">
                                          <p:val>
                                            <p:strVal val="#ppt_x"/>
                                          </p:val>
                                        </p:tav>
                                      </p:tavLst>
                                    </p:anim>
                                    <p:anim calcmode="lin" valueType="num">
                                      <p:cBhvr>
                                        <p:cTn id="68" dur="250" fill="hold"/>
                                        <p:tgtEl>
                                          <p:spTgt spid="8">
                                            <p:bg/>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8">
                                            <p:txEl>
                                              <p:pRg st="0" end="0"/>
                                            </p:txEl>
                                          </p:spTgt>
                                        </p:tgtEl>
                                        <p:attrNameLst>
                                          <p:attrName>style.visibility</p:attrName>
                                        </p:attrNameLst>
                                      </p:cBhvr>
                                      <p:to>
                                        <p:strVal val="visible"/>
                                      </p:to>
                                    </p:set>
                                    <p:animEffect transition="in" filter="fade">
                                      <p:cBhvr>
                                        <p:cTn id="73" dur="250"/>
                                        <p:tgtEl>
                                          <p:spTgt spid="8">
                                            <p:txEl>
                                              <p:pRg st="0" end="0"/>
                                            </p:txEl>
                                          </p:spTgt>
                                        </p:tgtEl>
                                      </p:cBhvr>
                                    </p:animEffect>
                                    <p:anim calcmode="lin" valueType="num">
                                      <p:cBhvr>
                                        <p:cTn id="74" dur="25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75" dur="25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13">
                                            <p:bg/>
                                          </p:spTgt>
                                        </p:tgtEl>
                                        <p:attrNameLst>
                                          <p:attrName>style.visibility</p:attrName>
                                        </p:attrNameLst>
                                      </p:cBhvr>
                                      <p:to>
                                        <p:strVal val="visible"/>
                                      </p:to>
                                    </p:set>
                                    <p:animEffect transition="in" filter="fade">
                                      <p:cBhvr>
                                        <p:cTn id="80" dur="250"/>
                                        <p:tgtEl>
                                          <p:spTgt spid="13">
                                            <p:bg/>
                                          </p:spTgt>
                                        </p:tgtEl>
                                      </p:cBhvr>
                                    </p:animEffect>
                                    <p:anim calcmode="lin" valueType="num">
                                      <p:cBhvr>
                                        <p:cTn id="81" dur="250" fill="hold"/>
                                        <p:tgtEl>
                                          <p:spTgt spid="13">
                                            <p:bg/>
                                          </p:spTgt>
                                        </p:tgtEl>
                                        <p:attrNameLst>
                                          <p:attrName>ppt_x</p:attrName>
                                        </p:attrNameLst>
                                      </p:cBhvr>
                                      <p:tavLst>
                                        <p:tav tm="0">
                                          <p:val>
                                            <p:strVal val="#ppt_x"/>
                                          </p:val>
                                        </p:tav>
                                        <p:tav tm="100000">
                                          <p:val>
                                            <p:strVal val="#ppt_x"/>
                                          </p:val>
                                        </p:tav>
                                      </p:tavLst>
                                    </p:anim>
                                    <p:anim calcmode="lin" valueType="num">
                                      <p:cBhvr>
                                        <p:cTn id="82" dur="250" fill="hold"/>
                                        <p:tgtEl>
                                          <p:spTgt spid="13">
                                            <p:bg/>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13">
                                            <p:txEl>
                                              <p:pRg st="0" end="0"/>
                                            </p:txEl>
                                          </p:spTgt>
                                        </p:tgtEl>
                                        <p:attrNameLst>
                                          <p:attrName>style.visibility</p:attrName>
                                        </p:attrNameLst>
                                      </p:cBhvr>
                                      <p:to>
                                        <p:strVal val="visible"/>
                                      </p:to>
                                    </p:set>
                                    <p:animEffect transition="in" filter="fade">
                                      <p:cBhvr>
                                        <p:cTn id="87" dur="250"/>
                                        <p:tgtEl>
                                          <p:spTgt spid="13">
                                            <p:txEl>
                                              <p:pRg st="0" end="0"/>
                                            </p:txEl>
                                          </p:spTgt>
                                        </p:tgtEl>
                                      </p:cBhvr>
                                    </p:animEffect>
                                    <p:anim calcmode="lin" valueType="num">
                                      <p:cBhvr>
                                        <p:cTn id="88" dur="25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89" dur="25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15">
                                            <p:bg/>
                                          </p:spTgt>
                                        </p:tgtEl>
                                        <p:attrNameLst>
                                          <p:attrName>style.visibility</p:attrName>
                                        </p:attrNameLst>
                                      </p:cBhvr>
                                      <p:to>
                                        <p:strVal val="visible"/>
                                      </p:to>
                                    </p:set>
                                    <p:animEffect transition="in" filter="fade">
                                      <p:cBhvr>
                                        <p:cTn id="94" dur="250"/>
                                        <p:tgtEl>
                                          <p:spTgt spid="15">
                                            <p:bg/>
                                          </p:spTgt>
                                        </p:tgtEl>
                                      </p:cBhvr>
                                    </p:animEffect>
                                    <p:anim calcmode="lin" valueType="num">
                                      <p:cBhvr>
                                        <p:cTn id="95" dur="250" fill="hold"/>
                                        <p:tgtEl>
                                          <p:spTgt spid="15">
                                            <p:bg/>
                                          </p:spTgt>
                                        </p:tgtEl>
                                        <p:attrNameLst>
                                          <p:attrName>ppt_x</p:attrName>
                                        </p:attrNameLst>
                                      </p:cBhvr>
                                      <p:tavLst>
                                        <p:tav tm="0">
                                          <p:val>
                                            <p:strVal val="#ppt_x"/>
                                          </p:val>
                                        </p:tav>
                                        <p:tav tm="100000">
                                          <p:val>
                                            <p:strVal val="#ppt_x"/>
                                          </p:val>
                                        </p:tav>
                                      </p:tavLst>
                                    </p:anim>
                                    <p:anim calcmode="lin" valueType="num">
                                      <p:cBhvr>
                                        <p:cTn id="96" dur="250" fill="hold"/>
                                        <p:tgtEl>
                                          <p:spTgt spid="15">
                                            <p:bg/>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15">
                                            <p:txEl>
                                              <p:pRg st="0" end="0"/>
                                            </p:txEl>
                                          </p:spTgt>
                                        </p:tgtEl>
                                        <p:attrNameLst>
                                          <p:attrName>style.visibility</p:attrName>
                                        </p:attrNameLst>
                                      </p:cBhvr>
                                      <p:to>
                                        <p:strVal val="visible"/>
                                      </p:to>
                                    </p:set>
                                    <p:animEffect transition="in" filter="fade">
                                      <p:cBhvr>
                                        <p:cTn id="101" dur="250"/>
                                        <p:tgtEl>
                                          <p:spTgt spid="15">
                                            <p:txEl>
                                              <p:pRg st="0" end="0"/>
                                            </p:txEl>
                                          </p:spTgt>
                                        </p:tgtEl>
                                      </p:cBhvr>
                                    </p:animEffect>
                                    <p:anim calcmode="lin" valueType="num">
                                      <p:cBhvr>
                                        <p:cTn id="102" dur="25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03" dur="25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P spid="8" grpId="0" build="p" animBg="1"/>
      <p:bldP spid="13" grpId="0" build="p" animBg="1"/>
      <p:bldP spid="15" grpId="0" build="p"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24" name="Google Shape;124;p14"/>
          <p:cNvSpPr txBox="1"/>
          <p:nvPr/>
        </p:nvSpPr>
        <p:spPr>
          <a:xfrm>
            <a:off x="3948449" y="4024966"/>
            <a:ext cx="1941888" cy="401970"/>
          </a:xfrm>
          <a:prstGeom prst="rect">
            <a:avLst/>
          </a:prstGeom>
          <a:noFill/>
          <a:ln>
            <a:noFill/>
          </a:ln>
        </p:spPr>
        <p:txBody>
          <a:bodyPr spcFirstLastPara="1" wrap="square" lIns="0" tIns="0" rIns="0" bIns="0" anchor="t" anchorCtr="0">
            <a:spAutoFit/>
          </a:bodyPr>
          <a:lstStyle/>
          <a:p>
            <a:pPr algn="ctr">
              <a:lnSpc>
                <a:spcPct val="140014"/>
              </a:lnSpc>
            </a:pPr>
            <a:r>
              <a:rPr lang="en-US" sz="1866" dirty="0">
                <a:solidFill>
                  <a:schemeClr val="bg1"/>
                </a:solidFill>
                <a:latin typeface="Roboto"/>
                <a:ea typeface="Roboto"/>
                <a:cs typeface="Roboto"/>
                <a:sym typeface="Roboto"/>
              </a:rPr>
              <a:t>STRENGTHS</a:t>
            </a:r>
            <a:endParaRPr sz="1200" dirty="0">
              <a:solidFill>
                <a:schemeClr val="bg1"/>
              </a:solidFill>
            </a:endParaRPr>
          </a:p>
        </p:txBody>
      </p:sp>
      <p:sp>
        <p:nvSpPr>
          <p:cNvPr id="131" name="Google Shape;131;p14"/>
          <p:cNvSpPr txBox="1"/>
          <p:nvPr/>
        </p:nvSpPr>
        <p:spPr>
          <a:xfrm>
            <a:off x="6358746" y="4037891"/>
            <a:ext cx="1941888" cy="401970"/>
          </a:xfrm>
          <a:prstGeom prst="rect">
            <a:avLst/>
          </a:prstGeom>
          <a:noFill/>
          <a:ln>
            <a:noFill/>
          </a:ln>
        </p:spPr>
        <p:txBody>
          <a:bodyPr spcFirstLastPara="1" wrap="square" lIns="0" tIns="0" rIns="0" bIns="0" anchor="t" anchorCtr="0">
            <a:spAutoFit/>
          </a:bodyPr>
          <a:lstStyle/>
          <a:p>
            <a:pPr algn="ctr">
              <a:lnSpc>
                <a:spcPct val="140014"/>
              </a:lnSpc>
            </a:pPr>
            <a:r>
              <a:rPr lang="en-US" sz="1866" dirty="0">
                <a:solidFill>
                  <a:schemeClr val="bg1"/>
                </a:solidFill>
                <a:latin typeface="Roboto"/>
                <a:ea typeface="Roboto"/>
                <a:cs typeface="Roboto"/>
                <a:sym typeface="Roboto"/>
              </a:rPr>
              <a:t>WEAKNESSES</a:t>
            </a:r>
            <a:endParaRPr sz="1200" dirty="0">
              <a:solidFill>
                <a:schemeClr val="bg1"/>
              </a:solidFill>
            </a:endParaRPr>
          </a:p>
        </p:txBody>
      </p:sp>
      <p:sp>
        <p:nvSpPr>
          <p:cNvPr id="2" name="TextBox 1">
            <a:extLst>
              <a:ext uri="{FF2B5EF4-FFF2-40B4-BE49-F238E27FC236}">
                <a16:creationId xmlns:a16="http://schemas.microsoft.com/office/drawing/2014/main" id="{C4260E0D-C596-E9B5-8A99-4469127383BC}"/>
              </a:ext>
            </a:extLst>
          </p:cNvPr>
          <p:cNvSpPr txBox="1"/>
          <p:nvPr/>
        </p:nvSpPr>
        <p:spPr>
          <a:xfrm>
            <a:off x="154055" y="224759"/>
            <a:ext cx="8975036" cy="984885"/>
          </a:xfrm>
          <a:prstGeom prst="rect">
            <a:avLst/>
          </a:prstGeom>
          <a:noFill/>
        </p:spPr>
        <p:txBody>
          <a:bodyPr wrap="square" rtlCol="0">
            <a:spAutoFit/>
          </a:bodyPr>
          <a:lstStyle/>
          <a:p>
            <a:r>
              <a:rPr lang="en-US" sz="4000" b="1" cap="all" spc="-150" dirty="0">
                <a:solidFill>
                  <a:srgbClr val="107082"/>
                </a:solidFill>
                <a:latin typeface="Gill Sans MT"/>
                <a:ea typeface="+mj-ea"/>
                <a:cs typeface="+mj-cs"/>
              </a:rPr>
              <a:t>KEY STRATEGIC  ANALYSIS</a:t>
            </a:r>
          </a:p>
          <a:p>
            <a:endParaRPr lang="en-US" dirty="0"/>
          </a:p>
        </p:txBody>
      </p:sp>
      <p:sp>
        <p:nvSpPr>
          <p:cNvPr id="3" name="object 7" descr="Beige rectangle">
            <a:extLst>
              <a:ext uri="{FF2B5EF4-FFF2-40B4-BE49-F238E27FC236}">
                <a16:creationId xmlns:a16="http://schemas.microsoft.com/office/drawing/2014/main" id="{62DCA593-2E6D-EA53-A8AF-E53135DB84C8}"/>
              </a:ext>
            </a:extLst>
          </p:cNvPr>
          <p:cNvSpPr/>
          <p:nvPr/>
        </p:nvSpPr>
        <p:spPr bwMode="white">
          <a:xfrm flipV="1">
            <a:off x="662463" y="859922"/>
            <a:ext cx="4625153" cy="5586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4" name="TextBox 3">
            <a:extLst>
              <a:ext uri="{FF2B5EF4-FFF2-40B4-BE49-F238E27FC236}">
                <a16:creationId xmlns:a16="http://schemas.microsoft.com/office/drawing/2014/main" id="{E8BE5B21-9832-4AF2-2A55-0AF2EEA8F661}"/>
              </a:ext>
            </a:extLst>
          </p:cNvPr>
          <p:cNvSpPr txBox="1"/>
          <p:nvPr/>
        </p:nvSpPr>
        <p:spPr>
          <a:xfrm>
            <a:off x="662463" y="992819"/>
            <a:ext cx="4422913" cy="461665"/>
          </a:xfrm>
          <a:prstGeom prst="rect">
            <a:avLst/>
          </a:prstGeom>
          <a:noFill/>
        </p:spPr>
        <p:txBody>
          <a:bodyPr wrap="square" rtlCol="0">
            <a:spAutoFit/>
          </a:bodyPr>
          <a:lstStyle/>
          <a:p>
            <a:r>
              <a:rPr lang="en-US" sz="2400" b="1" dirty="0">
                <a:solidFill>
                  <a:schemeClr val="accent5">
                    <a:lumMod val="75000"/>
                  </a:schemeClr>
                </a:solidFill>
              </a:rPr>
              <a:t>SWOT ANALYSIS</a:t>
            </a:r>
          </a:p>
        </p:txBody>
      </p:sp>
      <p:sp>
        <p:nvSpPr>
          <p:cNvPr id="5" name="TextBox 4">
            <a:extLst>
              <a:ext uri="{FF2B5EF4-FFF2-40B4-BE49-F238E27FC236}">
                <a16:creationId xmlns:a16="http://schemas.microsoft.com/office/drawing/2014/main" id="{5050074C-906F-AB32-DCF1-3B583278983E}"/>
              </a:ext>
            </a:extLst>
          </p:cNvPr>
          <p:cNvSpPr txBox="1"/>
          <p:nvPr/>
        </p:nvSpPr>
        <p:spPr>
          <a:xfrm>
            <a:off x="218661" y="1560731"/>
            <a:ext cx="4031766" cy="2554545"/>
          </a:xfrm>
          <a:prstGeom prst="rect">
            <a:avLst/>
          </a:prstGeom>
          <a:noFill/>
        </p:spPr>
        <p:txBody>
          <a:bodyPr wrap="square" rtlCol="0">
            <a:spAutoFit/>
          </a:bodyPr>
          <a:lstStyle/>
          <a:p>
            <a:r>
              <a:rPr lang="en-US" sz="1600" dirty="0"/>
              <a:t>The SWOT analysis highlights Telecom Egypt’s strong internal position supported by extensive infrastructure and government backing. Promising opportunities in AI, 5G, smart cities, and cloud services can accelerate future growth. However, internal inefficiencies and external threats such as competition, cyberattacks, and regulatory changes require proactive strategic management.</a:t>
            </a:r>
          </a:p>
        </p:txBody>
      </p:sp>
      <p:sp>
        <p:nvSpPr>
          <p:cNvPr id="10" name="Footer Placeholder 6">
            <a:extLst>
              <a:ext uri="{FF2B5EF4-FFF2-40B4-BE49-F238E27FC236}">
                <a16:creationId xmlns:a16="http://schemas.microsoft.com/office/drawing/2014/main" id="{C5F05EBC-6EAE-CEF2-62D4-B62AD8AC6889}"/>
              </a:ext>
            </a:extLst>
          </p:cNvPr>
          <p:cNvSpPr txBox="1">
            <a:spLocks/>
          </p:cNvSpPr>
          <p:nvPr/>
        </p:nvSpPr>
        <p:spPr>
          <a:xfrm rot="10800000" flipV="1">
            <a:off x="330200" y="6378735"/>
            <a:ext cx="11201399" cy="269919"/>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graphicFrame>
        <p:nvGraphicFramePr>
          <p:cNvPr id="6" name="Diagram 5">
            <a:extLst>
              <a:ext uri="{FF2B5EF4-FFF2-40B4-BE49-F238E27FC236}">
                <a16:creationId xmlns:a16="http://schemas.microsoft.com/office/drawing/2014/main" id="{05A0DEF8-C452-9A49-6904-6768413EB4B2}"/>
              </a:ext>
            </a:extLst>
          </p:cNvPr>
          <p:cNvGraphicFramePr/>
          <p:nvPr>
            <p:extLst>
              <p:ext uri="{D42A27DB-BD31-4B8C-83A1-F6EECF244321}">
                <p14:modId xmlns:p14="http://schemas.microsoft.com/office/powerpoint/2010/main" val="1960571138"/>
              </p:ext>
            </p:extLst>
          </p:nvPr>
        </p:nvGraphicFramePr>
        <p:xfrm>
          <a:off x="3948449" y="992819"/>
          <a:ext cx="7913351" cy="5503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Google Shape;124;p14">
            <a:extLst>
              <a:ext uri="{FF2B5EF4-FFF2-40B4-BE49-F238E27FC236}">
                <a16:creationId xmlns:a16="http://schemas.microsoft.com/office/drawing/2014/main" id="{4B097078-9888-F60B-5E59-0E9CD02DE694}"/>
              </a:ext>
            </a:extLst>
          </p:cNvPr>
          <p:cNvSpPr txBox="1"/>
          <p:nvPr/>
        </p:nvSpPr>
        <p:spPr>
          <a:xfrm>
            <a:off x="5863657" y="3161443"/>
            <a:ext cx="1941888" cy="401970"/>
          </a:xfrm>
          <a:prstGeom prst="rect">
            <a:avLst/>
          </a:prstGeom>
          <a:noFill/>
          <a:ln>
            <a:noFill/>
          </a:ln>
        </p:spPr>
        <p:txBody>
          <a:bodyPr spcFirstLastPara="1" wrap="square" lIns="0" tIns="0" rIns="0" bIns="0" anchor="t" anchorCtr="0">
            <a:spAutoFit/>
          </a:bodyPr>
          <a:lstStyle/>
          <a:p>
            <a:pPr algn="ctr">
              <a:lnSpc>
                <a:spcPct val="140014"/>
              </a:lnSpc>
            </a:pPr>
            <a:r>
              <a:rPr lang="en-US" sz="1866" dirty="0">
                <a:solidFill>
                  <a:schemeClr val="bg1"/>
                </a:solidFill>
                <a:latin typeface="Roboto"/>
                <a:ea typeface="Roboto"/>
                <a:cs typeface="Roboto"/>
                <a:sym typeface="Roboto"/>
              </a:rPr>
              <a:t>STRENGTHS</a:t>
            </a:r>
            <a:endParaRPr sz="1200" dirty="0">
              <a:solidFill>
                <a:schemeClr val="bg1"/>
              </a:solidFill>
            </a:endParaRPr>
          </a:p>
        </p:txBody>
      </p:sp>
      <p:sp>
        <p:nvSpPr>
          <p:cNvPr id="9" name="Google Shape;134;p14">
            <a:extLst>
              <a:ext uri="{FF2B5EF4-FFF2-40B4-BE49-F238E27FC236}">
                <a16:creationId xmlns:a16="http://schemas.microsoft.com/office/drawing/2014/main" id="{1DC717F7-7DC5-E2A8-E86A-605D52436936}"/>
              </a:ext>
            </a:extLst>
          </p:cNvPr>
          <p:cNvSpPr txBox="1"/>
          <p:nvPr/>
        </p:nvSpPr>
        <p:spPr>
          <a:xfrm>
            <a:off x="5859914" y="4951403"/>
            <a:ext cx="2141045" cy="367113"/>
          </a:xfrm>
          <a:prstGeom prst="rect">
            <a:avLst/>
          </a:prstGeom>
          <a:noFill/>
          <a:ln>
            <a:noFill/>
          </a:ln>
        </p:spPr>
        <p:txBody>
          <a:bodyPr spcFirstLastPara="1" wrap="square" lIns="0" tIns="0" rIns="0" bIns="0" anchor="t" anchorCtr="0">
            <a:spAutoFit/>
          </a:bodyPr>
          <a:lstStyle/>
          <a:p>
            <a:pPr algn="ctr">
              <a:lnSpc>
                <a:spcPct val="140014"/>
              </a:lnSpc>
            </a:pPr>
            <a:r>
              <a:rPr lang="en-US" sz="1866" dirty="0">
                <a:solidFill>
                  <a:schemeClr val="bg1"/>
                </a:solidFill>
                <a:latin typeface="Roboto"/>
                <a:ea typeface="Roboto"/>
                <a:cs typeface="Roboto"/>
                <a:sym typeface="Roboto"/>
              </a:rPr>
              <a:t>OPPORTUNITIES</a:t>
            </a:r>
            <a:endParaRPr sz="1200" dirty="0">
              <a:solidFill>
                <a:schemeClr val="bg1"/>
              </a:solidFill>
            </a:endParaRPr>
          </a:p>
        </p:txBody>
      </p:sp>
      <p:sp>
        <p:nvSpPr>
          <p:cNvPr id="11" name="Google Shape;131;p14">
            <a:extLst>
              <a:ext uri="{FF2B5EF4-FFF2-40B4-BE49-F238E27FC236}">
                <a16:creationId xmlns:a16="http://schemas.microsoft.com/office/drawing/2014/main" id="{55DA9946-AB05-D7B5-1FE9-1C7DC6B0B0BB}"/>
              </a:ext>
            </a:extLst>
          </p:cNvPr>
          <p:cNvSpPr txBox="1"/>
          <p:nvPr/>
        </p:nvSpPr>
        <p:spPr>
          <a:xfrm>
            <a:off x="8028047" y="3141807"/>
            <a:ext cx="1941888" cy="401970"/>
          </a:xfrm>
          <a:prstGeom prst="rect">
            <a:avLst/>
          </a:prstGeom>
          <a:noFill/>
          <a:ln>
            <a:noFill/>
          </a:ln>
        </p:spPr>
        <p:txBody>
          <a:bodyPr spcFirstLastPara="1" wrap="square" lIns="0" tIns="0" rIns="0" bIns="0" anchor="t" anchorCtr="0">
            <a:spAutoFit/>
          </a:bodyPr>
          <a:lstStyle/>
          <a:p>
            <a:pPr algn="ctr">
              <a:lnSpc>
                <a:spcPct val="140014"/>
              </a:lnSpc>
            </a:pPr>
            <a:r>
              <a:rPr lang="en-US" sz="1866" dirty="0">
                <a:solidFill>
                  <a:schemeClr val="bg1"/>
                </a:solidFill>
                <a:latin typeface="Roboto"/>
                <a:ea typeface="Roboto"/>
                <a:cs typeface="Roboto"/>
                <a:sym typeface="Roboto"/>
              </a:rPr>
              <a:t>WEAKNESSES</a:t>
            </a:r>
            <a:endParaRPr sz="1200" dirty="0">
              <a:solidFill>
                <a:schemeClr val="bg1"/>
              </a:solidFill>
            </a:endParaRPr>
          </a:p>
        </p:txBody>
      </p:sp>
      <p:sp>
        <p:nvSpPr>
          <p:cNvPr id="12" name="Google Shape;137;p14">
            <a:extLst>
              <a:ext uri="{FF2B5EF4-FFF2-40B4-BE49-F238E27FC236}">
                <a16:creationId xmlns:a16="http://schemas.microsoft.com/office/drawing/2014/main" id="{38827EB5-BE35-4CB6-0235-931710F8810A}"/>
              </a:ext>
            </a:extLst>
          </p:cNvPr>
          <p:cNvSpPr txBox="1"/>
          <p:nvPr/>
        </p:nvSpPr>
        <p:spPr>
          <a:xfrm>
            <a:off x="7941574" y="4933975"/>
            <a:ext cx="1941888" cy="401970"/>
          </a:xfrm>
          <a:prstGeom prst="rect">
            <a:avLst/>
          </a:prstGeom>
          <a:noFill/>
          <a:ln>
            <a:noFill/>
          </a:ln>
        </p:spPr>
        <p:txBody>
          <a:bodyPr spcFirstLastPara="1" wrap="square" lIns="0" tIns="0" rIns="0" bIns="0" anchor="t" anchorCtr="0">
            <a:spAutoFit/>
          </a:bodyPr>
          <a:lstStyle/>
          <a:p>
            <a:pPr algn="ctr">
              <a:lnSpc>
                <a:spcPct val="140014"/>
              </a:lnSpc>
            </a:pPr>
            <a:r>
              <a:rPr lang="en-US" sz="1866" dirty="0">
                <a:solidFill>
                  <a:schemeClr val="bg1"/>
                </a:solidFill>
                <a:latin typeface="Roboto"/>
                <a:ea typeface="Roboto"/>
                <a:cs typeface="Roboto"/>
                <a:sym typeface="Roboto"/>
              </a:rPr>
              <a:t>THREATS</a:t>
            </a:r>
            <a:endParaRPr sz="1200" dirty="0">
              <a:solidFill>
                <a:schemeClr val="bg1"/>
              </a:solidFill>
            </a:endParaRPr>
          </a:p>
        </p:txBody>
      </p:sp>
    </p:spTree>
    <p:extLst>
      <p:ext uri="{BB962C8B-B14F-4D97-AF65-F5344CB8AC3E}">
        <p14:creationId xmlns:p14="http://schemas.microsoft.com/office/powerpoint/2010/main" val="428130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250" fill="hold"/>
                                        <p:tgtEl>
                                          <p:spTgt spid="4"/>
                                        </p:tgtEl>
                                        <p:attrNameLst>
                                          <p:attrName>ppt_x</p:attrName>
                                        </p:attrNameLst>
                                      </p:cBhvr>
                                      <p:tavLst>
                                        <p:tav tm="0">
                                          <p:val>
                                            <p:strVal val="#ppt_x"/>
                                          </p:val>
                                        </p:tav>
                                        <p:tav tm="100000">
                                          <p:val>
                                            <p:strVal val="#ppt_x"/>
                                          </p:val>
                                        </p:tav>
                                      </p:tavLst>
                                    </p:anim>
                                    <p:anim calcmode="lin" valueType="num">
                                      <p:cBhvr additive="base">
                                        <p:cTn id="14" dur="25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5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circle(in)">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Graphic spid="6"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p:nvPr/>
        </p:nvSpPr>
        <p:spPr>
          <a:xfrm>
            <a:off x="1816432" y="1139876"/>
            <a:ext cx="4279569" cy="4279569"/>
          </a:xfrm>
          <a:custGeom>
            <a:avLst/>
            <a:gdLst/>
            <a:ahLst/>
            <a:cxnLst/>
            <a:rect l="l" t="t" r="r" b="b"/>
            <a:pathLst>
              <a:path w="6419353" h="6419353" extrusionOk="0">
                <a:moveTo>
                  <a:pt x="0" y="0"/>
                </a:moveTo>
                <a:lnTo>
                  <a:pt x="6419353" y="0"/>
                </a:lnTo>
                <a:lnTo>
                  <a:pt x="6419353" y="6419353"/>
                </a:lnTo>
                <a:lnTo>
                  <a:pt x="0" y="6419353"/>
                </a:lnTo>
                <a:lnTo>
                  <a:pt x="0" y="0"/>
                </a:lnTo>
                <a:close/>
              </a:path>
            </a:pathLst>
          </a:custGeom>
          <a:blipFill rotWithShape="1">
            <a:blip r:embed="rId3">
              <a:alphaModFix/>
            </a:blip>
            <a:stretch>
              <a:fillRect/>
            </a:stretch>
          </a:blipFill>
          <a:ln>
            <a:noFill/>
          </a:ln>
        </p:spPr>
      </p:sp>
      <p:sp>
        <p:nvSpPr>
          <p:cNvPr id="98" name="Google Shape;98;p14"/>
          <p:cNvSpPr txBox="1"/>
          <p:nvPr/>
        </p:nvSpPr>
        <p:spPr>
          <a:xfrm>
            <a:off x="6907703" y="788795"/>
            <a:ext cx="4495191" cy="1231106"/>
          </a:xfrm>
          <a:prstGeom prst="rect">
            <a:avLst/>
          </a:prstGeom>
          <a:noFill/>
          <a:ln>
            <a:noFill/>
          </a:ln>
        </p:spPr>
        <p:txBody>
          <a:bodyPr spcFirstLastPara="1" wrap="square" lIns="0" tIns="0" rIns="0" bIns="0" anchor="t" anchorCtr="0">
            <a:spAutoFit/>
          </a:bodyPr>
          <a:lstStyle/>
          <a:p>
            <a:r>
              <a:rPr lang="en-US" sz="4000" b="1" dirty="0">
                <a:solidFill>
                  <a:schemeClr val="accent5">
                    <a:lumMod val="75000"/>
                  </a:schemeClr>
                </a:solidFill>
              </a:rPr>
              <a:t>Stakeholder Analysis</a:t>
            </a:r>
            <a:endParaRPr sz="1050" b="1" dirty="0">
              <a:solidFill>
                <a:schemeClr val="accent5">
                  <a:lumMod val="75000"/>
                </a:schemeClr>
              </a:solidFill>
            </a:endParaRPr>
          </a:p>
        </p:txBody>
      </p:sp>
      <p:sp>
        <p:nvSpPr>
          <p:cNvPr id="99" name="Google Shape;99;p14"/>
          <p:cNvSpPr txBox="1"/>
          <p:nvPr/>
        </p:nvSpPr>
        <p:spPr>
          <a:xfrm>
            <a:off x="6728791" y="2193893"/>
            <a:ext cx="4870174" cy="1982080"/>
          </a:xfrm>
          <a:prstGeom prst="rect">
            <a:avLst/>
          </a:prstGeom>
          <a:noFill/>
          <a:ln>
            <a:noFill/>
          </a:ln>
        </p:spPr>
        <p:txBody>
          <a:bodyPr spcFirstLastPara="1" wrap="square" lIns="0" tIns="0" rIns="0" bIns="0" anchor="t" anchorCtr="0">
            <a:spAutoFit/>
          </a:bodyPr>
          <a:lstStyle/>
          <a:p>
            <a:pPr>
              <a:lnSpc>
                <a:spcPct val="115000"/>
              </a:lnSpc>
            </a:pPr>
            <a:r>
              <a:rPr lang="en-US" sz="1600" dirty="0"/>
              <a:t>• Government and regulators have the </a:t>
            </a:r>
          </a:p>
          <a:p>
            <a:pPr>
              <a:lnSpc>
                <a:spcPct val="115000"/>
              </a:lnSpc>
            </a:pPr>
            <a:r>
              <a:rPr lang="en-US" sz="1600" dirty="0"/>
              <a:t>highest influence.</a:t>
            </a:r>
            <a:br>
              <a:rPr lang="en-US" sz="1600" dirty="0"/>
            </a:br>
            <a:r>
              <a:rPr lang="en-US" sz="1600" dirty="0"/>
              <a:t>• Customers and employees require continuous engagement.</a:t>
            </a:r>
            <a:br>
              <a:rPr lang="en-US" sz="1600" dirty="0"/>
            </a:br>
            <a:r>
              <a:rPr lang="en-US" sz="1600" dirty="0"/>
              <a:t>• Suppliers support operational stability.</a:t>
            </a:r>
            <a:br>
              <a:rPr lang="en-US" sz="1600" dirty="0"/>
            </a:br>
            <a:r>
              <a:rPr lang="en-US" sz="1600" dirty="0"/>
              <a:t>• Media affects public reputation and brand perception.</a:t>
            </a:r>
            <a:endParaRPr lang="en-US" sz="1200" dirty="0"/>
          </a:p>
        </p:txBody>
      </p:sp>
      <p:cxnSp>
        <p:nvCxnSpPr>
          <p:cNvPr id="100" name="Google Shape;100;p14"/>
          <p:cNvCxnSpPr/>
          <p:nvPr/>
        </p:nvCxnSpPr>
        <p:spPr>
          <a:xfrm rot="10800000">
            <a:off x="3956215" y="1139876"/>
            <a:ext cx="0" cy="4279569"/>
          </a:xfrm>
          <a:prstGeom prst="straightConnector1">
            <a:avLst/>
          </a:prstGeom>
          <a:noFill/>
          <a:ln w="57150" cap="flat" cmpd="sng">
            <a:solidFill>
              <a:srgbClr val="FFFFFF"/>
            </a:solidFill>
            <a:prstDash val="solid"/>
            <a:round/>
            <a:headEnd type="none" w="sm" len="sm"/>
            <a:tailEnd type="none" w="sm" len="sm"/>
          </a:ln>
        </p:spPr>
      </p:cxnSp>
      <p:cxnSp>
        <p:nvCxnSpPr>
          <p:cNvPr id="101" name="Google Shape;101;p14"/>
          <p:cNvCxnSpPr/>
          <p:nvPr/>
        </p:nvCxnSpPr>
        <p:spPr>
          <a:xfrm rot="10800000">
            <a:off x="1816432" y="3279660"/>
            <a:ext cx="4279569" cy="0"/>
          </a:xfrm>
          <a:prstGeom prst="straightConnector1">
            <a:avLst/>
          </a:prstGeom>
          <a:noFill/>
          <a:ln w="57150" cap="flat" cmpd="sng">
            <a:solidFill>
              <a:srgbClr val="FFFFFF"/>
            </a:solidFill>
            <a:prstDash val="solid"/>
            <a:round/>
            <a:headEnd type="none" w="sm" len="sm"/>
            <a:tailEnd type="none" w="sm" len="sm"/>
          </a:ln>
        </p:spPr>
      </p:cxnSp>
      <p:sp>
        <p:nvSpPr>
          <p:cNvPr id="102" name="Google Shape;102;p14"/>
          <p:cNvSpPr txBox="1"/>
          <p:nvPr/>
        </p:nvSpPr>
        <p:spPr>
          <a:xfrm>
            <a:off x="2126977" y="1406194"/>
            <a:ext cx="1433262" cy="640175"/>
          </a:xfrm>
          <a:prstGeom prst="rect">
            <a:avLst/>
          </a:prstGeom>
          <a:noFill/>
          <a:ln>
            <a:noFill/>
          </a:ln>
        </p:spPr>
        <p:txBody>
          <a:bodyPr spcFirstLastPara="1" wrap="square" lIns="0" tIns="0" rIns="0" bIns="0" anchor="t" anchorCtr="0">
            <a:spAutoFit/>
          </a:bodyPr>
          <a:lstStyle/>
          <a:p>
            <a:pPr algn="ctr">
              <a:lnSpc>
                <a:spcPct val="130000"/>
              </a:lnSpc>
            </a:pPr>
            <a:r>
              <a:rPr lang="en-US" sz="1600" b="1" dirty="0">
                <a:solidFill>
                  <a:srgbClr val="FFFFFF"/>
                </a:solidFill>
                <a:latin typeface="Barlow"/>
                <a:ea typeface="Barlow"/>
                <a:cs typeface="Barlow"/>
                <a:sym typeface="Barlow"/>
              </a:rPr>
              <a:t>KEEP STATSIFIED </a:t>
            </a:r>
            <a:endParaRPr sz="1200" dirty="0"/>
          </a:p>
        </p:txBody>
      </p:sp>
      <p:sp>
        <p:nvSpPr>
          <p:cNvPr id="103" name="Google Shape;103;p14"/>
          <p:cNvSpPr txBox="1"/>
          <p:nvPr/>
        </p:nvSpPr>
        <p:spPr>
          <a:xfrm>
            <a:off x="4221497" y="1330897"/>
            <a:ext cx="1302576" cy="640175"/>
          </a:xfrm>
          <a:prstGeom prst="rect">
            <a:avLst/>
          </a:prstGeom>
          <a:noFill/>
          <a:ln>
            <a:noFill/>
          </a:ln>
        </p:spPr>
        <p:txBody>
          <a:bodyPr spcFirstLastPara="1" wrap="square" lIns="0" tIns="0" rIns="0" bIns="0" anchor="t" anchorCtr="0">
            <a:spAutoFit/>
          </a:bodyPr>
          <a:lstStyle/>
          <a:p>
            <a:pPr algn="ctr">
              <a:lnSpc>
                <a:spcPct val="130000"/>
              </a:lnSpc>
            </a:pPr>
            <a:r>
              <a:rPr lang="en-US" sz="1600" b="1" dirty="0">
                <a:solidFill>
                  <a:srgbClr val="FFFFFF"/>
                </a:solidFill>
                <a:latin typeface="Barlow"/>
                <a:ea typeface="Barlow"/>
                <a:cs typeface="Barlow"/>
                <a:sym typeface="Barlow"/>
              </a:rPr>
              <a:t>MANAGE CLOSELY</a:t>
            </a:r>
            <a:endParaRPr sz="1200" dirty="0"/>
          </a:p>
        </p:txBody>
      </p:sp>
      <p:sp>
        <p:nvSpPr>
          <p:cNvPr id="104" name="Google Shape;104;p14"/>
          <p:cNvSpPr txBox="1"/>
          <p:nvPr/>
        </p:nvSpPr>
        <p:spPr>
          <a:xfrm>
            <a:off x="2048273" y="3506193"/>
            <a:ext cx="1511966" cy="320088"/>
          </a:xfrm>
          <a:prstGeom prst="rect">
            <a:avLst/>
          </a:prstGeom>
          <a:noFill/>
          <a:ln>
            <a:noFill/>
          </a:ln>
        </p:spPr>
        <p:txBody>
          <a:bodyPr spcFirstLastPara="1" wrap="square" lIns="0" tIns="0" rIns="0" bIns="0" anchor="t" anchorCtr="0">
            <a:spAutoFit/>
          </a:bodyPr>
          <a:lstStyle/>
          <a:p>
            <a:pPr algn="ctr">
              <a:lnSpc>
                <a:spcPct val="130000"/>
              </a:lnSpc>
            </a:pPr>
            <a:r>
              <a:rPr lang="en-US" sz="1600" b="1" dirty="0">
                <a:solidFill>
                  <a:srgbClr val="FFFFFF"/>
                </a:solidFill>
                <a:latin typeface="Barlow"/>
                <a:sym typeface="Barlow"/>
              </a:rPr>
              <a:t>KEEP INFORMED</a:t>
            </a:r>
            <a:endParaRPr sz="1200" dirty="0"/>
          </a:p>
        </p:txBody>
      </p:sp>
      <p:sp>
        <p:nvSpPr>
          <p:cNvPr id="105" name="Google Shape;105;p14"/>
          <p:cNvSpPr txBox="1"/>
          <p:nvPr/>
        </p:nvSpPr>
        <p:spPr>
          <a:xfrm>
            <a:off x="4399957" y="3514033"/>
            <a:ext cx="1219123" cy="320088"/>
          </a:xfrm>
          <a:prstGeom prst="rect">
            <a:avLst/>
          </a:prstGeom>
          <a:noFill/>
          <a:ln>
            <a:noFill/>
          </a:ln>
        </p:spPr>
        <p:txBody>
          <a:bodyPr spcFirstLastPara="1" wrap="square" lIns="0" tIns="0" rIns="0" bIns="0" anchor="t" anchorCtr="0">
            <a:spAutoFit/>
          </a:bodyPr>
          <a:lstStyle/>
          <a:p>
            <a:pPr algn="ctr">
              <a:lnSpc>
                <a:spcPct val="130000"/>
              </a:lnSpc>
            </a:pPr>
            <a:r>
              <a:rPr lang="en-US" sz="1600" b="1" dirty="0">
                <a:solidFill>
                  <a:srgbClr val="FFFFFF"/>
                </a:solidFill>
                <a:latin typeface="Barlow"/>
                <a:ea typeface="Barlow"/>
                <a:cs typeface="Barlow"/>
                <a:sym typeface="Barlow"/>
              </a:rPr>
              <a:t>MONTOR</a:t>
            </a:r>
            <a:endParaRPr sz="1200" dirty="0"/>
          </a:p>
        </p:txBody>
      </p:sp>
      <p:cxnSp>
        <p:nvCxnSpPr>
          <p:cNvPr id="106" name="Google Shape;106;p14"/>
          <p:cNvCxnSpPr/>
          <p:nvPr/>
        </p:nvCxnSpPr>
        <p:spPr>
          <a:xfrm>
            <a:off x="1816431" y="5603718"/>
            <a:ext cx="4328160" cy="0"/>
          </a:xfrm>
          <a:prstGeom prst="straightConnector1">
            <a:avLst/>
          </a:prstGeom>
          <a:noFill/>
          <a:ln w="76200" cap="flat" cmpd="sng">
            <a:solidFill>
              <a:srgbClr val="7900FF"/>
            </a:solidFill>
            <a:prstDash val="solid"/>
            <a:round/>
            <a:headEnd type="none" w="sm" len="sm"/>
            <a:tailEnd type="stealth" w="med" len="med"/>
          </a:ln>
        </p:spPr>
      </p:cxnSp>
      <p:sp>
        <p:nvSpPr>
          <p:cNvPr id="107" name="Google Shape;107;p14"/>
          <p:cNvSpPr txBox="1"/>
          <p:nvPr/>
        </p:nvSpPr>
        <p:spPr>
          <a:xfrm>
            <a:off x="1993298" y="5934545"/>
            <a:ext cx="3746931" cy="248658"/>
          </a:xfrm>
          <a:prstGeom prst="rect">
            <a:avLst/>
          </a:prstGeom>
          <a:noFill/>
          <a:ln>
            <a:noFill/>
          </a:ln>
        </p:spPr>
        <p:txBody>
          <a:bodyPr spcFirstLastPara="1" wrap="square" lIns="0" tIns="0" rIns="0" bIns="0" anchor="t" anchorCtr="0">
            <a:spAutoFit/>
          </a:bodyPr>
          <a:lstStyle/>
          <a:p>
            <a:pPr algn="ctr">
              <a:lnSpc>
                <a:spcPct val="101000"/>
              </a:lnSpc>
            </a:pPr>
            <a:r>
              <a:rPr lang="en-US" sz="1600" b="1" dirty="0">
                <a:solidFill>
                  <a:schemeClr val="accent1">
                    <a:lumMod val="75000"/>
                  </a:schemeClr>
                </a:solidFill>
                <a:latin typeface="Barlow"/>
                <a:ea typeface="Barlow"/>
                <a:cs typeface="Barlow"/>
                <a:sym typeface="Barlow"/>
              </a:rPr>
              <a:t>INTEREST /IMPACT</a:t>
            </a:r>
            <a:endParaRPr sz="1200" dirty="0">
              <a:solidFill>
                <a:schemeClr val="accent1">
                  <a:lumMod val="75000"/>
                </a:schemeClr>
              </a:solidFill>
            </a:endParaRPr>
          </a:p>
        </p:txBody>
      </p:sp>
      <p:cxnSp>
        <p:nvCxnSpPr>
          <p:cNvPr id="108" name="Google Shape;108;p14"/>
          <p:cNvCxnSpPr/>
          <p:nvPr/>
        </p:nvCxnSpPr>
        <p:spPr>
          <a:xfrm rot="10800000">
            <a:off x="1568843" y="1139876"/>
            <a:ext cx="0" cy="4279569"/>
          </a:xfrm>
          <a:prstGeom prst="straightConnector1">
            <a:avLst/>
          </a:prstGeom>
          <a:noFill/>
          <a:ln w="76200" cap="flat" cmpd="sng">
            <a:solidFill>
              <a:srgbClr val="7900FF"/>
            </a:solidFill>
            <a:prstDash val="solid"/>
            <a:round/>
            <a:headEnd type="none" w="sm" len="sm"/>
            <a:tailEnd type="stealth" w="med" len="med"/>
          </a:ln>
        </p:spPr>
      </p:cxnSp>
      <p:sp>
        <p:nvSpPr>
          <p:cNvPr id="109" name="Google Shape;109;p14"/>
          <p:cNvSpPr txBox="1"/>
          <p:nvPr/>
        </p:nvSpPr>
        <p:spPr>
          <a:xfrm rot="-5400000">
            <a:off x="-1056634" y="3153485"/>
            <a:ext cx="3746931" cy="248658"/>
          </a:xfrm>
          <a:prstGeom prst="rect">
            <a:avLst/>
          </a:prstGeom>
          <a:noFill/>
          <a:ln>
            <a:noFill/>
          </a:ln>
        </p:spPr>
        <p:txBody>
          <a:bodyPr spcFirstLastPara="1" wrap="square" lIns="0" tIns="0" rIns="0" bIns="0" anchor="t" anchorCtr="0">
            <a:spAutoFit/>
          </a:bodyPr>
          <a:lstStyle/>
          <a:p>
            <a:pPr algn="ctr">
              <a:lnSpc>
                <a:spcPct val="101000"/>
              </a:lnSpc>
            </a:pPr>
            <a:r>
              <a:rPr lang="en-US" sz="1600" b="1" dirty="0">
                <a:solidFill>
                  <a:schemeClr val="accent1">
                    <a:lumMod val="75000"/>
                  </a:schemeClr>
                </a:solidFill>
                <a:latin typeface="Barlow"/>
                <a:ea typeface="Barlow"/>
                <a:cs typeface="Barlow"/>
                <a:sym typeface="Barlow"/>
              </a:rPr>
              <a:t>INFLUENCE/POWEROF </a:t>
            </a:r>
            <a:endParaRPr sz="1200" dirty="0">
              <a:solidFill>
                <a:schemeClr val="accent1">
                  <a:lumMod val="75000"/>
                </a:schemeClr>
              </a:solidFill>
            </a:endParaRPr>
          </a:p>
        </p:txBody>
      </p:sp>
      <p:sp>
        <p:nvSpPr>
          <p:cNvPr id="3" name="TextBox 2">
            <a:extLst>
              <a:ext uri="{FF2B5EF4-FFF2-40B4-BE49-F238E27FC236}">
                <a16:creationId xmlns:a16="http://schemas.microsoft.com/office/drawing/2014/main" id="{50CE6F8B-E78C-2A4D-ADBB-0384B2687DC6}"/>
              </a:ext>
            </a:extLst>
          </p:cNvPr>
          <p:cNvSpPr txBox="1"/>
          <p:nvPr/>
        </p:nvSpPr>
        <p:spPr>
          <a:xfrm>
            <a:off x="360017" y="109887"/>
            <a:ext cx="6522575" cy="984885"/>
          </a:xfrm>
          <a:prstGeom prst="rect">
            <a:avLst/>
          </a:prstGeom>
          <a:noFill/>
        </p:spPr>
        <p:txBody>
          <a:bodyPr wrap="square" rtlCol="0">
            <a:spAutoFit/>
          </a:bodyPr>
          <a:lstStyle/>
          <a:p>
            <a:r>
              <a:rPr lang="en-US" sz="4000" b="1" cap="all" spc="-150" dirty="0">
                <a:solidFill>
                  <a:srgbClr val="107082"/>
                </a:solidFill>
                <a:latin typeface="Gill Sans MT"/>
              </a:rPr>
              <a:t>STAKEHOLDER MATRIX</a:t>
            </a:r>
          </a:p>
          <a:p>
            <a:endParaRPr lang="en-US" b="1" cap="all" spc="-150" dirty="0">
              <a:solidFill>
                <a:srgbClr val="107082"/>
              </a:solidFill>
              <a:latin typeface="Gill Sans MT"/>
            </a:endParaRPr>
          </a:p>
        </p:txBody>
      </p:sp>
      <p:sp>
        <p:nvSpPr>
          <p:cNvPr id="4" name="object 7" descr="Beige rectangle">
            <a:extLst>
              <a:ext uri="{FF2B5EF4-FFF2-40B4-BE49-F238E27FC236}">
                <a16:creationId xmlns:a16="http://schemas.microsoft.com/office/drawing/2014/main" id="{C0B7CC07-DFD7-C6F1-8B3D-AD1066F63265}"/>
              </a:ext>
            </a:extLst>
          </p:cNvPr>
          <p:cNvSpPr/>
          <p:nvPr/>
        </p:nvSpPr>
        <p:spPr bwMode="white">
          <a:xfrm flipV="1">
            <a:off x="1058779" y="544318"/>
            <a:ext cx="3986425" cy="212268"/>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6" name="Google Shape;109;p14">
            <a:extLst>
              <a:ext uri="{FF2B5EF4-FFF2-40B4-BE49-F238E27FC236}">
                <a16:creationId xmlns:a16="http://schemas.microsoft.com/office/drawing/2014/main" id="{5C24690C-B147-AB64-6A34-0BE43FF08CE6}"/>
              </a:ext>
            </a:extLst>
          </p:cNvPr>
          <p:cNvSpPr txBox="1"/>
          <p:nvPr/>
        </p:nvSpPr>
        <p:spPr>
          <a:xfrm rot="-5400000">
            <a:off x="-770754" y="3178280"/>
            <a:ext cx="3746931" cy="248658"/>
          </a:xfrm>
          <a:prstGeom prst="rect">
            <a:avLst/>
          </a:prstGeom>
          <a:noFill/>
          <a:ln>
            <a:noFill/>
          </a:ln>
        </p:spPr>
        <p:txBody>
          <a:bodyPr spcFirstLastPara="1" wrap="square" lIns="0" tIns="0" rIns="0" bIns="0" anchor="t" anchorCtr="0">
            <a:spAutoFit/>
          </a:bodyPr>
          <a:lstStyle/>
          <a:p>
            <a:pPr algn="ctr">
              <a:lnSpc>
                <a:spcPct val="101000"/>
              </a:lnSpc>
            </a:pPr>
            <a:r>
              <a:rPr lang="en-US" sz="1600" b="1" dirty="0">
                <a:solidFill>
                  <a:srgbClr val="7900FF"/>
                </a:solidFill>
                <a:latin typeface="Barlow"/>
                <a:ea typeface="Barlow"/>
                <a:cs typeface="Barlow"/>
                <a:sym typeface="Barlow"/>
              </a:rPr>
              <a:t>Ability to influence organization </a:t>
            </a:r>
            <a:endParaRPr sz="1200" dirty="0"/>
          </a:p>
        </p:txBody>
      </p:sp>
      <p:sp>
        <p:nvSpPr>
          <p:cNvPr id="7" name="Google Shape;107;p14">
            <a:extLst>
              <a:ext uri="{FF2B5EF4-FFF2-40B4-BE49-F238E27FC236}">
                <a16:creationId xmlns:a16="http://schemas.microsoft.com/office/drawing/2014/main" id="{F06AE7E0-74C6-6D84-E038-87FAC8BB937B}"/>
              </a:ext>
            </a:extLst>
          </p:cNvPr>
          <p:cNvSpPr txBox="1"/>
          <p:nvPr/>
        </p:nvSpPr>
        <p:spPr>
          <a:xfrm>
            <a:off x="1907827" y="5697536"/>
            <a:ext cx="3746931" cy="248658"/>
          </a:xfrm>
          <a:prstGeom prst="rect">
            <a:avLst/>
          </a:prstGeom>
          <a:noFill/>
          <a:ln>
            <a:noFill/>
          </a:ln>
        </p:spPr>
        <p:txBody>
          <a:bodyPr spcFirstLastPara="1" wrap="square" lIns="0" tIns="0" rIns="0" bIns="0" anchor="t" anchorCtr="0">
            <a:spAutoFit/>
          </a:bodyPr>
          <a:lstStyle/>
          <a:p>
            <a:pPr algn="ctr">
              <a:lnSpc>
                <a:spcPct val="101000"/>
              </a:lnSpc>
            </a:pPr>
            <a:r>
              <a:rPr lang="en-US" sz="1600" b="1" dirty="0">
                <a:solidFill>
                  <a:srgbClr val="7900FF"/>
                </a:solidFill>
                <a:latin typeface="Barlow"/>
                <a:sym typeface="Barlow"/>
              </a:rPr>
              <a:t>Level of impact on organization</a:t>
            </a:r>
            <a:endParaRPr sz="1200" dirty="0"/>
          </a:p>
        </p:txBody>
      </p:sp>
      <p:cxnSp>
        <p:nvCxnSpPr>
          <p:cNvPr id="9" name="Straight Arrow Connector 8">
            <a:extLst>
              <a:ext uri="{FF2B5EF4-FFF2-40B4-BE49-F238E27FC236}">
                <a16:creationId xmlns:a16="http://schemas.microsoft.com/office/drawing/2014/main" id="{F19F9C64-4141-5C18-31F6-C9500843CF80}"/>
              </a:ext>
            </a:extLst>
          </p:cNvPr>
          <p:cNvCxnSpPr/>
          <p:nvPr/>
        </p:nvCxnSpPr>
        <p:spPr>
          <a:xfrm>
            <a:off x="2126977" y="2136913"/>
            <a:ext cx="14332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F044FE20-8F4F-E25D-B664-98F3CB1AFE74}"/>
              </a:ext>
            </a:extLst>
          </p:cNvPr>
          <p:cNvSpPr txBox="1"/>
          <p:nvPr/>
        </p:nvSpPr>
        <p:spPr>
          <a:xfrm>
            <a:off x="2049341" y="2283378"/>
            <a:ext cx="1510895" cy="369332"/>
          </a:xfrm>
          <a:prstGeom prst="rect">
            <a:avLst/>
          </a:prstGeom>
          <a:noFill/>
        </p:spPr>
        <p:txBody>
          <a:bodyPr wrap="square" rtlCol="0">
            <a:spAutoFit/>
          </a:bodyPr>
          <a:lstStyle/>
          <a:p>
            <a:pPr marL="285750" indent="-285750">
              <a:buFont typeface="Arial" panose="020B0604020202020204" pitchFamily="34" charset="0"/>
              <a:buChar char="•"/>
            </a:pPr>
            <a:r>
              <a:rPr lang="en-US" dirty="0"/>
              <a:t>Suppliers </a:t>
            </a:r>
          </a:p>
        </p:txBody>
      </p:sp>
      <p:cxnSp>
        <p:nvCxnSpPr>
          <p:cNvPr id="11" name="Straight Arrow Connector 10">
            <a:extLst>
              <a:ext uri="{FF2B5EF4-FFF2-40B4-BE49-F238E27FC236}">
                <a16:creationId xmlns:a16="http://schemas.microsoft.com/office/drawing/2014/main" id="{20787A9D-E07B-677A-8A6B-14985571AF14}"/>
              </a:ext>
            </a:extLst>
          </p:cNvPr>
          <p:cNvCxnSpPr/>
          <p:nvPr/>
        </p:nvCxnSpPr>
        <p:spPr>
          <a:xfrm>
            <a:off x="4221497" y="2136913"/>
            <a:ext cx="14332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C0D22156-66DD-938B-4BCE-8CBB4F48588F}"/>
              </a:ext>
            </a:extLst>
          </p:cNvPr>
          <p:cNvSpPr txBox="1"/>
          <p:nvPr/>
        </p:nvSpPr>
        <p:spPr>
          <a:xfrm>
            <a:off x="4221496" y="2266123"/>
            <a:ext cx="1874499" cy="923330"/>
          </a:xfrm>
          <a:prstGeom prst="rect">
            <a:avLst/>
          </a:prstGeom>
          <a:noFill/>
        </p:spPr>
        <p:txBody>
          <a:bodyPr wrap="square" rtlCol="0">
            <a:spAutoFit/>
          </a:bodyPr>
          <a:lstStyle/>
          <a:p>
            <a:pPr marL="285750" indent="-285750">
              <a:buFont typeface="Arial" panose="020B0604020202020204" pitchFamily="34" charset="0"/>
              <a:buChar char="•"/>
            </a:pPr>
            <a:r>
              <a:rPr lang="en-US" dirty="0"/>
              <a:t>Government </a:t>
            </a:r>
          </a:p>
          <a:p>
            <a:pPr marL="285750" indent="-285750">
              <a:buFont typeface="Arial" panose="020B0604020202020204" pitchFamily="34" charset="0"/>
              <a:buChar char="•"/>
            </a:pPr>
            <a:r>
              <a:rPr lang="en-US" dirty="0"/>
              <a:t>Regulators</a:t>
            </a:r>
          </a:p>
          <a:p>
            <a:pPr marL="285750" indent="-285750">
              <a:buFont typeface="Arial" panose="020B0604020202020204" pitchFamily="34" charset="0"/>
              <a:buChar char="•"/>
            </a:pPr>
            <a:r>
              <a:rPr lang="en-US" dirty="0"/>
              <a:t>Investors </a:t>
            </a:r>
          </a:p>
        </p:txBody>
      </p:sp>
      <p:cxnSp>
        <p:nvCxnSpPr>
          <p:cNvPr id="13" name="Straight Arrow Connector 12">
            <a:extLst>
              <a:ext uri="{FF2B5EF4-FFF2-40B4-BE49-F238E27FC236}">
                <a16:creationId xmlns:a16="http://schemas.microsoft.com/office/drawing/2014/main" id="{4EE2E405-4855-EE3D-DF8B-6A9A984E65E6}"/>
              </a:ext>
            </a:extLst>
          </p:cNvPr>
          <p:cNvCxnSpPr/>
          <p:nvPr/>
        </p:nvCxnSpPr>
        <p:spPr>
          <a:xfrm>
            <a:off x="2126975" y="3929269"/>
            <a:ext cx="14332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TextBox 13">
            <a:extLst>
              <a:ext uri="{FF2B5EF4-FFF2-40B4-BE49-F238E27FC236}">
                <a16:creationId xmlns:a16="http://schemas.microsoft.com/office/drawing/2014/main" id="{AE3DB09E-A9B6-95C5-B085-414D30AE4FFF}"/>
              </a:ext>
            </a:extLst>
          </p:cNvPr>
          <p:cNvSpPr txBox="1"/>
          <p:nvPr/>
        </p:nvSpPr>
        <p:spPr>
          <a:xfrm>
            <a:off x="2024969" y="4023087"/>
            <a:ext cx="1691531" cy="646331"/>
          </a:xfrm>
          <a:prstGeom prst="rect">
            <a:avLst/>
          </a:prstGeom>
          <a:noFill/>
        </p:spPr>
        <p:txBody>
          <a:bodyPr wrap="square" rtlCol="0">
            <a:spAutoFit/>
          </a:bodyPr>
          <a:lstStyle/>
          <a:p>
            <a:pPr marL="285750" indent="-285750">
              <a:buFont typeface="Arial" panose="020B0604020202020204" pitchFamily="34" charset="0"/>
              <a:buChar char="•"/>
            </a:pPr>
            <a:r>
              <a:rPr lang="en-US" dirty="0"/>
              <a:t>Customers </a:t>
            </a:r>
          </a:p>
          <a:p>
            <a:pPr marL="285750" indent="-285750">
              <a:buFont typeface="Arial" panose="020B0604020202020204" pitchFamily="34" charset="0"/>
              <a:buChar char="•"/>
            </a:pPr>
            <a:r>
              <a:rPr lang="en-US" dirty="0"/>
              <a:t>Employees </a:t>
            </a:r>
          </a:p>
        </p:txBody>
      </p:sp>
      <p:cxnSp>
        <p:nvCxnSpPr>
          <p:cNvPr id="15" name="Straight Arrow Connector 14">
            <a:extLst>
              <a:ext uri="{FF2B5EF4-FFF2-40B4-BE49-F238E27FC236}">
                <a16:creationId xmlns:a16="http://schemas.microsoft.com/office/drawing/2014/main" id="{B0EDD632-E361-DAF9-C5BE-4CD69D54A894}"/>
              </a:ext>
            </a:extLst>
          </p:cNvPr>
          <p:cNvCxnSpPr/>
          <p:nvPr/>
        </p:nvCxnSpPr>
        <p:spPr>
          <a:xfrm>
            <a:off x="4306968" y="3850686"/>
            <a:ext cx="14332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TextBox 15">
            <a:extLst>
              <a:ext uri="{FF2B5EF4-FFF2-40B4-BE49-F238E27FC236}">
                <a16:creationId xmlns:a16="http://schemas.microsoft.com/office/drawing/2014/main" id="{A6F7F912-ADC4-04AE-A008-FF92D247DE34}"/>
              </a:ext>
            </a:extLst>
          </p:cNvPr>
          <p:cNvSpPr txBox="1"/>
          <p:nvPr/>
        </p:nvSpPr>
        <p:spPr>
          <a:xfrm>
            <a:off x="4324782" y="4091639"/>
            <a:ext cx="1340268" cy="369332"/>
          </a:xfrm>
          <a:prstGeom prst="rect">
            <a:avLst/>
          </a:prstGeom>
          <a:noFill/>
        </p:spPr>
        <p:txBody>
          <a:bodyPr wrap="square" rtlCol="0">
            <a:spAutoFit/>
          </a:bodyPr>
          <a:lstStyle/>
          <a:p>
            <a:pPr marL="285750" indent="-285750">
              <a:buFont typeface="Arial" panose="020B0604020202020204" pitchFamily="34" charset="0"/>
              <a:buChar char="•"/>
            </a:pPr>
            <a:r>
              <a:rPr lang="en-US" dirty="0"/>
              <a:t>Media</a:t>
            </a:r>
          </a:p>
        </p:txBody>
      </p:sp>
      <p:sp>
        <p:nvSpPr>
          <p:cNvPr id="5" name="Footer Placeholder 6">
            <a:extLst>
              <a:ext uri="{FF2B5EF4-FFF2-40B4-BE49-F238E27FC236}">
                <a16:creationId xmlns:a16="http://schemas.microsoft.com/office/drawing/2014/main" id="{AC72032A-77F4-E110-D2E3-A5CC0F275819}"/>
              </a:ext>
            </a:extLst>
          </p:cNvPr>
          <p:cNvSpPr txBox="1">
            <a:spLocks/>
          </p:cNvSpPr>
          <p:nvPr/>
        </p:nvSpPr>
        <p:spPr>
          <a:xfrm rot="10800000" flipV="1">
            <a:off x="330200" y="6378735"/>
            <a:ext cx="11201399" cy="269919"/>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spTree>
    <p:extLst>
      <p:ext uri="{BB962C8B-B14F-4D97-AF65-F5344CB8AC3E}">
        <p14:creationId xmlns:p14="http://schemas.microsoft.com/office/powerpoint/2010/main" val="234978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95"/>
                                        </p:tgtEl>
                                        <p:attrNameLst>
                                          <p:attrName>style.visibility</p:attrName>
                                        </p:attrNameLst>
                                      </p:cBhvr>
                                      <p:to>
                                        <p:strVal val="visible"/>
                                      </p:to>
                                    </p:set>
                                    <p:animEffect transition="in" filter="circle(in)">
                                      <p:cBhvr>
                                        <p:cTn id="14" dur="250"/>
                                        <p:tgtEl>
                                          <p:spTgt spid="95"/>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circle(in)">
                                      <p:cBhvr>
                                        <p:cTn id="19" dur="250"/>
                                        <p:tgtEl>
                                          <p:spTgt spid="108"/>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circle(in)">
                                      <p:cBhvr>
                                        <p:cTn id="24" dur="250"/>
                                        <p:tgtEl>
                                          <p:spTgt spid="1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8"/>
                                        </p:tgtEl>
                                        <p:attrNameLst>
                                          <p:attrName>style.visibility</p:attrName>
                                        </p:attrNameLst>
                                      </p:cBhvr>
                                      <p:to>
                                        <p:strVal val="visible"/>
                                      </p:to>
                                    </p:set>
                                    <p:animEffect transition="in" filter="fade">
                                      <p:cBhvr>
                                        <p:cTn id="29" dur="250"/>
                                        <p:tgtEl>
                                          <p:spTgt spid="9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9"/>
                                        </p:tgtEl>
                                        <p:attrNameLst>
                                          <p:attrName>style.visibility</p:attrName>
                                        </p:attrNameLst>
                                      </p:cBhvr>
                                      <p:to>
                                        <p:strVal val="visible"/>
                                      </p:to>
                                    </p:set>
                                    <p:animEffect transition="in" filter="fade">
                                      <p:cBhvr>
                                        <p:cTn id="34" dur="25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9"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8D6-D57F-F17A-52BF-695F8C26566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C132A8-4982-2046-AD8D-FC3B0D029FDE}"/>
              </a:ext>
            </a:extLst>
          </p:cNvPr>
          <p:cNvSpPr>
            <a:spLocks noGrp="1"/>
          </p:cNvSpPr>
          <p:nvPr>
            <p:ph type="sldNum" sz="quarter" idx="11"/>
          </p:nvPr>
        </p:nvSpPr>
        <p:spPr/>
        <p:txBody>
          <a:bodyPr/>
          <a:lstStyle/>
          <a:p>
            <a:fld id="{EECC7194-A4D0-457B-9D3E-53681723AFF7}" type="slidenum">
              <a:rPr lang="en-US" smtClean="0"/>
              <a:pPr/>
              <a:t>8</a:t>
            </a:fld>
            <a:endParaRPr lang="en-US" dirty="0"/>
          </a:p>
        </p:txBody>
      </p:sp>
      <p:sp>
        <p:nvSpPr>
          <p:cNvPr id="2" name="Title 1">
            <a:extLst>
              <a:ext uri="{FF2B5EF4-FFF2-40B4-BE49-F238E27FC236}">
                <a16:creationId xmlns:a16="http://schemas.microsoft.com/office/drawing/2014/main" id="{8330E18D-89AD-95DC-05C1-11ACC8FF0286}"/>
              </a:ext>
            </a:extLst>
          </p:cNvPr>
          <p:cNvSpPr>
            <a:spLocks noGrp="1"/>
          </p:cNvSpPr>
          <p:nvPr>
            <p:ph type="title"/>
          </p:nvPr>
        </p:nvSpPr>
        <p:spPr/>
        <p:txBody>
          <a:bodyPr/>
          <a:lstStyle/>
          <a:p>
            <a:r>
              <a:rPr lang="en-US" sz="4000" dirty="0"/>
              <a:t>RADER MATRIX</a:t>
            </a:r>
          </a:p>
        </p:txBody>
      </p:sp>
      <p:sp>
        <p:nvSpPr>
          <p:cNvPr id="5" name="object 7" descr="Beige rectangle">
            <a:extLst>
              <a:ext uri="{FF2B5EF4-FFF2-40B4-BE49-F238E27FC236}">
                <a16:creationId xmlns:a16="http://schemas.microsoft.com/office/drawing/2014/main" id="{B9E26D8E-B4E8-0591-9157-2949E9E944FB}"/>
              </a:ext>
            </a:extLst>
          </p:cNvPr>
          <p:cNvSpPr/>
          <p:nvPr/>
        </p:nvSpPr>
        <p:spPr bwMode="white">
          <a:xfrm flipV="1">
            <a:off x="722099" y="12770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9" name="Text Placeholder 3">
            <a:extLst>
              <a:ext uri="{FF2B5EF4-FFF2-40B4-BE49-F238E27FC236}">
                <a16:creationId xmlns:a16="http://schemas.microsoft.com/office/drawing/2014/main" id="{41D653A6-DA68-30A1-8EC7-3D9B7BFC3C47}"/>
              </a:ext>
            </a:extLst>
          </p:cNvPr>
          <p:cNvSpPr txBox="1">
            <a:spLocks/>
          </p:cNvSpPr>
          <p:nvPr/>
        </p:nvSpPr>
        <p:spPr>
          <a:xfrm>
            <a:off x="1707112" y="2988666"/>
            <a:ext cx="2034138" cy="702406"/>
          </a:xfrm>
          <a:prstGeom prst="rect">
            <a:avLst/>
          </a:prstGeom>
          <a:noFill/>
        </p:spPr>
        <p:txBody>
          <a:bodyPr vert="horz" lIns="0" tIns="0" rIns="0" bIns="0" rtlCol="0" anchor="b">
            <a:noAutofit/>
          </a:bodyPr>
          <a:lstStyle>
            <a:lvl1pPr indent="0" algn="ctr">
              <a:lnSpc>
                <a:spcPct val="100000"/>
              </a:lnSpc>
              <a:spcBef>
                <a:spcPts val="0"/>
              </a:spcBef>
              <a:spcAft>
                <a:spcPts val="1000"/>
              </a:spcAft>
              <a:buClr>
                <a:schemeClr val="accent2"/>
              </a:buClr>
              <a:buFont typeface="Arial" panose="020B0604020202020204" pitchFamily="34" charset="0"/>
              <a:buNone/>
              <a:defRPr b="0" cap="none" baseline="0">
                <a:solidFill>
                  <a:schemeClr val="accent1"/>
                </a:solidFill>
                <a:latin typeface="+mj-lt"/>
              </a:defRPr>
            </a:lvl1pPr>
            <a:lvl2pPr marL="266700" indent="0">
              <a:lnSpc>
                <a:spcPct val="100000"/>
              </a:lnSpc>
              <a:spcBef>
                <a:spcPts val="0"/>
              </a:spcBef>
              <a:spcAft>
                <a:spcPts val="1000"/>
              </a:spcAft>
              <a:buClr>
                <a:schemeClr val="accent2"/>
              </a:buClr>
              <a:buFontTx/>
              <a:buNone/>
              <a:defRPr sz="1400">
                <a:solidFill>
                  <a:schemeClr val="bg1"/>
                </a:solidFill>
              </a:defRPr>
            </a:lvl2pPr>
            <a:lvl3pPr marL="447675" indent="0">
              <a:lnSpc>
                <a:spcPct val="100000"/>
              </a:lnSpc>
              <a:spcBef>
                <a:spcPts val="0"/>
              </a:spcBef>
              <a:spcAft>
                <a:spcPts val="1000"/>
              </a:spcAft>
              <a:buClr>
                <a:schemeClr val="tx1">
                  <a:lumMod val="50000"/>
                  <a:lumOff val="50000"/>
                </a:schemeClr>
              </a:buClr>
              <a:buFont typeface="Arial" panose="020B0604020202020204" pitchFamily="34" charset="0"/>
              <a:buNone/>
              <a:defRPr sz="1200">
                <a:solidFill>
                  <a:schemeClr val="bg1"/>
                </a:solidFill>
              </a:defRPr>
            </a:lvl3pPr>
            <a:lvl4pPr marL="628650" indent="0">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a:solidFill>
                  <a:schemeClr val="bg1"/>
                </a:solidFill>
              </a:defRPr>
            </a:lvl4pPr>
            <a:lvl5pPr marL="809625" indent="0">
              <a:lnSpc>
                <a:spcPct val="100000"/>
              </a:lnSpc>
              <a:spcBef>
                <a:spcPts val="0"/>
              </a:spcBef>
              <a:spcAft>
                <a:spcPts val="1000"/>
              </a:spcAft>
              <a:buFont typeface="Arial" panose="020B0604020202020204" pitchFamily="34" charset="0"/>
              <a:buNone/>
              <a:defRPr sz="1000">
                <a:solidFill>
                  <a:schemeClr val="bg1"/>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a:spcAft>
                <a:spcPts val="0"/>
              </a:spcAft>
            </a:pPr>
            <a:endParaRPr lang="en-US" dirty="0">
              <a:solidFill>
                <a:schemeClr val="tx1"/>
              </a:solidFill>
              <a:latin typeface="+mn-lt"/>
            </a:endParaRPr>
          </a:p>
        </p:txBody>
      </p:sp>
      <p:pic>
        <p:nvPicPr>
          <p:cNvPr id="10" name="Picture 9">
            <a:extLst>
              <a:ext uri="{FF2B5EF4-FFF2-40B4-BE49-F238E27FC236}">
                <a16:creationId xmlns:a16="http://schemas.microsoft.com/office/drawing/2014/main" id="{B9DAC266-B2C2-645A-50C7-460C5820C48F}"/>
              </a:ext>
            </a:extLst>
          </p:cNvPr>
          <p:cNvPicPr>
            <a:picLocks noChangeAspect="1"/>
          </p:cNvPicPr>
          <p:nvPr/>
        </p:nvPicPr>
        <p:blipFill>
          <a:blip r:embed="rId2"/>
          <a:stretch>
            <a:fillRect/>
          </a:stretch>
        </p:blipFill>
        <p:spPr>
          <a:xfrm>
            <a:off x="5065597" y="1159366"/>
            <a:ext cx="7039775" cy="5063412"/>
          </a:xfrm>
          <a:prstGeom prst="rect">
            <a:avLst/>
          </a:prstGeom>
          <a:solidFill>
            <a:schemeClr val="tx1">
              <a:lumMod val="85000"/>
              <a:lumOff val="15000"/>
            </a:schemeClr>
          </a:solidFill>
        </p:spPr>
      </p:pic>
      <p:sp>
        <p:nvSpPr>
          <p:cNvPr id="13" name="TextBox 12">
            <a:extLst>
              <a:ext uri="{FF2B5EF4-FFF2-40B4-BE49-F238E27FC236}">
                <a16:creationId xmlns:a16="http://schemas.microsoft.com/office/drawing/2014/main" id="{F5B2E054-00B6-CC0C-9422-7BFA6338EA8A}"/>
              </a:ext>
            </a:extLst>
          </p:cNvPr>
          <p:cNvSpPr txBox="1"/>
          <p:nvPr/>
        </p:nvSpPr>
        <p:spPr>
          <a:xfrm>
            <a:off x="423512" y="1742173"/>
            <a:ext cx="4417995" cy="2677656"/>
          </a:xfrm>
          <a:prstGeom prst="rect">
            <a:avLst/>
          </a:prstGeom>
          <a:noFill/>
        </p:spPr>
        <p:txBody>
          <a:bodyPr wrap="square" rtlCol="0">
            <a:spAutoFit/>
          </a:bodyPr>
          <a:lstStyle/>
          <a:p>
            <a:r>
              <a:rPr lang="en-US" sz="2400" b="1" dirty="0">
                <a:solidFill>
                  <a:schemeClr val="accent5">
                    <a:lumMod val="75000"/>
                  </a:schemeClr>
                </a:solidFill>
              </a:rPr>
              <a:t>Rader analysis</a:t>
            </a:r>
          </a:p>
          <a:p>
            <a:endParaRPr lang="ar-EG" dirty="0"/>
          </a:p>
          <a:p>
            <a:r>
              <a:rPr lang="en-US" dirty="0"/>
              <a:t>The governance scoring model shows balanced performance across nine governance principles, with an overall score of </a:t>
            </a:r>
            <a:r>
              <a:rPr lang="en-US" b="1" dirty="0"/>
              <a:t>37/45 (82%)</a:t>
            </a:r>
            <a:r>
              <a:rPr lang="en-US" dirty="0"/>
              <a:t>, placing Telecom Egypt within the </a:t>
            </a:r>
            <a:r>
              <a:rPr lang="en-US" b="1" dirty="0"/>
              <a:t>Good Governance Maturity</a:t>
            </a:r>
            <a:r>
              <a:rPr lang="en-US" dirty="0"/>
              <a:t> category.</a:t>
            </a:r>
          </a:p>
          <a:p>
            <a:endParaRPr lang="en-US" dirty="0"/>
          </a:p>
        </p:txBody>
      </p:sp>
      <p:sp>
        <p:nvSpPr>
          <p:cNvPr id="3" name="Footer Placeholder 6">
            <a:extLst>
              <a:ext uri="{FF2B5EF4-FFF2-40B4-BE49-F238E27FC236}">
                <a16:creationId xmlns:a16="http://schemas.microsoft.com/office/drawing/2014/main" id="{0D8A0D3F-CC22-C46F-5519-47D01AFEDDF1}"/>
              </a:ext>
            </a:extLst>
          </p:cNvPr>
          <p:cNvSpPr txBox="1">
            <a:spLocks/>
          </p:cNvSpPr>
          <p:nvPr/>
        </p:nvSpPr>
        <p:spPr>
          <a:xfrm rot="10800000" flipV="1">
            <a:off x="330200" y="6378735"/>
            <a:ext cx="11201399" cy="269919"/>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spTree>
    <p:extLst>
      <p:ext uri="{BB962C8B-B14F-4D97-AF65-F5344CB8AC3E}">
        <p14:creationId xmlns:p14="http://schemas.microsoft.com/office/powerpoint/2010/main" val="176285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250" fill="hold"/>
                                        <p:tgtEl>
                                          <p:spTgt spid="13"/>
                                        </p:tgtEl>
                                        <p:attrNameLst>
                                          <p:attrName>ppt_x</p:attrName>
                                        </p:attrNameLst>
                                      </p:cBhvr>
                                      <p:tavLst>
                                        <p:tav tm="0">
                                          <p:val>
                                            <p:strVal val="#ppt_x"/>
                                          </p:val>
                                        </p:tav>
                                        <p:tav tm="100000">
                                          <p:val>
                                            <p:strVal val="#ppt_x"/>
                                          </p:val>
                                        </p:tav>
                                      </p:tavLst>
                                    </p:anim>
                                    <p:anim calcmode="lin" valueType="num">
                                      <p:cBhvr additive="base">
                                        <p:cTn id="15" dur="25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250" fill="hold"/>
                                        <p:tgtEl>
                                          <p:spTgt spid="10"/>
                                        </p:tgtEl>
                                        <p:attrNameLst>
                                          <p:attrName>ppt_w</p:attrName>
                                        </p:attrNameLst>
                                      </p:cBhvr>
                                      <p:tavLst>
                                        <p:tav tm="0">
                                          <p:val>
                                            <p:fltVal val="0"/>
                                          </p:val>
                                        </p:tav>
                                        <p:tav tm="100000">
                                          <p:val>
                                            <p:strVal val="#ppt_w"/>
                                          </p:val>
                                        </p:tav>
                                      </p:tavLst>
                                    </p:anim>
                                    <p:anim calcmode="lin" valueType="num">
                                      <p:cBhvr>
                                        <p:cTn id="21" dur="250" fill="hold"/>
                                        <p:tgtEl>
                                          <p:spTgt spid="10"/>
                                        </p:tgtEl>
                                        <p:attrNameLst>
                                          <p:attrName>ppt_h</p:attrName>
                                        </p:attrNameLst>
                                      </p:cBhvr>
                                      <p:tavLst>
                                        <p:tav tm="0">
                                          <p:val>
                                            <p:fltVal val="0"/>
                                          </p:val>
                                        </p:tav>
                                        <p:tav tm="100000">
                                          <p:val>
                                            <p:strVal val="#ppt_h"/>
                                          </p:val>
                                        </p:tav>
                                      </p:tavLst>
                                    </p:anim>
                                    <p:animEffect transition="in" filter="fade">
                                      <p:cBhvr>
                                        <p:cTn id="22"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9E9D7-1862-6B72-42C1-60D44D7760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EC7A2D-A3D4-0295-97B8-DCD67A22B254}"/>
              </a:ext>
            </a:extLst>
          </p:cNvPr>
          <p:cNvSpPr>
            <a:spLocks noGrp="1"/>
          </p:cNvSpPr>
          <p:nvPr>
            <p:ph type="sldNum" sz="quarter" idx="11"/>
          </p:nvPr>
        </p:nvSpPr>
        <p:spPr/>
        <p:txBody>
          <a:bodyPr/>
          <a:lstStyle/>
          <a:p>
            <a:fld id="{EECC7194-A4D0-457B-9D3E-53681723AFF7}" type="slidenum">
              <a:rPr lang="en-US" smtClean="0"/>
              <a:pPr/>
              <a:t>9</a:t>
            </a:fld>
            <a:endParaRPr lang="en-US" dirty="0"/>
          </a:p>
        </p:txBody>
      </p:sp>
      <p:sp>
        <p:nvSpPr>
          <p:cNvPr id="2" name="Title 1">
            <a:extLst>
              <a:ext uri="{FF2B5EF4-FFF2-40B4-BE49-F238E27FC236}">
                <a16:creationId xmlns:a16="http://schemas.microsoft.com/office/drawing/2014/main" id="{50521E49-5549-E290-DF61-2E08158DA2BB}"/>
              </a:ext>
            </a:extLst>
          </p:cNvPr>
          <p:cNvSpPr>
            <a:spLocks noGrp="1"/>
          </p:cNvSpPr>
          <p:nvPr>
            <p:ph type="title"/>
          </p:nvPr>
        </p:nvSpPr>
        <p:spPr/>
        <p:txBody>
          <a:bodyPr/>
          <a:lstStyle/>
          <a:p>
            <a:r>
              <a:rPr lang="en-US" dirty="0"/>
              <a:t>RADER MATRIX</a:t>
            </a:r>
          </a:p>
        </p:txBody>
      </p:sp>
      <p:sp>
        <p:nvSpPr>
          <p:cNvPr id="5" name="object 7" descr="Beige rectangle">
            <a:extLst>
              <a:ext uri="{FF2B5EF4-FFF2-40B4-BE49-F238E27FC236}">
                <a16:creationId xmlns:a16="http://schemas.microsoft.com/office/drawing/2014/main" id="{64865658-2392-E265-C9E0-683EF11CF515}"/>
              </a:ext>
            </a:extLst>
          </p:cNvPr>
          <p:cNvSpPr/>
          <p:nvPr/>
        </p:nvSpPr>
        <p:spPr bwMode="white">
          <a:xfrm flipV="1">
            <a:off x="722099" y="12770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9" name="Text Placeholder 3">
            <a:extLst>
              <a:ext uri="{FF2B5EF4-FFF2-40B4-BE49-F238E27FC236}">
                <a16:creationId xmlns:a16="http://schemas.microsoft.com/office/drawing/2014/main" id="{8646DE5F-4A6E-0CF7-1FEE-C46C27944877}"/>
              </a:ext>
            </a:extLst>
          </p:cNvPr>
          <p:cNvSpPr txBox="1">
            <a:spLocks/>
          </p:cNvSpPr>
          <p:nvPr/>
        </p:nvSpPr>
        <p:spPr>
          <a:xfrm>
            <a:off x="1707112" y="2988666"/>
            <a:ext cx="2034138" cy="702406"/>
          </a:xfrm>
          <a:prstGeom prst="rect">
            <a:avLst/>
          </a:prstGeom>
          <a:noFill/>
        </p:spPr>
        <p:txBody>
          <a:bodyPr vert="horz" lIns="0" tIns="0" rIns="0" bIns="0" rtlCol="0" anchor="b">
            <a:noAutofit/>
          </a:bodyPr>
          <a:lstStyle>
            <a:lvl1pPr indent="0" algn="ctr">
              <a:lnSpc>
                <a:spcPct val="100000"/>
              </a:lnSpc>
              <a:spcBef>
                <a:spcPts val="0"/>
              </a:spcBef>
              <a:spcAft>
                <a:spcPts val="1000"/>
              </a:spcAft>
              <a:buClr>
                <a:schemeClr val="accent2"/>
              </a:buClr>
              <a:buFont typeface="Arial" panose="020B0604020202020204" pitchFamily="34" charset="0"/>
              <a:buNone/>
              <a:defRPr b="0" cap="none" baseline="0">
                <a:solidFill>
                  <a:schemeClr val="accent1"/>
                </a:solidFill>
                <a:latin typeface="+mj-lt"/>
              </a:defRPr>
            </a:lvl1pPr>
            <a:lvl2pPr marL="266700" indent="0">
              <a:lnSpc>
                <a:spcPct val="100000"/>
              </a:lnSpc>
              <a:spcBef>
                <a:spcPts val="0"/>
              </a:spcBef>
              <a:spcAft>
                <a:spcPts val="1000"/>
              </a:spcAft>
              <a:buClr>
                <a:schemeClr val="accent2"/>
              </a:buClr>
              <a:buFontTx/>
              <a:buNone/>
              <a:defRPr sz="1400">
                <a:solidFill>
                  <a:schemeClr val="bg1"/>
                </a:solidFill>
              </a:defRPr>
            </a:lvl2pPr>
            <a:lvl3pPr marL="447675" indent="0">
              <a:lnSpc>
                <a:spcPct val="100000"/>
              </a:lnSpc>
              <a:spcBef>
                <a:spcPts val="0"/>
              </a:spcBef>
              <a:spcAft>
                <a:spcPts val="1000"/>
              </a:spcAft>
              <a:buClr>
                <a:schemeClr val="tx1">
                  <a:lumMod val="50000"/>
                  <a:lumOff val="50000"/>
                </a:schemeClr>
              </a:buClr>
              <a:buFont typeface="Arial" panose="020B0604020202020204" pitchFamily="34" charset="0"/>
              <a:buNone/>
              <a:defRPr sz="1200">
                <a:solidFill>
                  <a:schemeClr val="bg1"/>
                </a:solidFill>
              </a:defRPr>
            </a:lvl3pPr>
            <a:lvl4pPr marL="628650" indent="0">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a:solidFill>
                  <a:schemeClr val="bg1"/>
                </a:solidFill>
              </a:defRPr>
            </a:lvl4pPr>
            <a:lvl5pPr marL="809625" indent="0">
              <a:lnSpc>
                <a:spcPct val="100000"/>
              </a:lnSpc>
              <a:spcBef>
                <a:spcPts val="0"/>
              </a:spcBef>
              <a:spcAft>
                <a:spcPts val="1000"/>
              </a:spcAft>
              <a:buFont typeface="Arial" panose="020B0604020202020204" pitchFamily="34" charset="0"/>
              <a:buNone/>
              <a:defRPr sz="1000">
                <a:solidFill>
                  <a:schemeClr val="bg1"/>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r">
              <a:spcAft>
                <a:spcPts val="0"/>
              </a:spcAft>
            </a:pPr>
            <a:endParaRPr lang="en-US" dirty="0">
              <a:solidFill>
                <a:schemeClr val="tx1"/>
              </a:solidFill>
              <a:latin typeface="+mn-lt"/>
            </a:endParaRPr>
          </a:p>
        </p:txBody>
      </p:sp>
      <p:graphicFrame>
        <p:nvGraphicFramePr>
          <p:cNvPr id="12" name="Table 11">
            <a:extLst>
              <a:ext uri="{FF2B5EF4-FFF2-40B4-BE49-F238E27FC236}">
                <a16:creationId xmlns:a16="http://schemas.microsoft.com/office/drawing/2014/main" id="{1BB80FE8-115F-FBC7-2464-1B2682BBF61F}"/>
              </a:ext>
            </a:extLst>
          </p:cNvPr>
          <p:cNvGraphicFramePr>
            <a:graphicFrameLocks noGrp="1"/>
          </p:cNvGraphicFramePr>
          <p:nvPr>
            <p:extLst>
              <p:ext uri="{D42A27DB-BD31-4B8C-83A1-F6EECF244321}">
                <p14:modId xmlns:p14="http://schemas.microsoft.com/office/powerpoint/2010/main" val="1794728451"/>
              </p:ext>
            </p:extLst>
          </p:nvPr>
        </p:nvGraphicFramePr>
        <p:xfrm>
          <a:off x="1193533" y="1703669"/>
          <a:ext cx="9740766" cy="2807141"/>
        </p:xfrm>
        <a:graphic>
          <a:graphicData uri="http://schemas.openxmlformats.org/drawingml/2006/table">
            <a:tbl>
              <a:tblPr firstRow="1" bandRow="1">
                <a:tableStyleId>{5C22544A-7EE6-4342-B048-85BDC9FD1C3A}</a:tableStyleId>
              </a:tblPr>
              <a:tblGrid>
                <a:gridCol w="3788073">
                  <a:extLst>
                    <a:ext uri="{9D8B030D-6E8A-4147-A177-3AD203B41FA5}">
                      <a16:colId xmlns:a16="http://schemas.microsoft.com/office/drawing/2014/main" val="883291324"/>
                    </a:ext>
                  </a:extLst>
                </a:gridCol>
                <a:gridCol w="1984231">
                  <a:extLst>
                    <a:ext uri="{9D8B030D-6E8A-4147-A177-3AD203B41FA5}">
                      <a16:colId xmlns:a16="http://schemas.microsoft.com/office/drawing/2014/main" val="355586360"/>
                    </a:ext>
                  </a:extLst>
                </a:gridCol>
                <a:gridCol w="1984231">
                  <a:extLst>
                    <a:ext uri="{9D8B030D-6E8A-4147-A177-3AD203B41FA5}">
                      <a16:colId xmlns:a16="http://schemas.microsoft.com/office/drawing/2014/main" val="3626199509"/>
                    </a:ext>
                  </a:extLst>
                </a:gridCol>
                <a:gridCol w="1984231">
                  <a:extLst>
                    <a:ext uri="{9D8B030D-6E8A-4147-A177-3AD203B41FA5}">
                      <a16:colId xmlns:a16="http://schemas.microsoft.com/office/drawing/2014/main" val="2161393824"/>
                    </a:ext>
                  </a:extLst>
                </a:gridCol>
              </a:tblGrid>
              <a:tr h="429203">
                <a:tc>
                  <a:txBody>
                    <a:bodyPr/>
                    <a:lstStyle/>
                    <a:p>
                      <a:pPr>
                        <a:buNone/>
                      </a:pPr>
                      <a:r>
                        <a:rPr lang="en-US" dirty="0"/>
                        <a:t>Metric</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buNone/>
                      </a:pPr>
                      <a:r>
                        <a:rPr lang="en-US"/>
                        <a:t>Result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buNone/>
                      </a:pPr>
                      <a:r>
                        <a:rPr lang="en-US" dirty="0"/>
                        <a:t>Metric</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buNone/>
                      </a:pPr>
                      <a:r>
                        <a:rPr lang="en-US" dirty="0"/>
                        <a:t>Result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2018180050"/>
                  </a:ext>
                </a:extLst>
              </a:tr>
              <a:tr h="834698">
                <a:tc>
                  <a:txBody>
                    <a:bodyPr/>
                    <a:lstStyle/>
                    <a:p>
                      <a:pPr>
                        <a:buNone/>
                      </a:pPr>
                      <a:r>
                        <a:rPr lang="en-US" dirty="0"/>
                        <a:t>Highest Score</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a:txBody>
                    <a:bodyPr/>
                    <a:lstStyle/>
                    <a:p>
                      <a:pPr>
                        <a:buNone/>
                      </a:pPr>
                      <a:r>
                        <a:rPr lang="en-US" dirty="0"/>
                        <a:t>Accountability &amp; Compliance (5/5)</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a:txBody>
                    <a:bodyPr/>
                    <a:lstStyle/>
                    <a:p>
                      <a:pPr>
                        <a:buNone/>
                      </a:pPr>
                      <a:r>
                        <a:rPr lang="en-US" dirty="0"/>
                        <a:t>Highest Score</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a:txBody>
                    <a:bodyPr/>
                    <a:lstStyle/>
                    <a:p>
                      <a:pPr>
                        <a:buNone/>
                      </a:pPr>
                      <a:r>
                        <a:rPr lang="en-US" dirty="0"/>
                        <a:t>Accountability &amp; Compliance (5/5)</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741004110"/>
                  </a:ext>
                </a:extLst>
              </a:tr>
              <a:tr h="439315">
                <a:tc>
                  <a:txBody>
                    <a:bodyPr/>
                    <a:lstStyle/>
                    <a:p>
                      <a:pPr>
                        <a:buNone/>
                      </a:pPr>
                      <a:r>
                        <a:rPr lang="en-US" dirty="0"/>
                        <a:t>Average Score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en-US"/>
                        <a:t>82%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en-US" dirty="0"/>
                        <a:t>Average Score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en-US"/>
                        <a:t>82%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73755630"/>
                  </a:ext>
                </a:extLst>
              </a:tr>
              <a:tr h="463845">
                <a:tc>
                  <a:txBody>
                    <a:bodyPr/>
                    <a:lstStyle/>
                    <a:p>
                      <a:pPr>
                        <a:buNone/>
                      </a:pPr>
                      <a:r>
                        <a:rPr lang="en-US" dirty="0"/>
                        <a:t>Weakest Area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buNone/>
                      </a:pPr>
                      <a:r>
                        <a:rPr lang="en-US"/>
                        <a:t>Participation (3/5)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buNone/>
                      </a:pPr>
                      <a:r>
                        <a:rPr lang="en-US" dirty="0"/>
                        <a:t>Weakest Area</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buNone/>
                      </a:pPr>
                      <a:r>
                        <a:rPr lang="en-US"/>
                        <a:t>Participation (3/5)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2586670"/>
                  </a:ext>
                </a:extLst>
              </a:tr>
              <a:tr h="479887">
                <a:tc>
                  <a:txBody>
                    <a:bodyPr/>
                    <a:lstStyle/>
                    <a:p>
                      <a:pPr>
                        <a:buNone/>
                      </a:pPr>
                      <a:r>
                        <a:rPr lang="en-US"/>
                        <a:t>Maturity Level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en-US" dirty="0"/>
                        <a:t>Good Governance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en-US" dirty="0"/>
                        <a:t>Maturity Level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en-US" dirty="0"/>
                        <a:t>Good Governance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5625206"/>
                  </a:ext>
                </a:extLst>
              </a:tr>
            </a:tbl>
          </a:graphicData>
        </a:graphic>
      </p:graphicFrame>
      <p:sp>
        <p:nvSpPr>
          <p:cNvPr id="3" name="Footer Placeholder 6">
            <a:extLst>
              <a:ext uri="{FF2B5EF4-FFF2-40B4-BE49-F238E27FC236}">
                <a16:creationId xmlns:a16="http://schemas.microsoft.com/office/drawing/2014/main" id="{DB69E303-1678-9418-BADC-9DA6B81682AE}"/>
              </a:ext>
            </a:extLst>
          </p:cNvPr>
          <p:cNvSpPr txBox="1">
            <a:spLocks/>
          </p:cNvSpPr>
          <p:nvPr/>
        </p:nvSpPr>
        <p:spPr>
          <a:xfrm rot="10800000" flipV="1">
            <a:off x="330200" y="6378735"/>
            <a:ext cx="11201399" cy="269919"/>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spTree>
    <p:extLst>
      <p:ext uri="{BB962C8B-B14F-4D97-AF65-F5344CB8AC3E}">
        <p14:creationId xmlns:p14="http://schemas.microsoft.com/office/powerpoint/2010/main" val="119231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down)">
                                      <p:cBhvr>
                                        <p:cTn id="14"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2F6A-636F-4857-B3DF-84C40FD31807}"/>
              </a:ext>
            </a:extLst>
          </p:cNvPr>
          <p:cNvSpPr>
            <a:spLocks noGrp="1"/>
          </p:cNvSpPr>
          <p:nvPr>
            <p:ph type="title"/>
          </p:nvPr>
        </p:nvSpPr>
        <p:spPr>
          <a:xfrm>
            <a:off x="430000" y="225390"/>
            <a:ext cx="7560000" cy="370166"/>
          </a:xfrm>
        </p:spPr>
        <p:txBody>
          <a:bodyPr/>
          <a:lstStyle/>
          <a:p>
            <a:r>
              <a:rPr lang="en-US" sz="3600" dirty="0"/>
              <a:t>GOVERNANCE ASSESSMENT</a:t>
            </a:r>
          </a:p>
        </p:txBody>
      </p:sp>
      <p:sp>
        <p:nvSpPr>
          <p:cNvPr id="3" name="Slide Number Placeholder 2">
            <a:extLst>
              <a:ext uri="{FF2B5EF4-FFF2-40B4-BE49-F238E27FC236}">
                <a16:creationId xmlns:a16="http://schemas.microsoft.com/office/drawing/2014/main" id="{126DEDAB-4595-4AAB-8FB4-F3036F68D70A}"/>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8" name="Text Placeholder 7">
            <a:extLst>
              <a:ext uri="{FF2B5EF4-FFF2-40B4-BE49-F238E27FC236}">
                <a16:creationId xmlns:a16="http://schemas.microsoft.com/office/drawing/2014/main" id="{A36087DB-FF15-448E-ACA3-0466788AFD27}"/>
              </a:ext>
            </a:extLst>
          </p:cNvPr>
          <p:cNvSpPr>
            <a:spLocks noGrp="1"/>
          </p:cNvSpPr>
          <p:nvPr>
            <p:ph type="body" sz="quarter" idx="12"/>
          </p:nvPr>
        </p:nvSpPr>
        <p:spPr>
          <a:xfrm>
            <a:off x="533630" y="838521"/>
            <a:ext cx="7559675" cy="360000"/>
          </a:xfrm>
        </p:spPr>
        <p:txBody>
          <a:bodyPr/>
          <a:lstStyle/>
          <a:p>
            <a:r>
              <a:rPr lang="en-US" dirty="0"/>
              <a:t>Governance Maturity Score</a:t>
            </a:r>
          </a:p>
        </p:txBody>
      </p:sp>
      <p:sp>
        <p:nvSpPr>
          <p:cNvPr id="9" name="object 7" descr="Beige rectangle">
            <a:extLst>
              <a:ext uri="{FF2B5EF4-FFF2-40B4-BE49-F238E27FC236}">
                <a16:creationId xmlns:a16="http://schemas.microsoft.com/office/drawing/2014/main" id="{C88E3957-6CDD-4061-AA83-A074A57C9C12}"/>
              </a:ext>
            </a:extLst>
          </p:cNvPr>
          <p:cNvSpPr/>
          <p:nvPr/>
        </p:nvSpPr>
        <p:spPr bwMode="white">
          <a:xfrm>
            <a:off x="533630" y="72334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aphicFrame>
        <p:nvGraphicFramePr>
          <p:cNvPr id="14" name="Chart 13">
            <a:extLst>
              <a:ext uri="{FF2B5EF4-FFF2-40B4-BE49-F238E27FC236}">
                <a16:creationId xmlns:a16="http://schemas.microsoft.com/office/drawing/2014/main" id="{2E280A34-4B36-4F7F-A9B3-3D139F10E3F2}"/>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165790692"/>
              </p:ext>
            </p:extLst>
          </p:nvPr>
        </p:nvGraphicFramePr>
        <p:xfrm>
          <a:off x="655497" y="988556"/>
          <a:ext cx="1769456" cy="2101000"/>
        </p:xfrm>
        <a:graphic>
          <a:graphicData uri="http://schemas.openxmlformats.org/drawingml/2006/chart">
            <c:chart xmlns:c="http://schemas.openxmlformats.org/drawingml/2006/chart" xmlns:r="http://schemas.openxmlformats.org/officeDocument/2006/relationships" r:id="rId2"/>
          </a:graphicData>
        </a:graphic>
      </p:graphicFrame>
      <p:sp>
        <p:nvSpPr>
          <p:cNvPr id="15" name="Oval 14">
            <a:extLst>
              <a:ext uri="{FF2B5EF4-FFF2-40B4-BE49-F238E27FC236}">
                <a16:creationId xmlns:a16="http://schemas.microsoft.com/office/drawing/2014/main" id="{7AFE01DB-3E02-4464-8E1B-E6586C22A611}"/>
              </a:ext>
            </a:extLst>
          </p:cNvPr>
          <p:cNvSpPr/>
          <p:nvPr/>
        </p:nvSpPr>
        <p:spPr>
          <a:xfrm>
            <a:off x="858900" y="1063513"/>
            <a:ext cx="1417595" cy="21010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dirty="0">
                <a:solidFill>
                  <a:schemeClr val="bg1"/>
                </a:solidFill>
                <a:latin typeface="+mj-lt"/>
                <a:ea typeface="Lato Black" panose="020F0502020204030203" pitchFamily="34" charset="0"/>
                <a:cs typeface="Lato Black" panose="020F0502020204030203" pitchFamily="34" charset="0"/>
              </a:rPr>
              <a:t>80%</a:t>
            </a:r>
          </a:p>
        </p:txBody>
      </p:sp>
      <p:graphicFrame>
        <p:nvGraphicFramePr>
          <p:cNvPr id="16" name="Chart 15">
            <a:extLst>
              <a:ext uri="{FF2B5EF4-FFF2-40B4-BE49-F238E27FC236}">
                <a16:creationId xmlns:a16="http://schemas.microsoft.com/office/drawing/2014/main" id="{25D16D4D-7FFE-4B6D-9DF1-9256D3CB650C}"/>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40552400"/>
              </p:ext>
            </p:extLst>
          </p:nvPr>
        </p:nvGraphicFramePr>
        <p:xfrm>
          <a:off x="3042615" y="966313"/>
          <a:ext cx="1769456" cy="21639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D9564758-0CAF-4BB1-82E0-715E2BDC6B96}"/>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71489010"/>
              </p:ext>
            </p:extLst>
          </p:nvPr>
        </p:nvGraphicFramePr>
        <p:xfrm>
          <a:off x="5319914" y="884153"/>
          <a:ext cx="1769456" cy="2163990"/>
        </p:xfrm>
        <a:graphic>
          <a:graphicData uri="http://schemas.openxmlformats.org/drawingml/2006/chart">
            <c:chart xmlns:c="http://schemas.openxmlformats.org/drawingml/2006/chart" xmlns:r="http://schemas.openxmlformats.org/officeDocument/2006/relationships" r:id="rId4"/>
          </a:graphicData>
        </a:graphic>
      </p:graphicFrame>
      <p:sp>
        <p:nvSpPr>
          <p:cNvPr id="24" name="Oval 23">
            <a:extLst>
              <a:ext uri="{FF2B5EF4-FFF2-40B4-BE49-F238E27FC236}">
                <a16:creationId xmlns:a16="http://schemas.microsoft.com/office/drawing/2014/main" id="{BCEEAC69-6650-4332-B226-03DCBCC2ABD3}"/>
              </a:ext>
            </a:extLst>
          </p:cNvPr>
          <p:cNvSpPr/>
          <p:nvPr/>
        </p:nvSpPr>
        <p:spPr>
          <a:xfrm>
            <a:off x="3482094" y="1198521"/>
            <a:ext cx="925889" cy="1817729"/>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dirty="0">
                <a:solidFill>
                  <a:schemeClr val="bg1"/>
                </a:solidFill>
                <a:latin typeface="+mj-lt"/>
                <a:ea typeface="Lato Black" panose="020F0502020204030203" pitchFamily="34" charset="0"/>
                <a:cs typeface="Lato Black" panose="020F0502020204030203" pitchFamily="34" charset="0"/>
              </a:rPr>
              <a:t>100%</a:t>
            </a:r>
          </a:p>
        </p:txBody>
      </p:sp>
      <p:sp>
        <p:nvSpPr>
          <p:cNvPr id="25" name="Oval 24">
            <a:extLst>
              <a:ext uri="{FF2B5EF4-FFF2-40B4-BE49-F238E27FC236}">
                <a16:creationId xmlns:a16="http://schemas.microsoft.com/office/drawing/2014/main" id="{6481C18F-F6FB-440A-BE2F-F7F941E48C5C}"/>
              </a:ext>
            </a:extLst>
          </p:cNvPr>
          <p:cNvSpPr/>
          <p:nvPr/>
        </p:nvSpPr>
        <p:spPr>
          <a:xfrm>
            <a:off x="5930603" y="1063511"/>
            <a:ext cx="608868" cy="2101001"/>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dirty="0">
                <a:solidFill>
                  <a:schemeClr val="bg1"/>
                </a:solidFill>
                <a:latin typeface="+mj-lt"/>
                <a:ea typeface="Lato Black" panose="020F0502020204030203" pitchFamily="34" charset="0"/>
                <a:cs typeface="Lato Black" panose="020F0502020204030203" pitchFamily="34" charset="0"/>
              </a:rPr>
              <a:t>60%</a:t>
            </a:r>
          </a:p>
        </p:txBody>
      </p:sp>
      <p:sp>
        <p:nvSpPr>
          <p:cNvPr id="26" name="Oval 25">
            <a:extLst>
              <a:ext uri="{FF2B5EF4-FFF2-40B4-BE49-F238E27FC236}">
                <a16:creationId xmlns:a16="http://schemas.microsoft.com/office/drawing/2014/main" id="{E1C82F28-48F5-42C6-BF72-935B3AC4E193}"/>
              </a:ext>
            </a:extLst>
          </p:cNvPr>
          <p:cNvSpPr/>
          <p:nvPr/>
        </p:nvSpPr>
        <p:spPr>
          <a:xfrm>
            <a:off x="7846069" y="1254760"/>
            <a:ext cx="824890" cy="1909753"/>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dirty="0">
                <a:solidFill>
                  <a:schemeClr val="bg1"/>
                </a:solidFill>
                <a:latin typeface="+mj-lt"/>
                <a:ea typeface="Lato Black" panose="020F0502020204030203" pitchFamily="34" charset="0"/>
                <a:cs typeface="Lato Black" panose="020F0502020204030203" pitchFamily="34" charset="0"/>
              </a:rPr>
              <a:t>80%</a:t>
            </a:r>
          </a:p>
        </p:txBody>
      </p:sp>
      <p:sp>
        <p:nvSpPr>
          <p:cNvPr id="27" name="Oval 26">
            <a:extLst>
              <a:ext uri="{FF2B5EF4-FFF2-40B4-BE49-F238E27FC236}">
                <a16:creationId xmlns:a16="http://schemas.microsoft.com/office/drawing/2014/main" id="{90CD8133-923E-4CC8-A17C-17D0B8AAFC0B}"/>
              </a:ext>
            </a:extLst>
          </p:cNvPr>
          <p:cNvSpPr/>
          <p:nvPr/>
        </p:nvSpPr>
        <p:spPr>
          <a:xfrm>
            <a:off x="10011302" y="1198521"/>
            <a:ext cx="791146" cy="1965992"/>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dirty="0">
                <a:solidFill>
                  <a:schemeClr val="bg1"/>
                </a:solidFill>
                <a:latin typeface="+mj-lt"/>
                <a:ea typeface="Lato Black" panose="020F0502020204030203" pitchFamily="34" charset="0"/>
                <a:cs typeface="Lato Black" panose="020F0502020204030203" pitchFamily="34" charset="0"/>
              </a:rPr>
              <a:t>80%</a:t>
            </a:r>
          </a:p>
        </p:txBody>
      </p:sp>
      <p:sp>
        <p:nvSpPr>
          <p:cNvPr id="28" name="TextBox 27">
            <a:extLst>
              <a:ext uri="{FF2B5EF4-FFF2-40B4-BE49-F238E27FC236}">
                <a16:creationId xmlns:a16="http://schemas.microsoft.com/office/drawing/2014/main" id="{F3C60EEB-84ED-4B94-BD10-4E752EC3E31D}"/>
              </a:ext>
            </a:extLst>
          </p:cNvPr>
          <p:cNvSpPr txBox="1"/>
          <p:nvPr/>
        </p:nvSpPr>
        <p:spPr>
          <a:xfrm>
            <a:off x="651285" y="2740366"/>
            <a:ext cx="2052165" cy="307777"/>
          </a:xfrm>
          <a:prstGeom prst="rect">
            <a:avLst/>
          </a:prstGeom>
          <a:noFill/>
        </p:spPr>
        <p:txBody>
          <a:bodyPr wrap="none" rtlCol="0">
            <a:spAutoFit/>
          </a:bodyPr>
          <a:lstStyle/>
          <a:p>
            <a:pPr algn="ctr"/>
            <a:r>
              <a:rPr lang="en-US" sz="1400" dirty="0" err="1">
                <a:solidFill>
                  <a:schemeClr val="accent1"/>
                </a:solidFill>
                <a:latin typeface="+mj-lt"/>
                <a:ea typeface="Lato" panose="020F0502020204030203" pitchFamily="34" charset="0"/>
                <a:cs typeface="Lato" panose="020F0502020204030203" pitchFamily="34" charset="0"/>
              </a:rPr>
              <a:t>Tranceperancy</a:t>
            </a:r>
            <a:r>
              <a:rPr lang="en-US" sz="1400" dirty="0">
                <a:solidFill>
                  <a:schemeClr val="accent1"/>
                </a:solidFill>
                <a:latin typeface="+mj-lt"/>
                <a:ea typeface="Lato" panose="020F0502020204030203" pitchFamily="34" charset="0"/>
                <a:cs typeface="Lato" panose="020F0502020204030203" pitchFamily="34" charset="0"/>
              </a:rPr>
              <a:t> &amp; fairness </a:t>
            </a:r>
          </a:p>
        </p:txBody>
      </p:sp>
      <p:sp>
        <p:nvSpPr>
          <p:cNvPr id="29" name="TextBox 28">
            <a:extLst>
              <a:ext uri="{FF2B5EF4-FFF2-40B4-BE49-F238E27FC236}">
                <a16:creationId xmlns:a16="http://schemas.microsoft.com/office/drawing/2014/main" id="{015A3338-2705-47BE-865E-BDD18C0DB8EB}"/>
              </a:ext>
            </a:extLst>
          </p:cNvPr>
          <p:cNvSpPr txBox="1"/>
          <p:nvPr/>
        </p:nvSpPr>
        <p:spPr>
          <a:xfrm>
            <a:off x="2796434" y="2747354"/>
            <a:ext cx="2254143" cy="307777"/>
          </a:xfrm>
          <a:prstGeom prst="rect">
            <a:avLst/>
          </a:prstGeom>
          <a:noFill/>
        </p:spPr>
        <p:txBody>
          <a:bodyPr wrap="none" rtlCol="0">
            <a:spAutoFit/>
          </a:bodyPr>
          <a:lstStyle/>
          <a:p>
            <a:pPr algn="ctr"/>
            <a:r>
              <a:rPr lang="en-US" sz="1400" dirty="0">
                <a:solidFill>
                  <a:schemeClr val="accent1"/>
                </a:solidFill>
                <a:latin typeface="+mj-lt"/>
                <a:ea typeface="Lato" panose="020F0502020204030203" pitchFamily="34" charset="0"/>
                <a:cs typeface="Lato" panose="020F0502020204030203" pitchFamily="34" charset="0"/>
              </a:rPr>
              <a:t>Accountability &amp; compliance</a:t>
            </a:r>
          </a:p>
        </p:txBody>
      </p:sp>
      <p:sp>
        <p:nvSpPr>
          <p:cNvPr id="30" name="TextBox 29">
            <a:extLst>
              <a:ext uri="{FF2B5EF4-FFF2-40B4-BE49-F238E27FC236}">
                <a16:creationId xmlns:a16="http://schemas.microsoft.com/office/drawing/2014/main" id="{817E2D74-0B55-43E5-AB7B-B5B10CCB5D14}"/>
              </a:ext>
            </a:extLst>
          </p:cNvPr>
          <p:cNvSpPr txBox="1"/>
          <p:nvPr/>
        </p:nvSpPr>
        <p:spPr>
          <a:xfrm>
            <a:off x="5692097" y="2772655"/>
            <a:ext cx="1148456" cy="307777"/>
          </a:xfrm>
          <a:prstGeom prst="rect">
            <a:avLst/>
          </a:prstGeom>
          <a:noFill/>
        </p:spPr>
        <p:txBody>
          <a:bodyPr wrap="none" rtlCol="0">
            <a:spAutoFit/>
          </a:bodyPr>
          <a:lstStyle/>
          <a:p>
            <a:pPr algn="ctr"/>
            <a:r>
              <a:rPr lang="en-US" sz="1400" dirty="0">
                <a:solidFill>
                  <a:schemeClr val="accent1"/>
                </a:solidFill>
                <a:latin typeface="+mj-lt"/>
                <a:ea typeface="Lato" panose="020F0502020204030203" pitchFamily="34" charset="0"/>
                <a:cs typeface="Lato" panose="020F0502020204030203" pitchFamily="34" charset="0"/>
              </a:rPr>
              <a:t>Participation </a:t>
            </a:r>
          </a:p>
        </p:txBody>
      </p:sp>
      <p:sp>
        <p:nvSpPr>
          <p:cNvPr id="31" name="TextBox 30">
            <a:extLst>
              <a:ext uri="{FF2B5EF4-FFF2-40B4-BE49-F238E27FC236}">
                <a16:creationId xmlns:a16="http://schemas.microsoft.com/office/drawing/2014/main" id="{3B7C196F-4D61-4444-B100-DD89B471CDE0}"/>
              </a:ext>
            </a:extLst>
          </p:cNvPr>
          <p:cNvSpPr txBox="1"/>
          <p:nvPr/>
        </p:nvSpPr>
        <p:spPr>
          <a:xfrm>
            <a:off x="7161545" y="2784518"/>
            <a:ext cx="2403222" cy="307777"/>
          </a:xfrm>
          <a:prstGeom prst="rect">
            <a:avLst/>
          </a:prstGeom>
          <a:noFill/>
        </p:spPr>
        <p:txBody>
          <a:bodyPr wrap="none" rtlCol="0">
            <a:spAutoFit/>
          </a:bodyPr>
          <a:lstStyle/>
          <a:p>
            <a:pPr algn="ctr"/>
            <a:r>
              <a:rPr lang="en-US" sz="1400" dirty="0">
                <a:solidFill>
                  <a:schemeClr val="accent1"/>
                </a:solidFill>
                <a:latin typeface="+mj-lt"/>
                <a:ea typeface="Lato" panose="020F0502020204030203" pitchFamily="34" charset="0"/>
                <a:cs typeface="Lato" panose="020F0502020204030203" pitchFamily="34" charset="0"/>
              </a:rPr>
              <a:t>Responsibility &amp; independence</a:t>
            </a:r>
          </a:p>
        </p:txBody>
      </p:sp>
      <p:sp>
        <p:nvSpPr>
          <p:cNvPr id="32" name="TextBox 31">
            <a:extLst>
              <a:ext uri="{FF2B5EF4-FFF2-40B4-BE49-F238E27FC236}">
                <a16:creationId xmlns:a16="http://schemas.microsoft.com/office/drawing/2014/main" id="{F40DA19F-D46D-4462-B974-D18FB01C85FE}"/>
              </a:ext>
            </a:extLst>
          </p:cNvPr>
          <p:cNvSpPr txBox="1"/>
          <p:nvPr/>
        </p:nvSpPr>
        <p:spPr>
          <a:xfrm>
            <a:off x="9550033" y="2811744"/>
            <a:ext cx="2359493" cy="307777"/>
          </a:xfrm>
          <a:prstGeom prst="rect">
            <a:avLst/>
          </a:prstGeom>
          <a:noFill/>
        </p:spPr>
        <p:txBody>
          <a:bodyPr wrap="none" rtlCol="0">
            <a:spAutoFit/>
          </a:bodyPr>
          <a:lstStyle/>
          <a:p>
            <a:pPr algn="ctr"/>
            <a:r>
              <a:rPr lang="en-US" sz="1400" dirty="0">
                <a:solidFill>
                  <a:schemeClr val="accent1"/>
                </a:solidFill>
                <a:latin typeface="+mj-lt"/>
                <a:ea typeface="Lato" panose="020F0502020204030203" pitchFamily="34" charset="0"/>
                <a:cs typeface="Lato" panose="020F0502020204030203" pitchFamily="34" charset="0"/>
              </a:rPr>
              <a:t>Risk matrix &amp; Anti-corruption</a:t>
            </a:r>
          </a:p>
        </p:txBody>
      </p:sp>
      <p:pic>
        <p:nvPicPr>
          <p:cNvPr id="5" name="Picture 4">
            <a:extLst>
              <a:ext uri="{FF2B5EF4-FFF2-40B4-BE49-F238E27FC236}">
                <a16:creationId xmlns:a16="http://schemas.microsoft.com/office/drawing/2014/main" id="{5F2D4A28-EB07-C1F0-4F91-EC48907DF76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40225" y="3308645"/>
            <a:ext cx="9605295" cy="3378144"/>
          </a:xfrm>
          <a:prstGeom prst="rect">
            <a:avLst/>
          </a:prstGeom>
          <a:noFill/>
          <a:ln>
            <a:noFill/>
          </a:ln>
        </p:spPr>
      </p:pic>
      <p:graphicFrame>
        <p:nvGraphicFramePr>
          <p:cNvPr id="6" name="Chart 5">
            <a:extLst>
              <a:ext uri="{FF2B5EF4-FFF2-40B4-BE49-F238E27FC236}">
                <a16:creationId xmlns:a16="http://schemas.microsoft.com/office/drawing/2014/main" id="{389432C7-3B81-F3F9-BC05-B24DD1C29345}"/>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444728892"/>
              </p:ext>
            </p:extLst>
          </p:nvPr>
        </p:nvGraphicFramePr>
        <p:xfrm>
          <a:off x="7358707" y="1018521"/>
          <a:ext cx="1769456" cy="2101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0" name="Chart 9">
            <a:extLst>
              <a:ext uri="{FF2B5EF4-FFF2-40B4-BE49-F238E27FC236}">
                <a16:creationId xmlns:a16="http://schemas.microsoft.com/office/drawing/2014/main" id="{51625662-28F9-8B1C-983C-0F5BA57B3EE4}"/>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933951610"/>
              </p:ext>
            </p:extLst>
          </p:nvPr>
        </p:nvGraphicFramePr>
        <p:xfrm>
          <a:off x="9550033" y="979432"/>
          <a:ext cx="1769456" cy="2101000"/>
        </p:xfrm>
        <a:graphic>
          <a:graphicData uri="http://schemas.openxmlformats.org/drawingml/2006/chart">
            <c:chart xmlns:c="http://schemas.openxmlformats.org/drawingml/2006/chart" xmlns:r="http://schemas.openxmlformats.org/officeDocument/2006/relationships" r:id="rId7"/>
          </a:graphicData>
        </a:graphic>
      </p:graphicFrame>
      <p:sp>
        <p:nvSpPr>
          <p:cNvPr id="11" name="Footer Placeholder 6">
            <a:extLst>
              <a:ext uri="{FF2B5EF4-FFF2-40B4-BE49-F238E27FC236}">
                <a16:creationId xmlns:a16="http://schemas.microsoft.com/office/drawing/2014/main" id="{375CE30B-4F45-F42F-648C-A36E9CCA8718}"/>
              </a:ext>
            </a:extLst>
          </p:cNvPr>
          <p:cNvSpPr txBox="1">
            <a:spLocks/>
          </p:cNvSpPr>
          <p:nvPr/>
        </p:nvSpPr>
        <p:spPr>
          <a:xfrm rot="10800000" flipV="1">
            <a:off x="742172" y="6588081"/>
            <a:ext cx="11201399" cy="269919"/>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spTree>
    <p:extLst>
      <p:ext uri="{BB962C8B-B14F-4D97-AF65-F5344CB8AC3E}">
        <p14:creationId xmlns:p14="http://schemas.microsoft.com/office/powerpoint/2010/main" val="334079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circle(in)">
                                      <p:cBhvr>
                                        <p:cTn id="14" dur="25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ircle(in)">
                                      <p:cBhvr>
                                        <p:cTn id="19" dur="25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circle(in)">
                                      <p:cBhvr>
                                        <p:cTn id="24" dur="25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circle(in)">
                                      <p:cBhvr>
                                        <p:cTn id="29" dur="25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circle(in)">
                                      <p:cBhvr>
                                        <p:cTn id="34"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4" grpId="0">
        <p:bldAsOne/>
      </p:bldGraphic>
      <p:bldGraphic spid="16" grpId="0">
        <p:bldAsOne/>
      </p:bldGraphic>
      <p:bldGraphic spid="18" grpId="0">
        <p:bldAsOne/>
      </p:bldGraphic>
      <p:bldGraphic spid="6" grpId="0">
        <p:bldAsOne/>
      </p:bldGraphic>
      <p:bldGraphic spid="10"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15"/>
          <p:cNvSpPr/>
          <p:nvPr/>
        </p:nvSpPr>
        <p:spPr>
          <a:xfrm>
            <a:off x="1038997" y="1695734"/>
            <a:ext cx="6402932" cy="3685634"/>
          </a:xfrm>
          <a:custGeom>
            <a:avLst/>
            <a:gdLst/>
            <a:ahLst/>
            <a:cxnLst/>
            <a:rect l="l" t="t" r="r" b="b"/>
            <a:pathLst>
              <a:path w="9604398" h="5528451" extrusionOk="0">
                <a:moveTo>
                  <a:pt x="0" y="0"/>
                </a:moveTo>
                <a:lnTo>
                  <a:pt x="9604398" y="0"/>
                </a:lnTo>
                <a:lnTo>
                  <a:pt x="9604398" y="5528451"/>
                </a:lnTo>
                <a:lnTo>
                  <a:pt x="0" y="5528451"/>
                </a:lnTo>
                <a:lnTo>
                  <a:pt x="0" y="0"/>
                </a:lnTo>
                <a:close/>
              </a:path>
            </a:pathLst>
          </a:custGeom>
          <a:blipFill rotWithShape="1">
            <a:blip r:embed="rId3">
              <a:alphaModFix/>
            </a:blip>
            <a:stretch>
              <a:fillRect b="-73725"/>
            </a:stretch>
          </a:blipFill>
          <a:ln>
            <a:noFill/>
          </a:ln>
        </p:spPr>
        <p:txBody>
          <a:bodyPr/>
          <a:lstStyle/>
          <a:p>
            <a:endParaRPr lang="en-US"/>
          </a:p>
        </p:txBody>
      </p:sp>
      <p:graphicFrame>
        <p:nvGraphicFramePr>
          <p:cNvPr id="116" name="Google Shape;116;p15"/>
          <p:cNvGraphicFramePr/>
          <p:nvPr>
            <p:extLst>
              <p:ext uri="{D42A27DB-BD31-4B8C-83A1-F6EECF244321}">
                <p14:modId xmlns:p14="http://schemas.microsoft.com/office/powerpoint/2010/main" val="828554919"/>
              </p:ext>
            </p:extLst>
          </p:nvPr>
        </p:nvGraphicFramePr>
        <p:xfrm>
          <a:off x="1038997" y="1695733"/>
          <a:ext cx="6402932" cy="3685668"/>
        </p:xfrm>
        <a:graphic>
          <a:graphicData uri="http://schemas.openxmlformats.org/drawingml/2006/table">
            <a:tbl>
              <a:tblPr>
                <a:noFill/>
              </a:tblPr>
              <a:tblGrid>
                <a:gridCol w="1600733">
                  <a:extLst>
                    <a:ext uri="{9D8B030D-6E8A-4147-A177-3AD203B41FA5}">
                      <a16:colId xmlns:a16="http://schemas.microsoft.com/office/drawing/2014/main" val="20000"/>
                    </a:ext>
                  </a:extLst>
                </a:gridCol>
                <a:gridCol w="1600733">
                  <a:extLst>
                    <a:ext uri="{9D8B030D-6E8A-4147-A177-3AD203B41FA5}">
                      <a16:colId xmlns:a16="http://schemas.microsoft.com/office/drawing/2014/main" val="20001"/>
                    </a:ext>
                  </a:extLst>
                </a:gridCol>
                <a:gridCol w="1600733">
                  <a:extLst>
                    <a:ext uri="{9D8B030D-6E8A-4147-A177-3AD203B41FA5}">
                      <a16:colId xmlns:a16="http://schemas.microsoft.com/office/drawing/2014/main" val="20002"/>
                    </a:ext>
                  </a:extLst>
                </a:gridCol>
                <a:gridCol w="1600733">
                  <a:extLst>
                    <a:ext uri="{9D8B030D-6E8A-4147-A177-3AD203B41FA5}">
                      <a16:colId xmlns:a16="http://schemas.microsoft.com/office/drawing/2014/main" val="20003"/>
                    </a:ext>
                  </a:extLst>
                </a:gridCol>
              </a:tblGrid>
              <a:tr h="921417">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921417">
                <a:tc>
                  <a:txBody>
                    <a:bodyPr/>
                    <a:lstStyle/>
                    <a:p>
                      <a:pPr marL="0" marR="0" lvl="0" indent="0" algn="ctr" rtl="0">
                        <a:lnSpc>
                          <a:spcPct val="203545"/>
                        </a:lnSpc>
                        <a:spcBef>
                          <a:spcPts val="0"/>
                        </a:spcBef>
                        <a:spcAft>
                          <a:spcPts val="0"/>
                        </a:spcAft>
                        <a:buNone/>
                      </a:pPr>
                      <a:endParaRPr sz="700" u="none" strike="noStrike" cap="none"/>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921417">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921417">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203545"/>
                        </a:lnSpc>
                        <a:spcBef>
                          <a:spcPts val="0"/>
                        </a:spcBef>
                        <a:spcAft>
                          <a:spcPts val="0"/>
                        </a:spcAft>
                        <a:buNone/>
                      </a:pPr>
                      <a:endParaRPr lang="en-US" sz="700" u="none" strike="noStrike" cap="none" dirty="0"/>
                    </a:p>
                  </a:txBody>
                  <a:tcPr marL="127000" marR="127000" marT="127000" marB="1270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cxnSp>
        <p:nvCxnSpPr>
          <p:cNvPr id="117" name="Google Shape;117;p15"/>
          <p:cNvCxnSpPr/>
          <p:nvPr/>
        </p:nvCxnSpPr>
        <p:spPr>
          <a:xfrm>
            <a:off x="1038997" y="5653183"/>
            <a:ext cx="6402932" cy="0"/>
          </a:xfrm>
          <a:prstGeom prst="straightConnector1">
            <a:avLst/>
          </a:prstGeom>
          <a:noFill/>
          <a:ln w="76200" cap="flat" cmpd="sng">
            <a:solidFill>
              <a:srgbClr val="7900FF"/>
            </a:solidFill>
            <a:prstDash val="solid"/>
            <a:round/>
            <a:headEnd type="none" w="sm" len="sm"/>
            <a:tailEnd type="stealth" w="med" len="med"/>
          </a:ln>
        </p:spPr>
      </p:cxnSp>
      <p:cxnSp>
        <p:nvCxnSpPr>
          <p:cNvPr id="118" name="Google Shape;118;p15"/>
          <p:cNvCxnSpPr/>
          <p:nvPr/>
        </p:nvCxnSpPr>
        <p:spPr>
          <a:xfrm rot="10800000">
            <a:off x="861679" y="1695734"/>
            <a:ext cx="0" cy="3685634"/>
          </a:xfrm>
          <a:prstGeom prst="straightConnector1">
            <a:avLst/>
          </a:prstGeom>
          <a:noFill/>
          <a:ln w="76200" cap="flat" cmpd="sng">
            <a:solidFill>
              <a:srgbClr val="7900FF"/>
            </a:solidFill>
            <a:prstDash val="solid"/>
            <a:round/>
            <a:headEnd type="none" w="sm" len="sm"/>
            <a:tailEnd type="stealth" w="med" len="med"/>
          </a:ln>
        </p:spPr>
      </p:cxnSp>
      <p:sp>
        <p:nvSpPr>
          <p:cNvPr id="120" name="Google Shape;120;p15"/>
          <p:cNvSpPr txBox="1"/>
          <p:nvPr/>
        </p:nvSpPr>
        <p:spPr>
          <a:xfrm>
            <a:off x="2366997" y="5837333"/>
            <a:ext cx="3746931" cy="248658"/>
          </a:xfrm>
          <a:prstGeom prst="rect">
            <a:avLst/>
          </a:prstGeom>
          <a:noFill/>
          <a:ln>
            <a:noFill/>
          </a:ln>
        </p:spPr>
        <p:txBody>
          <a:bodyPr spcFirstLastPara="1" wrap="square" lIns="0" tIns="0" rIns="0" bIns="0" anchor="t" anchorCtr="0">
            <a:spAutoFit/>
          </a:bodyPr>
          <a:lstStyle/>
          <a:p>
            <a:pPr algn="ctr">
              <a:lnSpc>
                <a:spcPct val="101000"/>
              </a:lnSpc>
            </a:pPr>
            <a:r>
              <a:rPr lang="en-US" sz="1600" b="1" dirty="0">
                <a:solidFill>
                  <a:schemeClr val="accent1">
                    <a:lumMod val="75000"/>
                  </a:schemeClr>
                </a:solidFill>
                <a:latin typeface="Barlow"/>
                <a:ea typeface="Barlow"/>
                <a:cs typeface="Barlow"/>
                <a:sym typeface="Barlow"/>
              </a:rPr>
              <a:t>PROBABILITY</a:t>
            </a:r>
            <a:endParaRPr lang="en-US" sz="1200" dirty="0">
              <a:solidFill>
                <a:schemeClr val="accent1">
                  <a:lumMod val="75000"/>
                </a:schemeClr>
              </a:solidFill>
            </a:endParaRPr>
          </a:p>
        </p:txBody>
      </p:sp>
      <p:sp>
        <p:nvSpPr>
          <p:cNvPr id="121" name="Google Shape;121;p15"/>
          <p:cNvSpPr txBox="1"/>
          <p:nvPr/>
        </p:nvSpPr>
        <p:spPr>
          <a:xfrm rot="-5400000">
            <a:off x="-1345291" y="3181621"/>
            <a:ext cx="3746931" cy="248658"/>
          </a:xfrm>
          <a:prstGeom prst="rect">
            <a:avLst/>
          </a:prstGeom>
          <a:noFill/>
          <a:ln>
            <a:noFill/>
          </a:ln>
        </p:spPr>
        <p:txBody>
          <a:bodyPr spcFirstLastPara="1" wrap="square" lIns="0" tIns="0" rIns="0" bIns="0" anchor="t" anchorCtr="0">
            <a:spAutoFit/>
          </a:bodyPr>
          <a:lstStyle/>
          <a:p>
            <a:pPr algn="ctr">
              <a:lnSpc>
                <a:spcPct val="101000"/>
              </a:lnSpc>
            </a:pPr>
            <a:r>
              <a:rPr lang="en-US" sz="1600" b="1" dirty="0">
                <a:solidFill>
                  <a:schemeClr val="accent1">
                    <a:lumMod val="75000"/>
                  </a:schemeClr>
                </a:solidFill>
                <a:latin typeface="Barlow"/>
                <a:ea typeface="Barlow"/>
                <a:cs typeface="Barlow"/>
                <a:sym typeface="Barlow"/>
              </a:rPr>
              <a:t>IMPACT</a:t>
            </a:r>
            <a:endParaRPr sz="1200" dirty="0">
              <a:solidFill>
                <a:schemeClr val="accent1">
                  <a:lumMod val="75000"/>
                </a:schemeClr>
              </a:solidFill>
            </a:endParaRPr>
          </a:p>
        </p:txBody>
      </p:sp>
      <p:sp>
        <p:nvSpPr>
          <p:cNvPr id="122" name="Google Shape;122;p15"/>
          <p:cNvSpPr txBox="1"/>
          <p:nvPr/>
        </p:nvSpPr>
        <p:spPr>
          <a:xfrm>
            <a:off x="-1553598" y="183739"/>
            <a:ext cx="6887008" cy="621709"/>
          </a:xfrm>
          <a:prstGeom prst="rect">
            <a:avLst/>
          </a:prstGeom>
          <a:noFill/>
          <a:ln>
            <a:noFill/>
          </a:ln>
        </p:spPr>
        <p:txBody>
          <a:bodyPr spcFirstLastPara="1" wrap="square" lIns="0" tIns="0" rIns="0" bIns="0" anchor="t" anchorCtr="0">
            <a:spAutoFit/>
          </a:bodyPr>
          <a:lstStyle/>
          <a:p>
            <a:pPr algn="ctr">
              <a:lnSpc>
                <a:spcPct val="101000"/>
              </a:lnSpc>
            </a:pPr>
            <a:r>
              <a:rPr kumimoji="0" lang="en-US" sz="4000" b="1" i="0" u="none" strike="noStrike" kern="1200" cap="all" spc="-150" normalizeH="0" baseline="0" noProof="0" dirty="0">
                <a:ln>
                  <a:noFill/>
                </a:ln>
                <a:solidFill>
                  <a:srgbClr val="107082"/>
                </a:solidFill>
                <a:effectLst/>
                <a:uLnTx/>
                <a:uFillTx/>
                <a:latin typeface="Gill Sans MT"/>
                <a:ea typeface="+mj-ea"/>
                <a:cs typeface="+mj-cs"/>
              </a:rPr>
              <a:t>R</a:t>
            </a:r>
            <a:r>
              <a:rPr lang="en-US" sz="4000" b="1" cap="all" spc="-150" dirty="0">
                <a:solidFill>
                  <a:srgbClr val="107082"/>
                </a:solidFill>
                <a:latin typeface="Gill Sans MT"/>
                <a:ea typeface="+mj-ea"/>
                <a:cs typeface="+mj-cs"/>
              </a:rPr>
              <a:t>ISK</a:t>
            </a:r>
            <a:r>
              <a:rPr kumimoji="0" lang="en-US" sz="4000" b="1" i="0" u="none" strike="noStrike" kern="1200" cap="all" spc="-150" normalizeH="0" baseline="0" noProof="0" dirty="0">
                <a:ln>
                  <a:noFill/>
                </a:ln>
                <a:solidFill>
                  <a:srgbClr val="107082"/>
                </a:solidFill>
                <a:effectLst/>
                <a:uLnTx/>
                <a:uFillTx/>
                <a:latin typeface="Gill Sans MT"/>
                <a:ea typeface="+mj-ea"/>
                <a:cs typeface="+mj-cs"/>
              </a:rPr>
              <a:t> MATRIX</a:t>
            </a:r>
            <a:endParaRPr sz="1600" dirty="0"/>
          </a:p>
        </p:txBody>
      </p:sp>
      <p:grpSp>
        <p:nvGrpSpPr>
          <p:cNvPr id="123" name="Google Shape;123;p15"/>
          <p:cNvGrpSpPr/>
          <p:nvPr/>
        </p:nvGrpSpPr>
        <p:grpSpPr>
          <a:xfrm>
            <a:off x="2518867" y="4264727"/>
            <a:ext cx="1445316" cy="504694"/>
            <a:chOff x="0" y="-77062"/>
            <a:chExt cx="2890632" cy="1009386"/>
          </a:xfrm>
        </p:grpSpPr>
        <p:grpSp>
          <p:nvGrpSpPr>
            <p:cNvPr id="124" name="Google Shape;124;p15"/>
            <p:cNvGrpSpPr/>
            <p:nvPr/>
          </p:nvGrpSpPr>
          <p:grpSpPr>
            <a:xfrm>
              <a:off x="0" y="0"/>
              <a:ext cx="510229" cy="510229"/>
              <a:chOff x="0" y="0"/>
              <a:chExt cx="812800" cy="812800"/>
            </a:xfrm>
          </p:grpSpPr>
          <p:sp>
            <p:nvSpPr>
              <p:cNvPr id="125" name="Google Shape;12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p>
                <a:endParaRPr sz="1200"/>
              </a:p>
            </p:txBody>
          </p:sp>
          <p:sp>
            <p:nvSpPr>
              <p:cNvPr id="126" name="Google Shape;126;p15"/>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a:solidFill>
                    <a:schemeClr val="dk1"/>
                  </a:solidFill>
                  <a:latin typeface="Calibri"/>
                  <a:ea typeface="Calibri"/>
                  <a:cs typeface="Calibri"/>
                  <a:sym typeface="Calibri"/>
                </a:endParaRPr>
              </a:p>
            </p:txBody>
          </p:sp>
        </p:grpSp>
        <p:grpSp>
          <p:nvGrpSpPr>
            <p:cNvPr id="127" name="Google Shape;127;p15"/>
            <p:cNvGrpSpPr/>
            <p:nvPr/>
          </p:nvGrpSpPr>
          <p:grpSpPr>
            <a:xfrm>
              <a:off x="558066" y="-77062"/>
              <a:ext cx="2066357" cy="1009386"/>
              <a:chOff x="-23163" y="-22159"/>
              <a:chExt cx="408169" cy="199385"/>
            </a:xfrm>
          </p:grpSpPr>
          <p:sp>
            <p:nvSpPr>
              <p:cNvPr id="128" name="Google Shape;128;p15"/>
              <p:cNvSpPr/>
              <p:nvPr/>
            </p:nvSpPr>
            <p:spPr>
              <a:xfrm>
                <a:off x="0" y="-22159"/>
                <a:ext cx="385006" cy="135067"/>
              </a:xfrm>
              <a:custGeom>
                <a:avLst/>
                <a:gdLst/>
                <a:ahLst/>
                <a:cxnLst/>
                <a:rect l="l" t="t" r="r" b="b"/>
                <a:pathLst>
                  <a:path w="331871" h="86912" extrusionOk="0">
                    <a:moveTo>
                      <a:pt x="0" y="0"/>
                    </a:moveTo>
                    <a:lnTo>
                      <a:pt x="331871" y="0"/>
                    </a:lnTo>
                    <a:lnTo>
                      <a:pt x="331871" y="86912"/>
                    </a:lnTo>
                    <a:lnTo>
                      <a:pt x="0" y="86912"/>
                    </a:lnTo>
                    <a:close/>
                  </a:path>
                </a:pathLst>
              </a:custGeom>
              <a:solidFill>
                <a:srgbClr val="7900FF"/>
              </a:solidFill>
              <a:ln>
                <a:noFill/>
              </a:ln>
            </p:spPr>
          </p:sp>
          <p:sp>
            <p:nvSpPr>
              <p:cNvPr id="129" name="Google Shape;129;p15"/>
              <p:cNvSpPr txBox="1"/>
              <p:nvPr/>
            </p:nvSpPr>
            <p:spPr>
              <a:xfrm>
                <a:off x="-23163" y="69529"/>
                <a:ext cx="355035" cy="107697"/>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dirty="0">
                  <a:solidFill>
                    <a:schemeClr val="dk1"/>
                  </a:solidFill>
                  <a:latin typeface="Calibri"/>
                  <a:ea typeface="Calibri"/>
                  <a:cs typeface="Calibri"/>
                  <a:sym typeface="Calibri"/>
                </a:endParaRPr>
              </a:p>
            </p:txBody>
          </p:sp>
        </p:grpSp>
        <p:sp>
          <p:nvSpPr>
            <p:cNvPr id="130" name="Google Shape;130;p15"/>
            <p:cNvSpPr txBox="1"/>
            <p:nvPr/>
          </p:nvSpPr>
          <p:spPr>
            <a:xfrm>
              <a:off x="462396" y="-68936"/>
              <a:ext cx="2428236" cy="683775"/>
            </a:xfrm>
            <a:prstGeom prst="rect">
              <a:avLst/>
            </a:prstGeom>
            <a:noFill/>
            <a:ln>
              <a:noFill/>
            </a:ln>
          </p:spPr>
          <p:txBody>
            <a:bodyPr spcFirstLastPara="1" wrap="square" lIns="0" tIns="0" rIns="0" bIns="0" anchor="t" anchorCtr="0">
              <a:spAutoFit/>
            </a:bodyPr>
            <a:lstStyle/>
            <a:p>
              <a:pPr algn="ctr">
                <a:lnSpc>
                  <a:spcPct val="101000"/>
                </a:lnSpc>
              </a:pPr>
              <a:r>
                <a:rPr lang="en-US" sz="1100" b="1" dirty="0"/>
                <a:t>Operational </a:t>
              </a:r>
            </a:p>
            <a:p>
              <a:pPr algn="ctr">
                <a:lnSpc>
                  <a:spcPct val="101000"/>
                </a:lnSpc>
              </a:pPr>
              <a:r>
                <a:rPr lang="en-US" sz="1100" b="1" dirty="0"/>
                <a:t>Failure</a:t>
              </a:r>
              <a:endParaRPr sz="1200" b="1" dirty="0"/>
            </a:p>
          </p:txBody>
        </p:sp>
      </p:grpSp>
      <p:grpSp>
        <p:nvGrpSpPr>
          <p:cNvPr id="131" name="Google Shape;131;p15"/>
          <p:cNvGrpSpPr/>
          <p:nvPr/>
        </p:nvGrpSpPr>
        <p:grpSpPr>
          <a:xfrm>
            <a:off x="4821438" y="2745025"/>
            <a:ext cx="1199202" cy="871319"/>
            <a:chOff x="0" y="-1232404"/>
            <a:chExt cx="2398403" cy="1742633"/>
          </a:xfrm>
        </p:grpSpPr>
        <p:grpSp>
          <p:nvGrpSpPr>
            <p:cNvPr id="132" name="Google Shape;132;p15"/>
            <p:cNvGrpSpPr/>
            <p:nvPr/>
          </p:nvGrpSpPr>
          <p:grpSpPr>
            <a:xfrm>
              <a:off x="0" y="0"/>
              <a:ext cx="510229" cy="510229"/>
              <a:chOff x="0" y="0"/>
              <a:chExt cx="812800" cy="812800"/>
            </a:xfrm>
          </p:grpSpPr>
          <p:sp>
            <p:nvSpPr>
              <p:cNvPr id="133" name="Google Shape;13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p>
                <a:endParaRPr sz="1200"/>
              </a:p>
            </p:txBody>
          </p:sp>
          <p:sp>
            <p:nvSpPr>
              <p:cNvPr id="134" name="Google Shape;134;p15"/>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a:solidFill>
                    <a:schemeClr val="dk1"/>
                  </a:solidFill>
                  <a:latin typeface="Calibri"/>
                  <a:ea typeface="Calibri"/>
                  <a:cs typeface="Calibri"/>
                  <a:sym typeface="Calibri"/>
                </a:endParaRPr>
              </a:p>
            </p:txBody>
          </p:sp>
        </p:grpSp>
        <p:grpSp>
          <p:nvGrpSpPr>
            <p:cNvPr id="135" name="Google Shape;135;p15"/>
            <p:cNvGrpSpPr/>
            <p:nvPr/>
          </p:nvGrpSpPr>
          <p:grpSpPr>
            <a:xfrm>
              <a:off x="66254" y="-1232404"/>
              <a:ext cx="2289172" cy="1707514"/>
              <a:chOff x="-120311" y="-250375"/>
              <a:chExt cx="452182" cy="337287"/>
            </a:xfrm>
          </p:grpSpPr>
          <p:sp>
            <p:nvSpPr>
              <p:cNvPr id="136" name="Google Shape;136;p15"/>
              <p:cNvSpPr/>
              <p:nvPr/>
            </p:nvSpPr>
            <p:spPr>
              <a:xfrm>
                <a:off x="-8598" y="-56627"/>
                <a:ext cx="340469" cy="143539"/>
              </a:xfrm>
              <a:custGeom>
                <a:avLst/>
                <a:gdLst/>
                <a:ahLst/>
                <a:cxnLst/>
                <a:rect l="l" t="t" r="r" b="b"/>
                <a:pathLst>
                  <a:path w="331871" h="86912" extrusionOk="0">
                    <a:moveTo>
                      <a:pt x="0" y="0"/>
                    </a:moveTo>
                    <a:lnTo>
                      <a:pt x="331871" y="0"/>
                    </a:lnTo>
                    <a:lnTo>
                      <a:pt x="331871" y="86912"/>
                    </a:lnTo>
                    <a:lnTo>
                      <a:pt x="0" y="86912"/>
                    </a:lnTo>
                    <a:close/>
                  </a:path>
                </a:pathLst>
              </a:custGeom>
              <a:solidFill>
                <a:srgbClr val="7900FF"/>
              </a:solidFill>
              <a:ln>
                <a:noFill/>
              </a:ln>
            </p:spPr>
          </p:sp>
          <p:sp>
            <p:nvSpPr>
              <p:cNvPr id="137" name="Google Shape;137;p15"/>
              <p:cNvSpPr txBox="1"/>
              <p:nvPr/>
            </p:nvSpPr>
            <p:spPr>
              <a:xfrm>
                <a:off x="-120311" y="-250375"/>
                <a:ext cx="331871" cy="125012"/>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a:solidFill>
                    <a:schemeClr val="dk1"/>
                  </a:solidFill>
                  <a:latin typeface="Calibri"/>
                  <a:ea typeface="Calibri"/>
                  <a:cs typeface="Calibri"/>
                  <a:sym typeface="Calibri"/>
                </a:endParaRPr>
              </a:p>
            </p:txBody>
          </p:sp>
        </p:grpSp>
        <p:sp>
          <p:nvSpPr>
            <p:cNvPr id="138" name="Google Shape;138;p15"/>
            <p:cNvSpPr txBox="1"/>
            <p:nvPr/>
          </p:nvSpPr>
          <p:spPr>
            <a:xfrm>
              <a:off x="691706" y="-208663"/>
              <a:ext cx="1706697" cy="683774"/>
            </a:xfrm>
            <a:prstGeom prst="rect">
              <a:avLst/>
            </a:prstGeom>
            <a:noFill/>
            <a:ln>
              <a:noFill/>
            </a:ln>
          </p:spPr>
          <p:txBody>
            <a:bodyPr spcFirstLastPara="1" wrap="square" lIns="0" tIns="0" rIns="0" bIns="0" anchor="t" anchorCtr="0">
              <a:spAutoFit/>
            </a:bodyPr>
            <a:lstStyle/>
            <a:p>
              <a:pPr algn="ctr">
                <a:lnSpc>
                  <a:spcPct val="101000"/>
                </a:lnSpc>
              </a:pPr>
              <a:r>
                <a:rPr lang="en-US" sz="1100" b="1" dirty="0"/>
                <a:t>Regulatory Risk</a:t>
              </a:r>
              <a:endParaRPr sz="1200" b="1" dirty="0"/>
            </a:p>
          </p:txBody>
        </p:sp>
      </p:grpSp>
      <p:grpSp>
        <p:nvGrpSpPr>
          <p:cNvPr id="139" name="Google Shape;139;p15"/>
          <p:cNvGrpSpPr/>
          <p:nvPr/>
        </p:nvGrpSpPr>
        <p:grpSpPr>
          <a:xfrm>
            <a:off x="3981388" y="1710412"/>
            <a:ext cx="1311246" cy="1190503"/>
            <a:chOff x="-287767" y="-1626115"/>
            <a:chExt cx="2622492" cy="2380999"/>
          </a:xfrm>
        </p:grpSpPr>
        <p:grpSp>
          <p:nvGrpSpPr>
            <p:cNvPr id="140" name="Google Shape;140;p15"/>
            <p:cNvGrpSpPr/>
            <p:nvPr/>
          </p:nvGrpSpPr>
          <p:grpSpPr>
            <a:xfrm>
              <a:off x="0" y="0"/>
              <a:ext cx="510229" cy="510229"/>
              <a:chOff x="0" y="0"/>
              <a:chExt cx="812800" cy="812800"/>
            </a:xfrm>
          </p:grpSpPr>
          <p:sp>
            <p:nvSpPr>
              <p:cNvPr id="141" name="Google Shape;141;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p>
                <a:endParaRPr sz="1200"/>
              </a:p>
            </p:txBody>
          </p:sp>
          <p:sp>
            <p:nvSpPr>
              <p:cNvPr id="142" name="Google Shape;142;p15"/>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a:solidFill>
                    <a:schemeClr val="dk1"/>
                  </a:solidFill>
                  <a:latin typeface="Calibri"/>
                  <a:ea typeface="Calibri"/>
                  <a:cs typeface="Calibri"/>
                  <a:sym typeface="Calibri"/>
                </a:endParaRPr>
              </a:p>
            </p:txBody>
          </p:sp>
        </p:grpSp>
        <p:grpSp>
          <p:nvGrpSpPr>
            <p:cNvPr id="143" name="Google Shape;143;p15"/>
            <p:cNvGrpSpPr/>
            <p:nvPr/>
          </p:nvGrpSpPr>
          <p:grpSpPr>
            <a:xfrm>
              <a:off x="-287767" y="-1626115"/>
              <a:ext cx="2609194" cy="2380999"/>
              <a:chOff x="-190241" y="-328145"/>
              <a:chExt cx="515396" cy="470321"/>
            </a:xfrm>
          </p:grpSpPr>
          <p:sp>
            <p:nvSpPr>
              <p:cNvPr id="144" name="Google Shape;144;p15"/>
              <p:cNvSpPr/>
              <p:nvPr/>
            </p:nvSpPr>
            <p:spPr>
              <a:xfrm>
                <a:off x="-6716" y="-36876"/>
                <a:ext cx="331871" cy="179052"/>
              </a:xfrm>
              <a:custGeom>
                <a:avLst/>
                <a:gdLst/>
                <a:ahLst/>
                <a:cxnLst/>
                <a:rect l="l" t="t" r="r" b="b"/>
                <a:pathLst>
                  <a:path w="331871" h="86912" extrusionOk="0">
                    <a:moveTo>
                      <a:pt x="0" y="0"/>
                    </a:moveTo>
                    <a:lnTo>
                      <a:pt x="331871" y="0"/>
                    </a:lnTo>
                    <a:lnTo>
                      <a:pt x="331871" y="86912"/>
                    </a:lnTo>
                    <a:lnTo>
                      <a:pt x="0" y="86912"/>
                    </a:lnTo>
                    <a:close/>
                  </a:path>
                </a:pathLst>
              </a:custGeom>
              <a:solidFill>
                <a:srgbClr val="7900FF"/>
              </a:solidFill>
              <a:ln>
                <a:noFill/>
              </a:ln>
            </p:spPr>
          </p:sp>
          <p:sp>
            <p:nvSpPr>
              <p:cNvPr id="145" name="Google Shape;145;p15"/>
              <p:cNvSpPr txBox="1"/>
              <p:nvPr/>
            </p:nvSpPr>
            <p:spPr>
              <a:xfrm>
                <a:off x="-190241" y="-328145"/>
                <a:ext cx="331871" cy="125012"/>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dirty="0">
                  <a:solidFill>
                    <a:schemeClr val="dk1"/>
                  </a:solidFill>
                  <a:latin typeface="Calibri"/>
                  <a:ea typeface="Calibri"/>
                  <a:cs typeface="Calibri"/>
                  <a:sym typeface="Calibri"/>
                </a:endParaRPr>
              </a:p>
            </p:txBody>
          </p:sp>
        </p:grpSp>
        <p:sp>
          <p:nvSpPr>
            <p:cNvPr id="146" name="Google Shape;146;p15"/>
            <p:cNvSpPr txBox="1"/>
            <p:nvPr/>
          </p:nvSpPr>
          <p:spPr>
            <a:xfrm>
              <a:off x="628027" y="-64580"/>
              <a:ext cx="1706698" cy="683774"/>
            </a:xfrm>
            <a:prstGeom prst="rect">
              <a:avLst/>
            </a:prstGeom>
            <a:noFill/>
            <a:ln>
              <a:noFill/>
            </a:ln>
          </p:spPr>
          <p:txBody>
            <a:bodyPr spcFirstLastPara="1" wrap="square" lIns="0" tIns="0" rIns="0" bIns="0" anchor="t" anchorCtr="0">
              <a:spAutoFit/>
            </a:bodyPr>
            <a:lstStyle/>
            <a:p>
              <a:pPr algn="ctr">
                <a:lnSpc>
                  <a:spcPct val="101000"/>
                </a:lnSpc>
              </a:pPr>
              <a:r>
                <a:rPr lang="en-US" sz="1100" b="1" dirty="0"/>
                <a:t>Market Competition</a:t>
              </a:r>
              <a:endParaRPr sz="1200" b="1" dirty="0"/>
            </a:p>
          </p:txBody>
        </p:sp>
      </p:grpSp>
      <p:grpSp>
        <p:nvGrpSpPr>
          <p:cNvPr id="147" name="Google Shape;147;p15"/>
          <p:cNvGrpSpPr/>
          <p:nvPr/>
        </p:nvGrpSpPr>
        <p:grpSpPr>
          <a:xfrm>
            <a:off x="5741583" y="1573480"/>
            <a:ext cx="1184364" cy="333997"/>
            <a:chOff x="0" y="-157763"/>
            <a:chExt cx="2368728" cy="667992"/>
          </a:xfrm>
        </p:grpSpPr>
        <p:grpSp>
          <p:nvGrpSpPr>
            <p:cNvPr id="148" name="Google Shape;148;p15"/>
            <p:cNvGrpSpPr/>
            <p:nvPr/>
          </p:nvGrpSpPr>
          <p:grpSpPr>
            <a:xfrm>
              <a:off x="0" y="0"/>
              <a:ext cx="510229" cy="510229"/>
              <a:chOff x="0" y="0"/>
              <a:chExt cx="812800" cy="812800"/>
            </a:xfrm>
          </p:grpSpPr>
          <p:sp>
            <p:nvSpPr>
              <p:cNvPr id="149" name="Google Shape;14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60950" tIns="60950" rIns="60950" bIns="60950" anchor="ctr" anchorCtr="0">
                <a:noAutofit/>
              </a:bodyPr>
              <a:lstStyle/>
              <a:p>
                <a:endParaRPr sz="1200"/>
              </a:p>
            </p:txBody>
          </p:sp>
          <p:sp>
            <p:nvSpPr>
              <p:cNvPr id="150" name="Google Shape;150;p15"/>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a:solidFill>
                    <a:schemeClr val="dk1"/>
                  </a:solidFill>
                  <a:latin typeface="Calibri"/>
                  <a:ea typeface="Calibri"/>
                  <a:cs typeface="Calibri"/>
                  <a:sym typeface="Calibri"/>
                </a:endParaRPr>
              </a:p>
            </p:txBody>
          </p:sp>
        </p:grpSp>
        <p:grpSp>
          <p:nvGrpSpPr>
            <p:cNvPr id="151" name="Google Shape;151;p15"/>
            <p:cNvGrpSpPr/>
            <p:nvPr/>
          </p:nvGrpSpPr>
          <p:grpSpPr>
            <a:xfrm>
              <a:off x="675329" y="-157763"/>
              <a:ext cx="1680098" cy="632873"/>
              <a:chOff x="0" y="-38100"/>
              <a:chExt cx="331871" cy="125012"/>
            </a:xfrm>
          </p:grpSpPr>
          <p:sp>
            <p:nvSpPr>
              <p:cNvPr id="152" name="Google Shape;152;p15"/>
              <p:cNvSpPr/>
              <p:nvPr/>
            </p:nvSpPr>
            <p:spPr>
              <a:xfrm>
                <a:off x="0" y="0"/>
                <a:ext cx="331871" cy="86912"/>
              </a:xfrm>
              <a:custGeom>
                <a:avLst/>
                <a:gdLst/>
                <a:ahLst/>
                <a:cxnLst/>
                <a:rect l="l" t="t" r="r" b="b"/>
                <a:pathLst>
                  <a:path w="331871" h="86912" extrusionOk="0">
                    <a:moveTo>
                      <a:pt x="0" y="0"/>
                    </a:moveTo>
                    <a:lnTo>
                      <a:pt x="331871" y="0"/>
                    </a:lnTo>
                    <a:lnTo>
                      <a:pt x="331871" y="86912"/>
                    </a:lnTo>
                    <a:lnTo>
                      <a:pt x="0" y="86912"/>
                    </a:lnTo>
                    <a:close/>
                  </a:path>
                </a:pathLst>
              </a:custGeom>
              <a:solidFill>
                <a:srgbClr val="7900FF"/>
              </a:solidFill>
              <a:ln>
                <a:noFill/>
              </a:ln>
            </p:spPr>
          </p:sp>
          <p:sp>
            <p:nvSpPr>
              <p:cNvPr id="153" name="Google Shape;153;p15"/>
              <p:cNvSpPr txBox="1"/>
              <p:nvPr/>
            </p:nvSpPr>
            <p:spPr>
              <a:xfrm>
                <a:off x="0" y="-38100"/>
                <a:ext cx="331871" cy="125012"/>
              </a:xfrm>
              <a:prstGeom prst="rect">
                <a:avLst/>
              </a:prstGeom>
              <a:noFill/>
              <a:ln>
                <a:noFill/>
              </a:ln>
            </p:spPr>
            <p:txBody>
              <a:bodyPr spcFirstLastPara="1" wrap="square" lIns="33867" tIns="33867" rIns="33867" bIns="33867" anchor="ctr" anchorCtr="0">
                <a:noAutofit/>
              </a:bodyPr>
              <a:lstStyle/>
              <a:p>
                <a:pPr algn="ctr">
                  <a:lnSpc>
                    <a:spcPct val="173333"/>
                  </a:lnSpc>
                </a:pPr>
                <a:endParaRPr sz="1200">
                  <a:solidFill>
                    <a:schemeClr val="dk1"/>
                  </a:solidFill>
                  <a:latin typeface="Calibri"/>
                  <a:ea typeface="Calibri"/>
                  <a:cs typeface="Calibri"/>
                  <a:sym typeface="Calibri"/>
                </a:endParaRPr>
              </a:p>
            </p:txBody>
          </p:sp>
        </p:grpSp>
        <p:sp>
          <p:nvSpPr>
            <p:cNvPr id="154" name="Google Shape;154;p15"/>
            <p:cNvSpPr txBox="1"/>
            <p:nvPr/>
          </p:nvSpPr>
          <p:spPr>
            <a:xfrm>
              <a:off x="662030" y="115076"/>
              <a:ext cx="1706698" cy="341887"/>
            </a:xfrm>
            <a:prstGeom prst="rect">
              <a:avLst/>
            </a:prstGeom>
            <a:noFill/>
            <a:ln>
              <a:noFill/>
            </a:ln>
          </p:spPr>
          <p:txBody>
            <a:bodyPr spcFirstLastPara="1" wrap="square" lIns="0" tIns="0" rIns="0" bIns="0" anchor="t" anchorCtr="0">
              <a:spAutoFit/>
            </a:bodyPr>
            <a:lstStyle/>
            <a:p>
              <a:pPr algn="ctr">
                <a:lnSpc>
                  <a:spcPct val="101000"/>
                </a:lnSpc>
              </a:pPr>
              <a:r>
                <a:rPr lang="en-US" sz="1100" b="1" dirty="0"/>
                <a:t>Cyberattack</a:t>
              </a:r>
              <a:endParaRPr sz="1200" b="1" dirty="0"/>
            </a:p>
          </p:txBody>
        </p:sp>
      </p:grpSp>
      <p:sp>
        <p:nvSpPr>
          <p:cNvPr id="2" name="TextBox 1">
            <a:extLst>
              <a:ext uri="{FF2B5EF4-FFF2-40B4-BE49-F238E27FC236}">
                <a16:creationId xmlns:a16="http://schemas.microsoft.com/office/drawing/2014/main" id="{F24CCF71-0D9C-79C7-2489-9F4229599915}"/>
              </a:ext>
            </a:extLst>
          </p:cNvPr>
          <p:cNvSpPr txBox="1"/>
          <p:nvPr/>
        </p:nvSpPr>
        <p:spPr>
          <a:xfrm>
            <a:off x="2478708" y="5265565"/>
            <a:ext cx="590548" cy="369332"/>
          </a:xfrm>
          <a:prstGeom prst="rect">
            <a:avLst/>
          </a:prstGeom>
          <a:noFill/>
        </p:spPr>
        <p:txBody>
          <a:bodyPr wrap="square" rtlCol="0">
            <a:spAutoFit/>
          </a:bodyPr>
          <a:lstStyle/>
          <a:p>
            <a:r>
              <a:rPr lang="en-US" dirty="0"/>
              <a:t>5</a:t>
            </a:r>
          </a:p>
        </p:txBody>
      </p:sp>
      <p:sp>
        <p:nvSpPr>
          <p:cNvPr id="3" name="TextBox 2">
            <a:extLst>
              <a:ext uri="{FF2B5EF4-FFF2-40B4-BE49-F238E27FC236}">
                <a16:creationId xmlns:a16="http://schemas.microsoft.com/office/drawing/2014/main" id="{5471F543-865B-6D74-9333-40497C487772}"/>
              </a:ext>
            </a:extLst>
          </p:cNvPr>
          <p:cNvSpPr txBox="1"/>
          <p:nvPr/>
        </p:nvSpPr>
        <p:spPr>
          <a:xfrm>
            <a:off x="825080" y="4278200"/>
            <a:ext cx="427834" cy="369332"/>
          </a:xfrm>
          <a:prstGeom prst="rect">
            <a:avLst/>
          </a:prstGeom>
          <a:noFill/>
        </p:spPr>
        <p:txBody>
          <a:bodyPr wrap="square" rtlCol="0">
            <a:spAutoFit/>
          </a:bodyPr>
          <a:lstStyle/>
          <a:p>
            <a:r>
              <a:rPr lang="en-US" dirty="0"/>
              <a:t>6</a:t>
            </a:r>
          </a:p>
        </p:txBody>
      </p:sp>
      <p:sp>
        <p:nvSpPr>
          <p:cNvPr id="4" name="TextBox 3">
            <a:extLst>
              <a:ext uri="{FF2B5EF4-FFF2-40B4-BE49-F238E27FC236}">
                <a16:creationId xmlns:a16="http://schemas.microsoft.com/office/drawing/2014/main" id="{06A2A917-D13D-A228-92F3-B5D28A0321DF}"/>
              </a:ext>
            </a:extLst>
          </p:cNvPr>
          <p:cNvSpPr txBox="1"/>
          <p:nvPr/>
        </p:nvSpPr>
        <p:spPr>
          <a:xfrm>
            <a:off x="4093550" y="5311041"/>
            <a:ext cx="774695" cy="369332"/>
          </a:xfrm>
          <a:prstGeom prst="rect">
            <a:avLst/>
          </a:prstGeom>
          <a:noFill/>
        </p:spPr>
        <p:txBody>
          <a:bodyPr wrap="square" rtlCol="0">
            <a:spAutoFit/>
          </a:bodyPr>
          <a:lstStyle/>
          <a:p>
            <a:r>
              <a:rPr lang="en-US" dirty="0"/>
              <a:t>7</a:t>
            </a:r>
          </a:p>
        </p:txBody>
      </p:sp>
      <p:sp>
        <p:nvSpPr>
          <p:cNvPr id="5" name="TextBox 4">
            <a:extLst>
              <a:ext uri="{FF2B5EF4-FFF2-40B4-BE49-F238E27FC236}">
                <a16:creationId xmlns:a16="http://schemas.microsoft.com/office/drawing/2014/main" id="{5B468E00-F8B7-C855-84FB-E6EC10E76A81}"/>
              </a:ext>
            </a:extLst>
          </p:cNvPr>
          <p:cNvSpPr txBox="1"/>
          <p:nvPr/>
        </p:nvSpPr>
        <p:spPr>
          <a:xfrm>
            <a:off x="5697060" y="5296678"/>
            <a:ext cx="774695" cy="369332"/>
          </a:xfrm>
          <a:prstGeom prst="rect">
            <a:avLst/>
          </a:prstGeom>
          <a:noFill/>
        </p:spPr>
        <p:txBody>
          <a:bodyPr wrap="square" rtlCol="0">
            <a:spAutoFit/>
          </a:bodyPr>
          <a:lstStyle/>
          <a:p>
            <a:r>
              <a:rPr lang="en-US" dirty="0"/>
              <a:t>9</a:t>
            </a:r>
          </a:p>
        </p:txBody>
      </p:sp>
      <p:sp>
        <p:nvSpPr>
          <p:cNvPr id="6" name="TextBox 5">
            <a:extLst>
              <a:ext uri="{FF2B5EF4-FFF2-40B4-BE49-F238E27FC236}">
                <a16:creationId xmlns:a16="http://schemas.microsoft.com/office/drawing/2014/main" id="{A6AF6208-BD69-4177-F4B9-427A7E161D1D}"/>
              </a:ext>
            </a:extLst>
          </p:cNvPr>
          <p:cNvSpPr txBox="1"/>
          <p:nvPr/>
        </p:nvSpPr>
        <p:spPr>
          <a:xfrm>
            <a:off x="7132436" y="5274708"/>
            <a:ext cx="723900" cy="369332"/>
          </a:xfrm>
          <a:prstGeom prst="rect">
            <a:avLst/>
          </a:prstGeom>
          <a:noFill/>
        </p:spPr>
        <p:txBody>
          <a:bodyPr wrap="square" rtlCol="0">
            <a:spAutoFit/>
          </a:bodyPr>
          <a:lstStyle/>
          <a:p>
            <a:r>
              <a:rPr lang="en-US" dirty="0"/>
              <a:t>10</a:t>
            </a:r>
          </a:p>
        </p:txBody>
      </p:sp>
      <p:sp>
        <p:nvSpPr>
          <p:cNvPr id="7" name="TextBox 6">
            <a:extLst>
              <a:ext uri="{FF2B5EF4-FFF2-40B4-BE49-F238E27FC236}">
                <a16:creationId xmlns:a16="http://schemas.microsoft.com/office/drawing/2014/main" id="{1594A6D8-ADEF-5F83-B8E8-FBCDF5F7E1A9}"/>
              </a:ext>
            </a:extLst>
          </p:cNvPr>
          <p:cNvSpPr txBox="1"/>
          <p:nvPr/>
        </p:nvSpPr>
        <p:spPr>
          <a:xfrm>
            <a:off x="825080" y="3352340"/>
            <a:ext cx="829724" cy="369332"/>
          </a:xfrm>
          <a:prstGeom prst="rect">
            <a:avLst/>
          </a:prstGeom>
          <a:noFill/>
        </p:spPr>
        <p:txBody>
          <a:bodyPr wrap="square" rtlCol="0">
            <a:spAutoFit/>
          </a:bodyPr>
          <a:lstStyle/>
          <a:p>
            <a:r>
              <a:rPr lang="en-US" dirty="0"/>
              <a:t>7</a:t>
            </a:r>
          </a:p>
        </p:txBody>
      </p:sp>
      <p:sp>
        <p:nvSpPr>
          <p:cNvPr id="8" name="TextBox 7">
            <a:extLst>
              <a:ext uri="{FF2B5EF4-FFF2-40B4-BE49-F238E27FC236}">
                <a16:creationId xmlns:a16="http://schemas.microsoft.com/office/drawing/2014/main" id="{41A0936B-3B39-E813-4766-A559E8FCAD80}"/>
              </a:ext>
            </a:extLst>
          </p:cNvPr>
          <p:cNvSpPr txBox="1"/>
          <p:nvPr/>
        </p:nvSpPr>
        <p:spPr>
          <a:xfrm>
            <a:off x="829821" y="2427970"/>
            <a:ext cx="658848" cy="369332"/>
          </a:xfrm>
          <a:prstGeom prst="rect">
            <a:avLst/>
          </a:prstGeom>
          <a:noFill/>
        </p:spPr>
        <p:txBody>
          <a:bodyPr wrap="square" rtlCol="0">
            <a:spAutoFit/>
          </a:bodyPr>
          <a:lstStyle/>
          <a:p>
            <a:r>
              <a:rPr lang="en-US" dirty="0"/>
              <a:t>8</a:t>
            </a:r>
          </a:p>
        </p:txBody>
      </p:sp>
      <p:sp>
        <p:nvSpPr>
          <p:cNvPr id="9" name="TextBox 8">
            <a:extLst>
              <a:ext uri="{FF2B5EF4-FFF2-40B4-BE49-F238E27FC236}">
                <a16:creationId xmlns:a16="http://schemas.microsoft.com/office/drawing/2014/main" id="{FA831D83-078F-ADD7-B880-A9857D1B6D27}"/>
              </a:ext>
            </a:extLst>
          </p:cNvPr>
          <p:cNvSpPr txBox="1"/>
          <p:nvPr/>
        </p:nvSpPr>
        <p:spPr>
          <a:xfrm>
            <a:off x="763066" y="1593409"/>
            <a:ext cx="711524" cy="367016"/>
          </a:xfrm>
          <a:prstGeom prst="rect">
            <a:avLst/>
          </a:prstGeom>
          <a:noFill/>
        </p:spPr>
        <p:txBody>
          <a:bodyPr wrap="square" rtlCol="0">
            <a:spAutoFit/>
          </a:bodyPr>
          <a:lstStyle/>
          <a:p>
            <a:r>
              <a:rPr lang="en-US" dirty="0"/>
              <a:t>10</a:t>
            </a:r>
          </a:p>
        </p:txBody>
      </p:sp>
      <p:sp>
        <p:nvSpPr>
          <p:cNvPr id="10" name="TextBox 9">
            <a:extLst>
              <a:ext uri="{FF2B5EF4-FFF2-40B4-BE49-F238E27FC236}">
                <a16:creationId xmlns:a16="http://schemas.microsoft.com/office/drawing/2014/main" id="{B34DDD13-98B9-4E42-302A-191EF18BD10C}"/>
              </a:ext>
            </a:extLst>
          </p:cNvPr>
          <p:cNvSpPr txBox="1"/>
          <p:nvPr/>
        </p:nvSpPr>
        <p:spPr>
          <a:xfrm>
            <a:off x="332026" y="5374375"/>
            <a:ext cx="1072159" cy="369332"/>
          </a:xfrm>
          <a:prstGeom prst="rect">
            <a:avLst/>
          </a:prstGeom>
          <a:noFill/>
        </p:spPr>
        <p:txBody>
          <a:bodyPr wrap="square" rtlCol="0">
            <a:spAutoFit/>
          </a:bodyPr>
          <a:lstStyle/>
          <a:p>
            <a:r>
              <a:rPr lang="en-US" dirty="0"/>
              <a:t>LOW</a:t>
            </a:r>
          </a:p>
        </p:txBody>
      </p:sp>
      <p:sp>
        <p:nvSpPr>
          <p:cNvPr id="11" name="TextBox 10">
            <a:extLst>
              <a:ext uri="{FF2B5EF4-FFF2-40B4-BE49-F238E27FC236}">
                <a16:creationId xmlns:a16="http://schemas.microsoft.com/office/drawing/2014/main" id="{30365E18-B5B6-1DDD-F580-7BE38F673434}"/>
              </a:ext>
            </a:extLst>
          </p:cNvPr>
          <p:cNvSpPr txBox="1"/>
          <p:nvPr/>
        </p:nvSpPr>
        <p:spPr>
          <a:xfrm>
            <a:off x="203200" y="1368991"/>
            <a:ext cx="1451604" cy="369332"/>
          </a:xfrm>
          <a:prstGeom prst="rect">
            <a:avLst/>
          </a:prstGeom>
          <a:noFill/>
        </p:spPr>
        <p:txBody>
          <a:bodyPr wrap="square" rtlCol="0">
            <a:spAutoFit/>
          </a:bodyPr>
          <a:lstStyle/>
          <a:p>
            <a:r>
              <a:rPr lang="en-US" dirty="0"/>
              <a:t>HIGH</a:t>
            </a:r>
          </a:p>
        </p:txBody>
      </p:sp>
      <p:sp>
        <p:nvSpPr>
          <p:cNvPr id="12" name="TextBox 11">
            <a:extLst>
              <a:ext uri="{FF2B5EF4-FFF2-40B4-BE49-F238E27FC236}">
                <a16:creationId xmlns:a16="http://schemas.microsoft.com/office/drawing/2014/main" id="{7C40E18C-7978-556C-CB19-499609984D59}"/>
              </a:ext>
            </a:extLst>
          </p:cNvPr>
          <p:cNvSpPr txBox="1"/>
          <p:nvPr/>
        </p:nvSpPr>
        <p:spPr>
          <a:xfrm>
            <a:off x="7423046" y="5552649"/>
            <a:ext cx="1676513" cy="369332"/>
          </a:xfrm>
          <a:prstGeom prst="rect">
            <a:avLst/>
          </a:prstGeom>
          <a:noFill/>
        </p:spPr>
        <p:txBody>
          <a:bodyPr wrap="square" rtlCol="0">
            <a:spAutoFit/>
          </a:bodyPr>
          <a:lstStyle/>
          <a:p>
            <a:r>
              <a:rPr lang="en-US" dirty="0"/>
              <a:t>HIGH</a:t>
            </a:r>
          </a:p>
        </p:txBody>
      </p:sp>
      <p:sp>
        <p:nvSpPr>
          <p:cNvPr id="15" name="TextBox 14">
            <a:extLst>
              <a:ext uri="{FF2B5EF4-FFF2-40B4-BE49-F238E27FC236}">
                <a16:creationId xmlns:a16="http://schemas.microsoft.com/office/drawing/2014/main" id="{B74C2DDD-F405-C1D0-CF6B-68ECA2ED2962}"/>
              </a:ext>
            </a:extLst>
          </p:cNvPr>
          <p:cNvSpPr txBox="1"/>
          <p:nvPr/>
        </p:nvSpPr>
        <p:spPr>
          <a:xfrm>
            <a:off x="8178800" y="2091267"/>
            <a:ext cx="3151522" cy="2678154"/>
          </a:xfrm>
          <a:prstGeom prst="rect">
            <a:avLst/>
          </a:prstGeom>
          <a:noFill/>
        </p:spPr>
        <p:txBody>
          <a:bodyPr wrap="square" rtlCol="0">
            <a:spAutoFit/>
          </a:bodyPr>
          <a:lstStyle/>
          <a:p>
            <a:endParaRPr lang="en-US" dirty="0"/>
          </a:p>
        </p:txBody>
      </p:sp>
      <p:graphicFrame>
        <p:nvGraphicFramePr>
          <p:cNvPr id="16" name="Table 15">
            <a:extLst>
              <a:ext uri="{FF2B5EF4-FFF2-40B4-BE49-F238E27FC236}">
                <a16:creationId xmlns:a16="http://schemas.microsoft.com/office/drawing/2014/main" id="{32D2C8E2-4C37-455C-18F4-B831FB776D4C}"/>
              </a:ext>
            </a:extLst>
          </p:cNvPr>
          <p:cNvGraphicFramePr>
            <a:graphicFrameLocks noGrp="1"/>
          </p:cNvGraphicFramePr>
          <p:nvPr>
            <p:extLst>
              <p:ext uri="{D42A27DB-BD31-4B8C-83A1-F6EECF244321}">
                <p14:modId xmlns:p14="http://schemas.microsoft.com/office/powerpoint/2010/main" val="1824951428"/>
              </p:ext>
            </p:extLst>
          </p:nvPr>
        </p:nvGraphicFramePr>
        <p:xfrm>
          <a:off x="7779751" y="2144069"/>
          <a:ext cx="4270941" cy="2896715"/>
        </p:xfrm>
        <a:graphic>
          <a:graphicData uri="http://schemas.openxmlformats.org/drawingml/2006/table">
            <a:tbl>
              <a:tblPr firstRow="1" bandRow="1">
                <a:tableStyleId>{5C22544A-7EE6-4342-B048-85BDC9FD1C3A}</a:tableStyleId>
              </a:tblPr>
              <a:tblGrid>
                <a:gridCol w="1660920">
                  <a:extLst>
                    <a:ext uri="{9D8B030D-6E8A-4147-A177-3AD203B41FA5}">
                      <a16:colId xmlns:a16="http://schemas.microsoft.com/office/drawing/2014/main" val="883291324"/>
                    </a:ext>
                  </a:extLst>
                </a:gridCol>
                <a:gridCol w="870007">
                  <a:extLst>
                    <a:ext uri="{9D8B030D-6E8A-4147-A177-3AD203B41FA5}">
                      <a16:colId xmlns:a16="http://schemas.microsoft.com/office/drawing/2014/main" val="355586360"/>
                    </a:ext>
                  </a:extLst>
                </a:gridCol>
                <a:gridCol w="870007">
                  <a:extLst>
                    <a:ext uri="{9D8B030D-6E8A-4147-A177-3AD203B41FA5}">
                      <a16:colId xmlns:a16="http://schemas.microsoft.com/office/drawing/2014/main" val="3626199509"/>
                    </a:ext>
                  </a:extLst>
                </a:gridCol>
                <a:gridCol w="870007">
                  <a:extLst>
                    <a:ext uri="{9D8B030D-6E8A-4147-A177-3AD203B41FA5}">
                      <a16:colId xmlns:a16="http://schemas.microsoft.com/office/drawing/2014/main" val="2161393824"/>
                    </a:ext>
                  </a:extLst>
                </a:gridCol>
              </a:tblGrid>
              <a:tr h="579343">
                <a:tc>
                  <a:txBody>
                    <a:bodyPr/>
                    <a:lstStyle/>
                    <a:p>
                      <a:pPr marL="0" marR="0" algn="l">
                        <a:lnSpc>
                          <a:spcPct val="110000"/>
                        </a:lnSpc>
                        <a:spcAft>
                          <a:spcPts val="800"/>
                        </a:spcAft>
                        <a:buNone/>
                      </a:pPr>
                      <a:r>
                        <a:rPr lang="en-US" sz="1050" b="1" dirty="0">
                          <a:solidFill>
                            <a:schemeClr val="bg1"/>
                          </a:solidFill>
                          <a:effectLst/>
                          <a:latin typeface="Calibri" panose="020F0502020204030204" pitchFamily="34" charset="0"/>
                          <a:ea typeface="Calibri" panose="020F0502020204030204" pitchFamily="34" charset="0"/>
                          <a:cs typeface="Arial" panose="020B0604020202020204" pitchFamily="34" charset="0"/>
                        </a:rPr>
                        <a:t>Risk</a:t>
                      </a:r>
                      <a:endParaRPr lang="en-US" sz="105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marL="0" marR="0" algn="l">
                        <a:lnSpc>
                          <a:spcPct val="110000"/>
                        </a:lnSpc>
                        <a:spcAft>
                          <a:spcPts val="800"/>
                        </a:spcAft>
                        <a:buNone/>
                      </a:pPr>
                      <a:r>
                        <a:rPr lang="en-US" sz="1050" b="1">
                          <a:solidFill>
                            <a:schemeClr val="bg1"/>
                          </a:solidFill>
                          <a:effectLst/>
                          <a:latin typeface="Calibri" panose="020F0502020204030204" pitchFamily="34" charset="0"/>
                          <a:ea typeface="Calibri" panose="020F0502020204030204" pitchFamily="34" charset="0"/>
                          <a:cs typeface="Arial" panose="020B0604020202020204" pitchFamily="34" charset="0"/>
                        </a:rPr>
                        <a:t>Probability</a:t>
                      </a:r>
                      <a:endParaRPr lang="en-US" sz="105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marL="0" marR="0" algn="l">
                        <a:lnSpc>
                          <a:spcPct val="110000"/>
                        </a:lnSpc>
                        <a:spcAft>
                          <a:spcPts val="800"/>
                        </a:spcAft>
                        <a:buNone/>
                      </a:pPr>
                      <a:r>
                        <a:rPr lang="en-US" sz="1050" b="1">
                          <a:solidFill>
                            <a:schemeClr val="bg1"/>
                          </a:solidFill>
                          <a:effectLst/>
                          <a:latin typeface="Calibri" panose="020F0502020204030204" pitchFamily="34" charset="0"/>
                          <a:ea typeface="Calibri" panose="020F0502020204030204" pitchFamily="34" charset="0"/>
                          <a:cs typeface="Arial" panose="020B0604020202020204" pitchFamily="34" charset="0"/>
                        </a:rPr>
                        <a:t>Impact</a:t>
                      </a:r>
                      <a:endParaRPr lang="en-US" sz="105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marL="0" marR="0" algn="l">
                        <a:lnSpc>
                          <a:spcPct val="110000"/>
                        </a:lnSpc>
                        <a:spcAft>
                          <a:spcPts val="800"/>
                        </a:spcAft>
                        <a:buNone/>
                      </a:pPr>
                      <a:r>
                        <a:rPr lang="en-US" sz="1050" b="1" dirty="0">
                          <a:solidFill>
                            <a:schemeClr val="bg1"/>
                          </a:solidFill>
                          <a:effectLst/>
                          <a:latin typeface="Calibri" panose="020F0502020204030204" pitchFamily="34" charset="0"/>
                          <a:ea typeface="Calibri" panose="020F0502020204030204" pitchFamily="34" charset="0"/>
                          <a:cs typeface="Arial" panose="020B0604020202020204" pitchFamily="34" charset="0"/>
                        </a:rPr>
                        <a:t>Risk</a:t>
                      </a:r>
                      <a:endParaRPr lang="en-US" sz="105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2018180050"/>
                  </a:ext>
                </a:extLst>
              </a:tr>
              <a:tr h="579343">
                <a:tc>
                  <a:txBody>
                    <a:bodyPr/>
                    <a:lstStyle/>
                    <a:p>
                      <a:pPr marL="0" marR="0" algn="l">
                        <a:lnSpc>
                          <a:spcPct val="110000"/>
                        </a:lnSpc>
                        <a:spcAft>
                          <a:spcPts val="800"/>
                        </a:spcAft>
                        <a:buNone/>
                      </a:pPr>
                      <a:r>
                        <a:rPr lang="en-US" sz="1050" b="1" dirty="0">
                          <a:solidFill>
                            <a:srgbClr val="000000"/>
                          </a:solidFill>
                          <a:effectLst/>
                          <a:latin typeface="Calibri" panose="020F0502020204030204" pitchFamily="34" charset="0"/>
                          <a:ea typeface="Calibri" panose="020F0502020204030204" pitchFamily="34" charset="0"/>
                          <a:cs typeface="Arial" panose="020B0604020202020204" pitchFamily="34" charset="0"/>
                        </a:rPr>
                        <a:t>Cyberattack</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a:txBody>
                    <a:bodyPr/>
                    <a:lstStyle/>
                    <a:p>
                      <a:pPr marL="0" marR="0" algn="l">
                        <a:lnSpc>
                          <a:spcPct val="110000"/>
                        </a:lnSpc>
                        <a:spcAft>
                          <a:spcPts val="800"/>
                        </a:spcAft>
                        <a:buNone/>
                      </a:pPr>
                      <a:r>
                        <a:rPr lang="en-US" sz="1050" dirty="0">
                          <a:solidFill>
                            <a:srgbClr val="000000"/>
                          </a:solidFill>
                          <a:effectLst/>
                          <a:latin typeface="Calibri" panose="020F0502020204030204" pitchFamily="34" charset="0"/>
                          <a:ea typeface="Calibri" panose="020F0502020204030204" pitchFamily="34" charset="0"/>
                          <a:cs typeface="Arial" panose="020B0604020202020204" pitchFamily="34" charset="0"/>
                        </a:rPr>
                        <a:t>9</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a:txBody>
                    <a:bodyPr/>
                    <a:lstStyle/>
                    <a:p>
                      <a:pPr marL="0" marR="0" algn="l">
                        <a:lnSpc>
                          <a:spcPct val="110000"/>
                        </a:lnSpc>
                        <a:spcAft>
                          <a:spcPts val="800"/>
                        </a:spcAft>
                        <a:buNone/>
                      </a:pPr>
                      <a:r>
                        <a:rPr lang="en-US" sz="1050">
                          <a:solidFill>
                            <a:srgbClr val="000000"/>
                          </a:solidFill>
                          <a:effectLst/>
                          <a:latin typeface="Calibri" panose="020F0502020204030204" pitchFamily="34" charset="0"/>
                          <a:ea typeface="Calibri" panose="020F0502020204030204" pitchFamily="34" charset="0"/>
                          <a:cs typeface="Arial" panose="020B0604020202020204" pitchFamily="34" charset="0"/>
                        </a:rPr>
                        <a:t>10</a:t>
                      </a:r>
                      <a:endParaRPr lang="en-US" sz="105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tc>
                  <a:txBody>
                    <a:bodyPr/>
                    <a:lstStyle/>
                    <a:p>
                      <a:pPr marL="0" marR="0" algn="l">
                        <a:lnSpc>
                          <a:spcPct val="110000"/>
                        </a:lnSpc>
                        <a:spcAft>
                          <a:spcPts val="800"/>
                        </a:spcAft>
                        <a:buNone/>
                      </a:pPr>
                      <a:r>
                        <a:rPr lang="en-US" sz="1050" b="1" dirty="0">
                          <a:solidFill>
                            <a:srgbClr val="000000"/>
                          </a:solidFill>
                          <a:effectLst/>
                          <a:latin typeface="Calibri" panose="020F0502020204030204" pitchFamily="34" charset="0"/>
                          <a:ea typeface="Calibri" panose="020F0502020204030204" pitchFamily="34" charset="0"/>
                          <a:cs typeface="Arial" panose="020B0604020202020204" pitchFamily="34" charset="0"/>
                        </a:rPr>
                        <a:t>Cyberattack</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741004110"/>
                  </a:ext>
                </a:extLst>
              </a:tr>
              <a:tr h="579343">
                <a:tc>
                  <a:txBody>
                    <a:bodyPr/>
                    <a:lstStyle/>
                    <a:p>
                      <a:pPr marL="0" marR="0" algn="l">
                        <a:lnSpc>
                          <a:spcPct val="110000"/>
                        </a:lnSpc>
                        <a:spcAft>
                          <a:spcPts val="800"/>
                        </a:spcAft>
                        <a:buNone/>
                      </a:pPr>
                      <a:r>
                        <a:rPr lang="en-US" sz="1050" b="1">
                          <a:effectLst/>
                          <a:latin typeface="Calibri" panose="020F0502020204030204" pitchFamily="34" charset="0"/>
                          <a:ea typeface="Calibri" panose="020F0502020204030204" pitchFamily="34" charset="0"/>
                          <a:cs typeface="Arial" panose="020B0604020202020204" pitchFamily="34" charset="0"/>
                        </a:rPr>
                        <a:t>Regulation</a:t>
                      </a:r>
                      <a:endParaRPr lang="en-US" sz="105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l">
                        <a:lnSpc>
                          <a:spcPct val="110000"/>
                        </a:lnSpc>
                        <a:spcAft>
                          <a:spcPts val="800"/>
                        </a:spcAft>
                        <a:buNone/>
                      </a:pPr>
                      <a:r>
                        <a:rPr lang="en-US" sz="1050">
                          <a:effectLst/>
                          <a:latin typeface="Calibri" panose="020F0502020204030204" pitchFamily="34" charset="0"/>
                          <a:ea typeface="Calibri" panose="020F0502020204030204" pitchFamily="34" charset="0"/>
                          <a:cs typeface="Arial" panose="020B0604020202020204" pitchFamily="34" charset="0"/>
                        </a:rPr>
                        <a:t>8</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l">
                        <a:lnSpc>
                          <a:spcPct val="110000"/>
                        </a:lnSpc>
                        <a:spcAft>
                          <a:spcPts val="800"/>
                        </a:spcAft>
                        <a:buNone/>
                      </a:pPr>
                      <a:r>
                        <a:rPr lang="en-US" sz="1050">
                          <a:effectLst/>
                          <a:latin typeface="Calibri" panose="020F0502020204030204" pitchFamily="34" charset="0"/>
                          <a:ea typeface="Calibri" panose="020F0502020204030204" pitchFamily="34" charset="0"/>
                          <a:cs typeface="Arial" panose="020B0604020202020204" pitchFamily="34" charset="0"/>
                        </a:rPr>
                        <a:t>7</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l">
                        <a:lnSpc>
                          <a:spcPct val="110000"/>
                        </a:lnSpc>
                        <a:spcAft>
                          <a:spcPts val="800"/>
                        </a:spcAft>
                        <a:buNone/>
                      </a:pPr>
                      <a:r>
                        <a:rPr lang="en-US" sz="1050" b="1">
                          <a:effectLst/>
                          <a:latin typeface="Calibri" panose="020F0502020204030204" pitchFamily="34" charset="0"/>
                          <a:ea typeface="Calibri" panose="020F0502020204030204" pitchFamily="34" charset="0"/>
                          <a:cs typeface="Arial" panose="020B0604020202020204" pitchFamily="34" charset="0"/>
                        </a:rPr>
                        <a:t>Regulation</a:t>
                      </a:r>
                      <a:endParaRPr lang="en-US" sz="105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73755630"/>
                  </a:ext>
                </a:extLst>
              </a:tr>
              <a:tr h="579343">
                <a:tc>
                  <a:txBody>
                    <a:bodyPr/>
                    <a:lstStyle/>
                    <a:p>
                      <a:pPr marL="0" marR="0" algn="l">
                        <a:lnSpc>
                          <a:spcPct val="110000"/>
                        </a:lnSpc>
                        <a:spcAft>
                          <a:spcPts val="800"/>
                        </a:spcAft>
                        <a:buNone/>
                      </a:pPr>
                      <a:r>
                        <a:rPr lang="en-US" sz="1050" b="1">
                          <a:solidFill>
                            <a:srgbClr val="000000"/>
                          </a:solidFill>
                          <a:effectLst/>
                          <a:latin typeface="Calibri" panose="020F0502020204030204" pitchFamily="34" charset="0"/>
                          <a:ea typeface="Calibri" panose="020F0502020204030204" pitchFamily="34" charset="0"/>
                          <a:cs typeface="Arial" panose="020B0604020202020204" pitchFamily="34" charset="0"/>
                        </a:rPr>
                        <a:t>Competition</a:t>
                      </a:r>
                      <a:endParaRPr lang="en-US" sz="105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gn="l">
                        <a:lnSpc>
                          <a:spcPct val="110000"/>
                        </a:lnSpc>
                        <a:spcAft>
                          <a:spcPts val="800"/>
                        </a:spcAft>
                        <a:buNone/>
                      </a:pPr>
                      <a:r>
                        <a:rPr lang="en-US" sz="1050" dirty="0">
                          <a:solidFill>
                            <a:srgbClr val="000000"/>
                          </a:solidFill>
                          <a:effectLst/>
                          <a:latin typeface="Calibri" panose="020F0502020204030204" pitchFamily="34" charset="0"/>
                          <a:ea typeface="Calibri" panose="020F0502020204030204" pitchFamily="34" charset="0"/>
                          <a:cs typeface="Arial" panose="020B0604020202020204" pitchFamily="34" charset="0"/>
                        </a:rPr>
                        <a:t>7</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gn="l">
                        <a:lnSpc>
                          <a:spcPct val="110000"/>
                        </a:lnSpc>
                        <a:spcAft>
                          <a:spcPts val="800"/>
                        </a:spcAft>
                        <a:buNone/>
                      </a:pPr>
                      <a:r>
                        <a:rPr lang="en-US" sz="1050">
                          <a:solidFill>
                            <a:srgbClr val="000000"/>
                          </a:solidFill>
                          <a:effectLst/>
                          <a:latin typeface="Calibri" panose="020F0502020204030204" pitchFamily="34" charset="0"/>
                          <a:ea typeface="Calibri" panose="020F0502020204030204" pitchFamily="34" charset="0"/>
                          <a:cs typeface="Arial" panose="020B0604020202020204" pitchFamily="34" charset="0"/>
                        </a:rPr>
                        <a:t>8</a:t>
                      </a:r>
                      <a:endParaRPr lang="en-US" sz="105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algn="l">
                        <a:lnSpc>
                          <a:spcPct val="110000"/>
                        </a:lnSpc>
                        <a:spcAft>
                          <a:spcPts val="800"/>
                        </a:spcAft>
                        <a:buNone/>
                      </a:pPr>
                      <a:r>
                        <a:rPr lang="en-US" sz="1050" b="1">
                          <a:solidFill>
                            <a:srgbClr val="000000"/>
                          </a:solidFill>
                          <a:effectLst/>
                          <a:latin typeface="Calibri" panose="020F0502020204030204" pitchFamily="34" charset="0"/>
                          <a:ea typeface="Calibri" panose="020F0502020204030204" pitchFamily="34" charset="0"/>
                          <a:cs typeface="Arial" panose="020B0604020202020204" pitchFamily="34" charset="0"/>
                        </a:rPr>
                        <a:t>Competition</a:t>
                      </a:r>
                      <a:endParaRPr lang="en-US" sz="105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2586670"/>
                  </a:ext>
                </a:extLst>
              </a:tr>
              <a:tr h="579343">
                <a:tc>
                  <a:txBody>
                    <a:bodyPr/>
                    <a:lstStyle/>
                    <a:p>
                      <a:pPr marL="0" marR="0" algn="l">
                        <a:lnSpc>
                          <a:spcPct val="110000"/>
                        </a:lnSpc>
                        <a:spcAft>
                          <a:spcPts val="800"/>
                        </a:spcAft>
                        <a:buNone/>
                      </a:pPr>
                      <a:r>
                        <a:rPr lang="en-US" sz="1050" b="1" dirty="0">
                          <a:effectLst/>
                          <a:latin typeface="Calibri" panose="020F0502020204030204" pitchFamily="34" charset="0"/>
                          <a:ea typeface="Calibri" panose="020F0502020204030204" pitchFamily="34" charset="0"/>
                          <a:cs typeface="Arial" panose="020B0604020202020204" pitchFamily="34" charset="0"/>
                        </a:rPr>
                        <a:t>Operational Failure</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l">
                        <a:lnSpc>
                          <a:spcPct val="110000"/>
                        </a:lnSpc>
                        <a:spcAft>
                          <a:spcPts val="800"/>
                        </a:spcAft>
                        <a:buNone/>
                      </a:pPr>
                      <a:r>
                        <a:rPr lang="en-US" sz="1050">
                          <a:effectLst/>
                          <a:latin typeface="Calibri" panose="020F0502020204030204" pitchFamily="34" charset="0"/>
                          <a:ea typeface="Calibri" panose="020F0502020204030204" pitchFamily="34" charset="0"/>
                          <a:cs typeface="Arial" panose="020B0604020202020204" pitchFamily="34" charset="0"/>
                        </a:rPr>
                        <a:t>5</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l">
                        <a:lnSpc>
                          <a:spcPct val="110000"/>
                        </a:lnSpc>
                        <a:spcAft>
                          <a:spcPts val="800"/>
                        </a:spcAft>
                        <a:buNone/>
                      </a:pPr>
                      <a:r>
                        <a:rPr lang="en-US" sz="1050">
                          <a:effectLst/>
                          <a:latin typeface="Calibri" panose="020F0502020204030204" pitchFamily="34" charset="0"/>
                          <a:ea typeface="Calibri" panose="020F0502020204030204" pitchFamily="34" charset="0"/>
                          <a:cs typeface="Arial" panose="020B0604020202020204" pitchFamily="34" charset="0"/>
                        </a:rPr>
                        <a:t>6</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algn="l">
                        <a:lnSpc>
                          <a:spcPct val="110000"/>
                        </a:lnSpc>
                        <a:spcAft>
                          <a:spcPts val="800"/>
                        </a:spcAft>
                        <a:buNone/>
                      </a:pPr>
                      <a:r>
                        <a:rPr lang="en-US" sz="1050" b="1" dirty="0">
                          <a:effectLst/>
                          <a:latin typeface="Calibri" panose="020F0502020204030204" pitchFamily="34" charset="0"/>
                          <a:ea typeface="Calibri" panose="020F0502020204030204" pitchFamily="34" charset="0"/>
                          <a:cs typeface="Arial" panose="020B0604020202020204" pitchFamily="34" charset="0"/>
                        </a:rPr>
                        <a:t>Operational Failure</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5625206"/>
                  </a:ext>
                </a:extLst>
              </a:tr>
            </a:tbl>
          </a:graphicData>
        </a:graphic>
      </p:graphicFrame>
      <p:sp>
        <p:nvSpPr>
          <p:cNvPr id="17" name="object 7" descr="Beige rectangle">
            <a:extLst>
              <a:ext uri="{FF2B5EF4-FFF2-40B4-BE49-F238E27FC236}">
                <a16:creationId xmlns:a16="http://schemas.microsoft.com/office/drawing/2014/main" id="{C7649FAC-EFDF-9C98-B27D-6DA7E3671129}"/>
              </a:ext>
            </a:extLst>
          </p:cNvPr>
          <p:cNvSpPr/>
          <p:nvPr/>
        </p:nvSpPr>
        <p:spPr bwMode="white">
          <a:xfrm>
            <a:off x="533630" y="723346"/>
            <a:ext cx="253562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13" name="Footer Placeholder 6">
            <a:extLst>
              <a:ext uri="{FF2B5EF4-FFF2-40B4-BE49-F238E27FC236}">
                <a16:creationId xmlns:a16="http://schemas.microsoft.com/office/drawing/2014/main" id="{0A05E395-BA0B-AE31-BF06-6532CA57A16D}"/>
              </a:ext>
            </a:extLst>
          </p:cNvPr>
          <p:cNvSpPr txBox="1">
            <a:spLocks/>
          </p:cNvSpPr>
          <p:nvPr/>
        </p:nvSpPr>
        <p:spPr>
          <a:xfrm rot="10800000" flipV="1">
            <a:off x="332023" y="6640436"/>
            <a:ext cx="11478174" cy="13284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spTree>
    <p:extLst>
      <p:ext uri="{BB962C8B-B14F-4D97-AF65-F5344CB8AC3E}">
        <p14:creationId xmlns:p14="http://schemas.microsoft.com/office/powerpoint/2010/main" val="86648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250"/>
                                        <p:tgtEl>
                                          <p:spTgt spid="122"/>
                                        </p:tgtEl>
                                      </p:cBhvr>
                                    </p:animEffect>
                                    <p:anim calcmode="lin" valueType="num">
                                      <p:cBhvr>
                                        <p:cTn id="8" dur="250" fill="hold"/>
                                        <p:tgtEl>
                                          <p:spTgt spid="122"/>
                                        </p:tgtEl>
                                        <p:attrNameLst>
                                          <p:attrName>ppt_x</p:attrName>
                                        </p:attrNameLst>
                                      </p:cBhvr>
                                      <p:tavLst>
                                        <p:tav tm="0">
                                          <p:val>
                                            <p:strVal val="#ppt_x"/>
                                          </p:val>
                                        </p:tav>
                                        <p:tav tm="100000">
                                          <p:val>
                                            <p:strVal val="#ppt_x"/>
                                          </p:val>
                                        </p:tav>
                                      </p:tavLst>
                                    </p:anim>
                                    <p:anim calcmode="lin" valueType="num">
                                      <p:cBhvr>
                                        <p:cTn id="9" dur="250" fill="hold"/>
                                        <p:tgtEl>
                                          <p:spTgt spid="1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16"/>
                                        </p:tgtEl>
                                        <p:attrNameLst>
                                          <p:attrName>style.visibility</p:attrName>
                                        </p:attrNameLst>
                                      </p:cBhvr>
                                      <p:to>
                                        <p:strVal val="visible"/>
                                      </p:to>
                                    </p:set>
                                    <p:animEffect transition="in" filter="circle(in)">
                                      <p:cBhvr>
                                        <p:cTn id="14" dur="250"/>
                                        <p:tgtEl>
                                          <p:spTgt spid="11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down)">
                                      <p:cBhvr>
                                        <p:cTn id="19"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a:stretch/>
        </p:blipFill>
        <p:spPr>
          <a:xfrm>
            <a:off x="180315" y="24738"/>
            <a:ext cx="11832000" cy="6513922"/>
          </a:xfrm>
        </p:spPr>
      </p:pic>
      <p:sp>
        <p:nvSpPr>
          <p:cNvPr id="19" name="Rectangle 18">
            <a:extLst>
              <a:ext uri="{FF2B5EF4-FFF2-40B4-BE49-F238E27FC236}">
                <a16:creationId xmlns:a16="http://schemas.microsoft.com/office/drawing/2014/main" id="{A4592135-A11E-4178-A320-510C4B7492A3}"/>
              </a:ext>
              <a:ext uri="{C183D7F6-B498-43B3-948B-1728B52AA6E4}">
                <adec:decorative xmlns:adec="http://schemas.microsoft.com/office/drawing/2017/decorative" val="1"/>
              </a:ext>
            </a:extLst>
          </p:cNvPr>
          <p:cNvSpPr/>
          <p:nvPr/>
        </p:nvSpPr>
        <p:spPr>
          <a:xfrm>
            <a:off x="180315" y="24738"/>
            <a:ext cx="11831370" cy="6654153"/>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a:xfrm>
            <a:off x="332023" y="766197"/>
            <a:ext cx="7560000" cy="370166"/>
          </a:xfrm>
        </p:spPr>
        <p:txBody>
          <a:bodyPr/>
          <a:lstStyle/>
          <a:p>
            <a:r>
              <a:rPr lang="en-US" sz="4400" dirty="0"/>
              <a:t>RECOMMENDATIONS</a:t>
            </a:r>
          </a:p>
        </p:txBody>
      </p:sp>
      <p:sp>
        <p:nvSpPr>
          <p:cNvPr id="4" name="Slide Number Placeholder 3">
            <a:extLst>
              <a:ext uri="{FF2B5EF4-FFF2-40B4-BE49-F238E27FC236}">
                <a16:creationId xmlns:a16="http://schemas.microsoft.com/office/drawing/2014/main" id="{98F61CED-575A-4A61-B181-A44246132635}"/>
              </a:ext>
            </a:extLst>
          </p:cNvPr>
          <p:cNvSpPr>
            <a:spLocks noGrp="1"/>
          </p:cNvSpPr>
          <p:nvPr>
            <p:ph type="sldNum" sz="quarter" idx="11"/>
          </p:nvPr>
        </p:nvSpPr>
        <p:spPr/>
        <p:txBody>
          <a:bodyPr/>
          <a:lstStyle/>
          <a:p>
            <a:fld id="{EECC7194-A4D0-457B-9D3E-53681723AFF7}" type="slidenum">
              <a:rPr lang="en-US" smtClean="0"/>
              <a:pPr/>
              <a:t>12</a:t>
            </a:fld>
            <a:endParaRPr lang="en-US" dirty="0"/>
          </a:p>
        </p:txBody>
      </p:sp>
      <p:sp>
        <p:nvSpPr>
          <p:cNvPr id="5" name="Text Placeholder 4">
            <a:extLst>
              <a:ext uri="{FF2B5EF4-FFF2-40B4-BE49-F238E27FC236}">
                <a16:creationId xmlns:a16="http://schemas.microsoft.com/office/drawing/2014/main" id="{7E6F3A07-B555-4DCB-847F-A2749A0C0866}"/>
              </a:ext>
            </a:extLst>
          </p:cNvPr>
          <p:cNvSpPr>
            <a:spLocks noGrp="1"/>
          </p:cNvSpPr>
          <p:nvPr>
            <p:ph type="body" sz="quarter" idx="13"/>
          </p:nvPr>
        </p:nvSpPr>
        <p:spPr>
          <a:xfrm>
            <a:off x="1470581" y="2433564"/>
            <a:ext cx="2812282" cy="1242556"/>
          </a:xfrm>
        </p:spPr>
        <p:txBody>
          <a:bodyPr/>
          <a:lstStyle/>
          <a:p>
            <a:pPr marL="171450" indent="-171450">
              <a:buFont typeface="Arial" panose="020B0604020202020204" pitchFamily="34" charset="0"/>
              <a:buChar char="•"/>
            </a:pPr>
            <a:r>
              <a:rPr lang="en-US" dirty="0"/>
              <a:t>Monitor governance KPIs in real time</a:t>
            </a:r>
          </a:p>
          <a:p>
            <a:pPr marL="171450" indent="-171450">
              <a:buFont typeface="Arial" panose="020B0604020202020204" pitchFamily="34" charset="0"/>
              <a:buChar char="•"/>
            </a:pPr>
            <a:r>
              <a:rPr lang="en-US" dirty="0"/>
              <a:t> Improve strategic decision-making</a:t>
            </a:r>
          </a:p>
          <a:p>
            <a:pPr marL="171450" indent="-171450">
              <a:buFont typeface="Arial" panose="020B0604020202020204" pitchFamily="34" charset="0"/>
              <a:buChar char="•"/>
            </a:pPr>
            <a:r>
              <a:rPr lang="en-US" dirty="0"/>
              <a:t> Enable predictive risk detection</a:t>
            </a:r>
          </a:p>
        </p:txBody>
      </p:sp>
      <p:sp>
        <p:nvSpPr>
          <p:cNvPr id="6" name="Text Placeholder 5">
            <a:extLst>
              <a:ext uri="{FF2B5EF4-FFF2-40B4-BE49-F238E27FC236}">
                <a16:creationId xmlns:a16="http://schemas.microsoft.com/office/drawing/2014/main" id="{D1BEBF22-A40E-4194-AD9A-12E9E5AB0013}"/>
              </a:ext>
            </a:extLst>
          </p:cNvPr>
          <p:cNvSpPr>
            <a:spLocks noGrp="1"/>
          </p:cNvSpPr>
          <p:nvPr>
            <p:ph type="body" sz="quarter" idx="14"/>
          </p:nvPr>
        </p:nvSpPr>
        <p:spPr>
          <a:xfrm>
            <a:off x="1470581" y="1775805"/>
            <a:ext cx="2812282" cy="554643"/>
          </a:xfrm>
        </p:spPr>
        <p:txBody>
          <a:bodyPr/>
          <a:lstStyle/>
          <a:p>
            <a:r>
              <a:rPr lang="en-US" dirty="0"/>
              <a:t>AI-Driven Governance Analytics</a:t>
            </a:r>
          </a:p>
        </p:txBody>
      </p:sp>
      <p:sp>
        <p:nvSpPr>
          <p:cNvPr id="7" name="Text Placeholder 6">
            <a:extLst>
              <a:ext uri="{FF2B5EF4-FFF2-40B4-BE49-F238E27FC236}">
                <a16:creationId xmlns:a16="http://schemas.microsoft.com/office/drawing/2014/main" id="{998C0573-728C-4817-B25F-9C4BA8292FDB}"/>
              </a:ext>
            </a:extLst>
          </p:cNvPr>
          <p:cNvSpPr>
            <a:spLocks noGrp="1"/>
          </p:cNvSpPr>
          <p:nvPr>
            <p:ph type="body" sz="quarter" idx="15"/>
          </p:nvPr>
        </p:nvSpPr>
        <p:spPr>
          <a:xfrm>
            <a:off x="5031291" y="2433564"/>
            <a:ext cx="2812282" cy="1242556"/>
          </a:xfrm>
        </p:spPr>
        <p:txBody>
          <a:bodyPr/>
          <a:lstStyle/>
          <a:p>
            <a:pPr marL="171450" indent="-171450">
              <a:buFont typeface="Arial" panose="020B0604020202020204" pitchFamily="34" charset="0"/>
              <a:buChar char="•"/>
            </a:pPr>
            <a:r>
              <a:rPr lang="en-US" dirty="0"/>
              <a:t>Expand digital feedback channels </a:t>
            </a:r>
          </a:p>
          <a:p>
            <a:pPr marL="171450" indent="-171450">
              <a:buFont typeface="Arial" panose="020B0604020202020204" pitchFamily="34" charset="0"/>
              <a:buChar char="•"/>
            </a:pPr>
            <a:r>
              <a:rPr lang="en-US" dirty="0"/>
              <a:t>Improve participation in governance </a:t>
            </a:r>
          </a:p>
          <a:p>
            <a:pPr marL="171450" indent="-171450">
              <a:buFont typeface="Arial" panose="020B0604020202020204" pitchFamily="34" charset="0"/>
              <a:buChar char="•"/>
            </a:pPr>
            <a:r>
              <a:rPr lang="en-US" dirty="0"/>
              <a:t>Increase organizational transparency</a:t>
            </a:r>
          </a:p>
        </p:txBody>
      </p:sp>
      <p:sp>
        <p:nvSpPr>
          <p:cNvPr id="8" name="Text Placeholder 7">
            <a:extLst>
              <a:ext uri="{FF2B5EF4-FFF2-40B4-BE49-F238E27FC236}">
                <a16:creationId xmlns:a16="http://schemas.microsoft.com/office/drawing/2014/main" id="{D23D57FF-A4A8-4B9F-8E36-4755E494CBB8}"/>
              </a:ext>
            </a:extLst>
          </p:cNvPr>
          <p:cNvSpPr>
            <a:spLocks noGrp="1"/>
          </p:cNvSpPr>
          <p:nvPr>
            <p:ph type="body" sz="quarter" idx="16"/>
          </p:nvPr>
        </p:nvSpPr>
        <p:spPr>
          <a:xfrm>
            <a:off x="5031291" y="1775805"/>
            <a:ext cx="2812282" cy="554643"/>
          </a:xfrm>
        </p:spPr>
        <p:txBody>
          <a:bodyPr/>
          <a:lstStyle/>
          <a:p>
            <a:r>
              <a:rPr lang="en-US" dirty="0"/>
              <a:t>Stakeholder Engagement Enhancement</a:t>
            </a:r>
          </a:p>
        </p:txBody>
      </p:sp>
      <p:sp>
        <p:nvSpPr>
          <p:cNvPr id="9" name="Text Placeholder 8">
            <a:extLst>
              <a:ext uri="{FF2B5EF4-FFF2-40B4-BE49-F238E27FC236}">
                <a16:creationId xmlns:a16="http://schemas.microsoft.com/office/drawing/2014/main" id="{EA2C873E-AF75-4B6A-8EBE-2F12C5A7E6A0}"/>
              </a:ext>
            </a:extLst>
          </p:cNvPr>
          <p:cNvSpPr>
            <a:spLocks noGrp="1"/>
          </p:cNvSpPr>
          <p:nvPr>
            <p:ph type="body" sz="quarter" idx="17"/>
          </p:nvPr>
        </p:nvSpPr>
        <p:spPr>
          <a:xfrm>
            <a:off x="8592000" y="2433564"/>
            <a:ext cx="2812282" cy="1242556"/>
          </a:xfrm>
        </p:spPr>
        <p:txBody>
          <a:bodyPr/>
          <a:lstStyle/>
          <a:p>
            <a:pPr marL="171450" indent="-171450">
              <a:buFont typeface="Arial" panose="020B0604020202020204" pitchFamily="34" charset="0"/>
              <a:buChar char="•"/>
            </a:pPr>
            <a:r>
              <a:rPr lang="en-US" dirty="0"/>
              <a:t>Track regulations automatically </a:t>
            </a:r>
          </a:p>
          <a:p>
            <a:pPr marL="171450" indent="-171450">
              <a:buFont typeface="Arial" panose="020B0604020202020204" pitchFamily="34" charset="0"/>
              <a:buChar char="•"/>
            </a:pPr>
            <a:r>
              <a:rPr lang="en-US" dirty="0"/>
              <a:t>Reduce compliance delays </a:t>
            </a:r>
          </a:p>
          <a:p>
            <a:pPr marL="171450" indent="-171450">
              <a:buFont typeface="Arial" panose="020B0604020202020204" pitchFamily="34" charset="0"/>
              <a:buChar char="•"/>
            </a:pPr>
            <a:r>
              <a:rPr lang="en-US" dirty="0"/>
              <a:t>Strengthen internal controls</a:t>
            </a:r>
            <a:endParaRPr lang="en-US" noProof="1"/>
          </a:p>
        </p:txBody>
      </p:sp>
      <p:sp>
        <p:nvSpPr>
          <p:cNvPr id="10" name="Text Placeholder 9">
            <a:extLst>
              <a:ext uri="{FF2B5EF4-FFF2-40B4-BE49-F238E27FC236}">
                <a16:creationId xmlns:a16="http://schemas.microsoft.com/office/drawing/2014/main" id="{FA62A9F2-7193-4B39-BE74-49635D23507F}"/>
              </a:ext>
            </a:extLst>
          </p:cNvPr>
          <p:cNvSpPr>
            <a:spLocks noGrp="1"/>
          </p:cNvSpPr>
          <p:nvPr>
            <p:ph type="body" sz="quarter" idx="18"/>
          </p:nvPr>
        </p:nvSpPr>
        <p:spPr>
          <a:xfrm>
            <a:off x="8592000" y="1775805"/>
            <a:ext cx="2812282" cy="554643"/>
          </a:xfrm>
        </p:spPr>
        <p:txBody>
          <a:bodyPr/>
          <a:lstStyle/>
          <a:p>
            <a:r>
              <a:rPr lang="en-US" dirty="0"/>
              <a:t>Smart Compliance Automation</a:t>
            </a:r>
          </a:p>
        </p:txBody>
      </p:sp>
      <p:sp>
        <p:nvSpPr>
          <p:cNvPr id="11" name="Text Placeholder 10">
            <a:extLst>
              <a:ext uri="{FF2B5EF4-FFF2-40B4-BE49-F238E27FC236}">
                <a16:creationId xmlns:a16="http://schemas.microsoft.com/office/drawing/2014/main" id="{D39B9111-D7E0-4C6E-8B6D-2598C446AF61}"/>
              </a:ext>
            </a:extLst>
          </p:cNvPr>
          <p:cNvSpPr>
            <a:spLocks noGrp="1"/>
          </p:cNvSpPr>
          <p:nvPr>
            <p:ph type="body" sz="quarter" idx="19"/>
          </p:nvPr>
        </p:nvSpPr>
        <p:spPr>
          <a:xfrm>
            <a:off x="1470581" y="4582977"/>
            <a:ext cx="2812282" cy="1242556"/>
          </a:xfrm>
        </p:spPr>
        <p:txBody>
          <a:bodyPr/>
          <a:lstStyle/>
          <a:p>
            <a:pPr marL="171450" indent="-171450">
              <a:buFont typeface="Arial" panose="020B0604020202020204" pitchFamily="34" charset="0"/>
              <a:buChar char="•"/>
            </a:pPr>
            <a:r>
              <a:rPr lang="en-US" dirty="0"/>
              <a:t>Enhance threat detection systems </a:t>
            </a:r>
          </a:p>
          <a:p>
            <a:pPr marL="171450" indent="-171450">
              <a:buFont typeface="Arial" panose="020B0604020202020204" pitchFamily="34" charset="0"/>
              <a:buChar char="•"/>
            </a:pPr>
            <a:r>
              <a:rPr lang="en-US" dirty="0"/>
              <a:t>Improve incident response readiness </a:t>
            </a:r>
          </a:p>
          <a:p>
            <a:pPr marL="171450" indent="-171450">
              <a:buFont typeface="Arial" panose="020B0604020202020204" pitchFamily="34" charset="0"/>
              <a:buChar char="•"/>
            </a:pPr>
            <a:r>
              <a:rPr lang="en-US" dirty="0"/>
              <a:t>Reduce cyberattack exposure</a:t>
            </a:r>
          </a:p>
        </p:txBody>
      </p:sp>
      <p:sp>
        <p:nvSpPr>
          <p:cNvPr id="12" name="Text Placeholder 11">
            <a:extLst>
              <a:ext uri="{FF2B5EF4-FFF2-40B4-BE49-F238E27FC236}">
                <a16:creationId xmlns:a16="http://schemas.microsoft.com/office/drawing/2014/main" id="{2C6192BD-E170-4A74-8019-C8202728C49D}"/>
              </a:ext>
            </a:extLst>
          </p:cNvPr>
          <p:cNvSpPr>
            <a:spLocks noGrp="1"/>
          </p:cNvSpPr>
          <p:nvPr>
            <p:ph type="body" sz="quarter" idx="20"/>
          </p:nvPr>
        </p:nvSpPr>
        <p:spPr>
          <a:xfrm>
            <a:off x="1470581" y="3925218"/>
            <a:ext cx="2812282" cy="554643"/>
          </a:xfrm>
        </p:spPr>
        <p:txBody>
          <a:bodyPr/>
          <a:lstStyle/>
          <a:p>
            <a:r>
              <a:rPr lang="en-US" dirty="0"/>
              <a:t>Cyber Resilience Framework</a:t>
            </a:r>
          </a:p>
        </p:txBody>
      </p:sp>
      <p:sp>
        <p:nvSpPr>
          <p:cNvPr id="13" name="Text Placeholder 12">
            <a:extLst>
              <a:ext uri="{FF2B5EF4-FFF2-40B4-BE49-F238E27FC236}">
                <a16:creationId xmlns:a16="http://schemas.microsoft.com/office/drawing/2014/main" id="{1590D2A3-9EEB-4BD9-A6F1-7A6252D21D06}"/>
              </a:ext>
            </a:extLst>
          </p:cNvPr>
          <p:cNvSpPr>
            <a:spLocks noGrp="1"/>
          </p:cNvSpPr>
          <p:nvPr>
            <p:ph type="body" sz="quarter" idx="21"/>
          </p:nvPr>
        </p:nvSpPr>
        <p:spPr>
          <a:xfrm>
            <a:off x="5031291" y="4582977"/>
            <a:ext cx="2812282" cy="1242556"/>
          </a:xfrm>
        </p:spPr>
        <p:txBody>
          <a:bodyPr/>
          <a:lstStyle/>
          <a:p>
            <a:pPr marL="171450" indent="-171450">
              <a:buFont typeface="Arial" panose="020B0604020202020204" pitchFamily="34" charset="0"/>
              <a:buChar char="•"/>
            </a:pPr>
            <a:r>
              <a:rPr lang="en-US" dirty="0"/>
              <a:t>Improve sustainability reporting </a:t>
            </a:r>
          </a:p>
          <a:p>
            <a:pPr marL="171450" indent="-171450">
              <a:buFont typeface="Arial" panose="020B0604020202020204" pitchFamily="34" charset="0"/>
              <a:buChar char="•"/>
            </a:pPr>
            <a:r>
              <a:rPr lang="en-US" dirty="0"/>
              <a:t>Support responsible growth </a:t>
            </a:r>
          </a:p>
          <a:p>
            <a:pPr marL="171450" indent="-171450">
              <a:buFont typeface="Arial" panose="020B0604020202020204" pitchFamily="34" charset="0"/>
              <a:buChar char="•"/>
            </a:pPr>
            <a:r>
              <a:rPr lang="en-US" dirty="0"/>
              <a:t>Strengthen investor confidence</a:t>
            </a:r>
            <a:endParaRPr lang="en-US" noProof="1"/>
          </a:p>
        </p:txBody>
      </p:sp>
      <p:sp>
        <p:nvSpPr>
          <p:cNvPr id="14" name="Text Placeholder 13">
            <a:extLst>
              <a:ext uri="{FF2B5EF4-FFF2-40B4-BE49-F238E27FC236}">
                <a16:creationId xmlns:a16="http://schemas.microsoft.com/office/drawing/2014/main" id="{FA88E256-0941-4678-8F52-4A15674EC324}"/>
              </a:ext>
            </a:extLst>
          </p:cNvPr>
          <p:cNvSpPr>
            <a:spLocks noGrp="1"/>
          </p:cNvSpPr>
          <p:nvPr>
            <p:ph type="body" sz="quarter" idx="22"/>
          </p:nvPr>
        </p:nvSpPr>
        <p:spPr>
          <a:xfrm>
            <a:off x="5031291" y="3925218"/>
            <a:ext cx="2812282" cy="554643"/>
          </a:xfrm>
        </p:spPr>
        <p:txBody>
          <a:bodyPr/>
          <a:lstStyle/>
          <a:p>
            <a:r>
              <a:rPr lang="en-US" dirty="0"/>
              <a:t>ESG Integration Strategy</a:t>
            </a:r>
          </a:p>
        </p:txBody>
      </p:sp>
      <p:cxnSp>
        <p:nvCxnSpPr>
          <p:cNvPr id="42" name="Straight Connector 41">
            <a:extLst>
              <a:ext uri="{FF2B5EF4-FFF2-40B4-BE49-F238E27FC236}">
                <a16:creationId xmlns:a16="http://schemas.microsoft.com/office/drawing/2014/main" id="{6917E9BF-7C5E-4DE7-8C66-9B69A207D1E4}"/>
              </a:ext>
              <a:ext uri="{C183D7F6-B498-43B3-948B-1728B52AA6E4}">
                <adec:decorative xmlns:adec="http://schemas.microsoft.com/office/drawing/2017/decorative" val="1"/>
              </a:ext>
            </a:extLst>
          </p:cNvPr>
          <p:cNvCxnSpPr/>
          <p:nvPr/>
        </p:nvCxnSpPr>
        <p:spPr>
          <a:xfrm>
            <a:off x="1511184" y="3716527"/>
            <a:ext cx="9169633" cy="0"/>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458121"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019527"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flipV="1">
            <a:off x="722099" y="1277068"/>
            <a:ext cx="2812282"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898187"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458121"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019527"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898187"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458121"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458121" y="4752270"/>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742C9420-C959-0FA7-0734-4C1DF37C5316}"/>
              </a:ext>
            </a:extLst>
          </p:cNvPr>
          <p:cNvSpPr txBox="1">
            <a:spLocks/>
          </p:cNvSpPr>
          <p:nvPr/>
        </p:nvSpPr>
        <p:spPr>
          <a:xfrm rot="10800000" flipV="1">
            <a:off x="332023" y="6640436"/>
            <a:ext cx="11478174" cy="13284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Eng. Ola Elsheikh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          </a:t>
            </a:r>
            <a:r>
              <a:rPr lang="ar-EG" dirty="0">
                <a:solidFill>
                  <a:schemeClr val="tx1"/>
                </a:solidFill>
              </a:rPr>
              <a:t>                                                                                                        </a:t>
            </a:r>
            <a:r>
              <a:rPr lang="en-US" dirty="0">
                <a:solidFill>
                  <a:schemeClr val="tx1"/>
                </a:solidFill>
              </a:rPr>
              <a:t>Governance &amp; Digital Transformation Ambassadors Program </a:t>
            </a:r>
          </a:p>
          <a:p>
            <a:endParaRPr lang="en-US" dirty="0"/>
          </a:p>
        </p:txBody>
      </p:sp>
      <p:sp>
        <p:nvSpPr>
          <p:cNvPr id="15" name="TextBox 14">
            <a:extLst>
              <a:ext uri="{FF2B5EF4-FFF2-40B4-BE49-F238E27FC236}">
                <a16:creationId xmlns:a16="http://schemas.microsoft.com/office/drawing/2014/main" id="{D88E1908-049B-F207-F5C4-B706478382A9}"/>
              </a:ext>
            </a:extLst>
          </p:cNvPr>
          <p:cNvSpPr txBox="1"/>
          <p:nvPr/>
        </p:nvSpPr>
        <p:spPr>
          <a:xfrm>
            <a:off x="898187" y="1803828"/>
            <a:ext cx="461514" cy="523220"/>
          </a:xfrm>
          <a:prstGeom prst="rect">
            <a:avLst/>
          </a:prstGeom>
          <a:noFill/>
        </p:spPr>
        <p:txBody>
          <a:bodyPr wrap="square" rtlCol="0">
            <a:spAutoFit/>
          </a:bodyPr>
          <a:lstStyle/>
          <a:p>
            <a:r>
              <a:rPr lang="en-US" sz="2800" b="1" dirty="0">
                <a:solidFill>
                  <a:schemeClr val="accent1">
                    <a:lumMod val="75000"/>
                  </a:schemeClr>
                </a:solidFill>
              </a:rPr>
              <a:t>1</a:t>
            </a:r>
          </a:p>
        </p:txBody>
      </p:sp>
      <p:sp>
        <p:nvSpPr>
          <p:cNvPr id="16" name="TextBox 15">
            <a:extLst>
              <a:ext uri="{FF2B5EF4-FFF2-40B4-BE49-F238E27FC236}">
                <a16:creationId xmlns:a16="http://schemas.microsoft.com/office/drawing/2014/main" id="{C3751B5A-906B-78A6-885D-FE5017B0BDC6}"/>
              </a:ext>
            </a:extLst>
          </p:cNvPr>
          <p:cNvSpPr txBox="1"/>
          <p:nvPr/>
        </p:nvSpPr>
        <p:spPr>
          <a:xfrm>
            <a:off x="4501838" y="1854724"/>
            <a:ext cx="461514" cy="523220"/>
          </a:xfrm>
          <a:prstGeom prst="rect">
            <a:avLst/>
          </a:prstGeom>
          <a:noFill/>
        </p:spPr>
        <p:txBody>
          <a:bodyPr wrap="square" rtlCol="0">
            <a:spAutoFit/>
          </a:bodyPr>
          <a:lstStyle/>
          <a:p>
            <a:r>
              <a:rPr lang="en-US" sz="2800" b="1" dirty="0">
                <a:solidFill>
                  <a:schemeClr val="accent1">
                    <a:lumMod val="75000"/>
                  </a:schemeClr>
                </a:solidFill>
              </a:rPr>
              <a:t>2</a:t>
            </a:r>
          </a:p>
        </p:txBody>
      </p:sp>
      <p:sp>
        <p:nvSpPr>
          <p:cNvPr id="17" name="TextBox 16">
            <a:extLst>
              <a:ext uri="{FF2B5EF4-FFF2-40B4-BE49-F238E27FC236}">
                <a16:creationId xmlns:a16="http://schemas.microsoft.com/office/drawing/2014/main" id="{667C3C89-5579-3185-A350-82AC76172275}"/>
              </a:ext>
            </a:extLst>
          </p:cNvPr>
          <p:cNvSpPr txBox="1"/>
          <p:nvPr/>
        </p:nvSpPr>
        <p:spPr>
          <a:xfrm>
            <a:off x="912832" y="4064762"/>
            <a:ext cx="461514" cy="461665"/>
          </a:xfrm>
          <a:prstGeom prst="rect">
            <a:avLst/>
          </a:prstGeom>
          <a:noFill/>
        </p:spPr>
        <p:txBody>
          <a:bodyPr wrap="square" rtlCol="0">
            <a:spAutoFit/>
          </a:bodyPr>
          <a:lstStyle/>
          <a:p>
            <a:r>
              <a:rPr lang="en-US" sz="2400" b="1" dirty="0">
                <a:solidFill>
                  <a:schemeClr val="accent1">
                    <a:lumMod val="75000"/>
                  </a:schemeClr>
                </a:solidFill>
              </a:rPr>
              <a:t>4</a:t>
            </a:r>
          </a:p>
        </p:txBody>
      </p:sp>
      <p:sp>
        <p:nvSpPr>
          <p:cNvPr id="20" name="TextBox 19">
            <a:extLst>
              <a:ext uri="{FF2B5EF4-FFF2-40B4-BE49-F238E27FC236}">
                <a16:creationId xmlns:a16="http://schemas.microsoft.com/office/drawing/2014/main" id="{61C157F5-38D2-B444-4ABC-9FEA4B3B5C28}"/>
              </a:ext>
            </a:extLst>
          </p:cNvPr>
          <p:cNvSpPr txBox="1"/>
          <p:nvPr/>
        </p:nvSpPr>
        <p:spPr>
          <a:xfrm>
            <a:off x="4453143" y="3980801"/>
            <a:ext cx="461514" cy="523220"/>
          </a:xfrm>
          <a:prstGeom prst="rect">
            <a:avLst/>
          </a:prstGeom>
          <a:noFill/>
        </p:spPr>
        <p:txBody>
          <a:bodyPr wrap="square" rtlCol="0">
            <a:spAutoFit/>
          </a:bodyPr>
          <a:lstStyle/>
          <a:p>
            <a:r>
              <a:rPr lang="en-US" sz="2800" b="1" dirty="0">
                <a:solidFill>
                  <a:schemeClr val="accent1">
                    <a:lumMod val="75000"/>
                  </a:schemeClr>
                </a:solidFill>
              </a:rPr>
              <a:t>5</a:t>
            </a:r>
          </a:p>
        </p:txBody>
      </p:sp>
      <p:sp>
        <p:nvSpPr>
          <p:cNvPr id="21" name="TextBox 20">
            <a:extLst>
              <a:ext uri="{FF2B5EF4-FFF2-40B4-BE49-F238E27FC236}">
                <a16:creationId xmlns:a16="http://schemas.microsoft.com/office/drawing/2014/main" id="{458D5DDD-BE90-0964-4F9F-AD37A25973B5}"/>
              </a:ext>
            </a:extLst>
          </p:cNvPr>
          <p:cNvSpPr txBox="1"/>
          <p:nvPr/>
        </p:nvSpPr>
        <p:spPr>
          <a:xfrm>
            <a:off x="8036069" y="1885501"/>
            <a:ext cx="461514" cy="461665"/>
          </a:xfrm>
          <a:prstGeom prst="rect">
            <a:avLst/>
          </a:prstGeom>
          <a:noFill/>
        </p:spPr>
        <p:txBody>
          <a:bodyPr wrap="square" rtlCol="0">
            <a:spAutoFit/>
          </a:bodyPr>
          <a:lstStyle/>
          <a:p>
            <a:r>
              <a:rPr lang="en-US" sz="2400" b="1" dirty="0">
                <a:solidFill>
                  <a:schemeClr val="accent1">
                    <a:lumMod val="75000"/>
                  </a:schemeClr>
                </a:solidFill>
              </a:rPr>
              <a:t>3</a:t>
            </a:r>
          </a:p>
        </p:txBody>
      </p:sp>
    </p:spTree>
    <p:extLst>
      <p:ext uri="{BB962C8B-B14F-4D97-AF65-F5344CB8AC3E}">
        <p14:creationId xmlns:p14="http://schemas.microsoft.com/office/powerpoint/2010/main" val="175583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 calcmode="lin" valueType="num">
                                      <p:cBhvr additive="base">
                                        <p:cTn id="14" dur="1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5" dur="1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 calcmode="lin" valueType="num">
                                      <p:cBhvr additive="base">
                                        <p:cTn id="20" dur="1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1" dur="1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 calcmode="lin" valueType="num">
                                      <p:cBhvr additive="base">
                                        <p:cTn id="26" dur="1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7" dur="1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 calcmode="lin" valueType="num">
                                      <p:cBhvr additive="base">
                                        <p:cTn id="32" dur="1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3" dur="1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4">
                                            <p:txEl>
                                              <p:pRg st="0" end="0"/>
                                            </p:txEl>
                                          </p:spTgt>
                                        </p:tgtEl>
                                        <p:attrNameLst>
                                          <p:attrName>style.visibility</p:attrName>
                                        </p:attrNameLst>
                                      </p:cBhvr>
                                      <p:to>
                                        <p:strVal val="visible"/>
                                      </p:to>
                                    </p:set>
                                    <p:anim calcmode="lin" valueType="num">
                                      <p:cBhvr additive="base">
                                        <p:cTn id="38" dur="1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39" dur="1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P spid="8" grpId="0" build="p"/>
      <p:bldP spid="10" grpId="0" build="p"/>
      <p:bldP spid="12" grpId="0" build="p"/>
      <p:bldP spid="1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6B3C27-6F19-41D2-88CA-8A7CFB28C1F4}"/>
              </a:ext>
            </a:extLst>
          </p:cNvPr>
          <p:cNvSpPr>
            <a:spLocks noGrp="1"/>
          </p:cNvSpPr>
          <p:nvPr>
            <p:ph type="sldNum" sz="quarter" idx="11"/>
          </p:nvPr>
        </p:nvSpPr>
        <p:spPr/>
        <p:txBody>
          <a:bodyPr/>
          <a:lstStyle/>
          <a:p>
            <a:fld id="{EECC7194-A4D0-457B-9D3E-53681723AFF7}" type="slidenum">
              <a:rPr lang="en-US" smtClean="0"/>
              <a:pPr/>
              <a:t>13</a:t>
            </a:fld>
            <a:endParaRPr lang="en-US" dirty="0"/>
          </a:p>
        </p:txBody>
      </p:sp>
      <p:sp>
        <p:nvSpPr>
          <p:cNvPr id="4" name="Title 3">
            <a:extLst>
              <a:ext uri="{FF2B5EF4-FFF2-40B4-BE49-F238E27FC236}">
                <a16:creationId xmlns:a16="http://schemas.microsoft.com/office/drawing/2014/main" id="{A4A0D72C-D227-4776-9E3B-8D09F58D1747}"/>
              </a:ext>
            </a:extLst>
          </p:cNvPr>
          <p:cNvSpPr>
            <a:spLocks noGrp="1"/>
          </p:cNvSpPr>
          <p:nvPr>
            <p:ph type="title"/>
          </p:nvPr>
        </p:nvSpPr>
        <p:spPr>
          <a:xfrm>
            <a:off x="222363" y="223965"/>
            <a:ext cx="6400574" cy="350557"/>
          </a:xfrm>
        </p:spPr>
        <p:txBody>
          <a:bodyPr/>
          <a:lstStyle/>
          <a:p>
            <a:r>
              <a:rPr lang="en-US" dirty="0"/>
              <a:t>MATLAB  Highlights</a:t>
            </a:r>
            <a:br>
              <a:rPr lang="ar-EG" dirty="0"/>
            </a:br>
            <a:endParaRPr lang="en-US" dirty="0"/>
          </a:p>
        </p:txBody>
      </p:sp>
      <p:sp>
        <p:nvSpPr>
          <p:cNvPr id="5" name="object 7" descr="Beige rectangle">
            <a:extLst>
              <a:ext uri="{FF2B5EF4-FFF2-40B4-BE49-F238E27FC236}">
                <a16:creationId xmlns:a16="http://schemas.microsoft.com/office/drawing/2014/main" id="{16593983-AEC5-4450-A5CD-B66EE3F91D94}"/>
              </a:ext>
            </a:extLst>
          </p:cNvPr>
          <p:cNvSpPr/>
          <p:nvPr/>
        </p:nvSpPr>
        <p:spPr bwMode="white">
          <a:xfrm flipV="1">
            <a:off x="412863" y="658587"/>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4" name="TextBox 13">
            <a:extLst>
              <a:ext uri="{FF2B5EF4-FFF2-40B4-BE49-F238E27FC236}">
                <a16:creationId xmlns:a16="http://schemas.microsoft.com/office/drawing/2014/main" id="{906BF280-CCAF-E9DC-DA8C-6F01A076D059}"/>
              </a:ext>
            </a:extLst>
          </p:cNvPr>
          <p:cNvSpPr txBox="1"/>
          <p:nvPr/>
        </p:nvSpPr>
        <p:spPr>
          <a:xfrm>
            <a:off x="222363" y="948690"/>
            <a:ext cx="5149737" cy="5909310"/>
          </a:xfrm>
          <a:prstGeom prst="rect">
            <a:avLst/>
          </a:prstGeom>
          <a:noFill/>
        </p:spPr>
        <p:txBody>
          <a:bodyPr wrap="square" rtlCol="0">
            <a:spAutoFit/>
          </a:bodyPr>
          <a:lstStyle/>
          <a:p>
            <a:pPr>
              <a:buNone/>
            </a:pPr>
            <a:endParaRPr lang="en-US" dirty="0">
              <a:latin typeface="Menlo"/>
            </a:endParaRPr>
          </a:p>
          <a:p>
            <a:pPr>
              <a:buNone/>
            </a:pPr>
            <a:r>
              <a:rPr lang="en-US" sz="1800" b="0" i="0" dirty="0">
                <a:effectLst/>
                <a:latin typeface="Menlo"/>
              </a:rPr>
              <a:t>clc; clear; close </a:t>
            </a:r>
            <a:r>
              <a:rPr lang="en-US" sz="1800" b="0" i="0" dirty="0">
                <a:solidFill>
                  <a:srgbClr val="AA04F9"/>
                </a:solidFill>
                <a:effectLst/>
                <a:latin typeface="Menlo"/>
              </a:rPr>
              <a:t>all</a:t>
            </a:r>
            <a:r>
              <a:rPr lang="en-US" sz="1800" b="0" i="0" dirty="0">
                <a:effectLst/>
                <a:latin typeface="Menlo"/>
              </a:rPr>
              <a:t>;</a:t>
            </a:r>
          </a:p>
          <a:p>
            <a:pPr>
              <a:buNone/>
            </a:pPr>
            <a:r>
              <a:rPr lang="en-US" sz="1800" b="0" i="0" dirty="0">
                <a:effectLst/>
                <a:latin typeface="Menlo"/>
              </a:rPr>
              <a:t>labels = {</a:t>
            </a:r>
            <a:r>
              <a:rPr lang="en-US" sz="1800" b="0" i="0" dirty="0">
                <a:solidFill>
                  <a:srgbClr val="AA04F9"/>
                </a:solidFill>
                <a:effectLst/>
                <a:latin typeface="Menlo"/>
              </a:rPr>
              <a:t>'</a:t>
            </a:r>
            <a:r>
              <a:rPr lang="en-US" sz="1800" b="0" i="0" dirty="0" err="1">
                <a:solidFill>
                  <a:srgbClr val="AA04F9"/>
                </a:solidFill>
                <a:effectLst/>
                <a:latin typeface="Menlo"/>
              </a:rPr>
              <a:t>Transparency'</a:t>
            </a:r>
            <a:r>
              <a:rPr lang="en-US" sz="1800" b="0" i="0" dirty="0" err="1">
                <a:effectLst/>
                <a:latin typeface="Menlo"/>
              </a:rPr>
              <a:t>,</a:t>
            </a:r>
            <a:r>
              <a:rPr lang="en-US" sz="1800" b="0" i="0" dirty="0" err="1">
                <a:solidFill>
                  <a:srgbClr val="AA04F9"/>
                </a:solidFill>
                <a:effectLst/>
                <a:latin typeface="Menlo"/>
              </a:rPr>
              <a:t>'Fairness'</a:t>
            </a:r>
            <a:r>
              <a:rPr lang="en-US" sz="1800" b="0" i="0" dirty="0" err="1">
                <a:effectLst/>
                <a:latin typeface="Menlo"/>
              </a:rPr>
              <a:t>,</a:t>
            </a:r>
            <a:r>
              <a:rPr lang="en-US" sz="1800" b="0" i="0" dirty="0" err="1">
                <a:solidFill>
                  <a:srgbClr val="AA04F9"/>
                </a:solidFill>
                <a:effectLst/>
                <a:latin typeface="Menlo"/>
              </a:rPr>
              <a:t>'Accountability</a:t>
            </a:r>
            <a:r>
              <a:rPr lang="en-US" sz="1800" b="0" i="0" dirty="0">
                <a:solidFill>
                  <a:srgbClr val="AA04F9"/>
                </a:solidFill>
                <a:effectLst/>
                <a:latin typeface="Menlo"/>
              </a:rPr>
              <a:t>'</a:t>
            </a:r>
            <a:r>
              <a:rPr lang="en-US" sz="1800" b="0" i="0" dirty="0">
                <a:effectLst/>
                <a:latin typeface="Menlo"/>
              </a:rPr>
              <a:t>,</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Responsibility'</a:t>
            </a:r>
            <a:r>
              <a:rPr lang="en-US" sz="1800" b="0" i="0" dirty="0" err="1">
                <a:effectLst/>
                <a:latin typeface="Menlo"/>
              </a:rPr>
              <a:t>,</a:t>
            </a:r>
            <a:r>
              <a:rPr lang="en-US" sz="1800" b="0" i="0" dirty="0" err="1">
                <a:solidFill>
                  <a:srgbClr val="AA04F9"/>
                </a:solidFill>
                <a:effectLst/>
                <a:latin typeface="Menlo"/>
              </a:rPr>
              <a:t>'Participation'</a:t>
            </a:r>
            <a:r>
              <a:rPr lang="en-US" sz="1800" b="0" i="0" dirty="0" err="1">
                <a:effectLst/>
                <a:latin typeface="Menlo"/>
              </a:rPr>
              <a:t>,</a:t>
            </a:r>
            <a:r>
              <a:rPr lang="en-US" sz="1800" b="0" i="0" dirty="0" err="1">
                <a:solidFill>
                  <a:srgbClr val="AA04F9"/>
                </a:solidFill>
                <a:effectLst/>
                <a:latin typeface="Menlo"/>
              </a:rPr>
              <a:t>'Independence</a:t>
            </a:r>
            <a:r>
              <a:rPr lang="en-US" sz="1800" b="0" i="0" dirty="0">
                <a:solidFill>
                  <a:srgbClr val="AA04F9"/>
                </a:solidFill>
                <a:effectLst/>
                <a:latin typeface="Menlo"/>
              </a:rPr>
              <a:t>'</a:t>
            </a:r>
            <a:r>
              <a:rPr lang="en-US" sz="1800" b="0" i="0" dirty="0">
                <a:effectLst/>
                <a:latin typeface="Menlo"/>
              </a:rPr>
              <a:t>,</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Compliance'</a:t>
            </a:r>
            <a:r>
              <a:rPr lang="en-US" sz="1800" b="0" i="0" dirty="0" err="1">
                <a:effectLst/>
                <a:latin typeface="Menlo"/>
              </a:rPr>
              <a:t>,</a:t>
            </a:r>
            <a:r>
              <a:rPr lang="en-US" sz="1800" b="0" i="0" dirty="0" err="1">
                <a:solidFill>
                  <a:srgbClr val="AA04F9"/>
                </a:solidFill>
                <a:effectLst/>
                <a:latin typeface="Menlo"/>
              </a:rPr>
              <a:t>'Risk</a:t>
            </a:r>
            <a:r>
              <a:rPr lang="en-US" sz="1800" b="0" i="0" dirty="0">
                <a:solidFill>
                  <a:srgbClr val="AA04F9"/>
                </a:solidFill>
                <a:effectLst/>
                <a:latin typeface="Menlo"/>
              </a:rPr>
              <a:t> </a:t>
            </a:r>
            <a:r>
              <a:rPr lang="en-US" sz="1800" b="0" i="0" dirty="0" err="1">
                <a:solidFill>
                  <a:srgbClr val="AA04F9"/>
                </a:solidFill>
                <a:effectLst/>
                <a:latin typeface="Menlo"/>
              </a:rPr>
              <a:t>Mgmt</a:t>
            </a:r>
            <a:r>
              <a:rPr lang="en-US" sz="1800" b="0" i="0" dirty="0">
                <a:solidFill>
                  <a:srgbClr val="AA04F9"/>
                </a:solidFill>
                <a:effectLst/>
                <a:latin typeface="Menlo"/>
              </a:rPr>
              <a:t>'</a:t>
            </a:r>
            <a:r>
              <a:rPr lang="en-US" sz="1800" b="0" i="0" dirty="0">
                <a:effectLst/>
                <a:latin typeface="Menlo"/>
              </a:rPr>
              <a:t>,</a:t>
            </a:r>
            <a:r>
              <a:rPr lang="en-US" sz="1800" b="0" i="0" dirty="0">
                <a:solidFill>
                  <a:srgbClr val="AA04F9"/>
                </a:solidFill>
                <a:effectLst/>
                <a:latin typeface="Menlo"/>
              </a:rPr>
              <a:t>'Anti-Corruption'</a:t>
            </a:r>
            <a:r>
              <a:rPr lang="en-US" sz="1800" b="0" i="0" dirty="0">
                <a:effectLst/>
                <a:latin typeface="Menlo"/>
              </a:rPr>
              <a:t>};</a:t>
            </a:r>
          </a:p>
          <a:p>
            <a:pPr>
              <a:buNone/>
            </a:pPr>
            <a:r>
              <a:rPr lang="en-US" sz="1800" b="0" i="0" dirty="0">
                <a:effectLst/>
                <a:latin typeface="Menlo"/>
              </a:rPr>
              <a:t>scores = [4 4 5 4 3 4 5 4 4];</a:t>
            </a:r>
          </a:p>
          <a:p>
            <a:pPr>
              <a:buNone/>
            </a:pPr>
            <a:r>
              <a:rPr lang="en-US" sz="1800" b="0" i="0" dirty="0">
                <a:effectLst/>
                <a:latin typeface="Menlo"/>
              </a:rPr>
              <a:t>N = length(scores);</a:t>
            </a:r>
          </a:p>
          <a:p>
            <a:pPr>
              <a:buNone/>
            </a:pPr>
            <a:r>
              <a:rPr lang="en-US" sz="1800" b="0" i="0" dirty="0">
                <a:effectLst/>
                <a:latin typeface="Menlo"/>
              </a:rPr>
              <a:t>theta = </a:t>
            </a:r>
            <a:r>
              <a:rPr lang="en-US" sz="1800" b="0" i="0" dirty="0" err="1">
                <a:effectLst/>
                <a:latin typeface="Menlo"/>
              </a:rPr>
              <a:t>linspace</a:t>
            </a:r>
            <a:r>
              <a:rPr lang="en-US" sz="1800" b="0" i="0" dirty="0">
                <a:effectLst/>
                <a:latin typeface="Menlo"/>
              </a:rPr>
              <a:t>(0,2*pi,N+1);</a:t>
            </a:r>
          </a:p>
          <a:p>
            <a:pPr>
              <a:buNone/>
            </a:pPr>
            <a:r>
              <a:rPr lang="en-US" sz="1800" b="0" i="0" dirty="0">
                <a:effectLst/>
                <a:latin typeface="Menlo"/>
              </a:rPr>
              <a:t>r = [scores scores(1)];</a:t>
            </a:r>
          </a:p>
          <a:p>
            <a:pPr>
              <a:buNone/>
            </a:pPr>
            <a:r>
              <a:rPr lang="en-US" sz="1800" b="0" i="0" dirty="0">
                <a:effectLst/>
                <a:latin typeface="Menlo"/>
              </a:rPr>
              <a:t>figure(</a:t>
            </a:r>
            <a:r>
              <a:rPr lang="en-US" sz="1800" b="0" i="0" dirty="0">
                <a:solidFill>
                  <a:srgbClr val="AA04F9"/>
                </a:solidFill>
                <a:effectLst/>
                <a:latin typeface="Menlo"/>
              </a:rPr>
              <a:t>'</a:t>
            </a:r>
            <a:r>
              <a:rPr lang="en-US" sz="1800" b="0" i="0" dirty="0" err="1">
                <a:solidFill>
                  <a:srgbClr val="AA04F9"/>
                </a:solidFill>
                <a:effectLst/>
                <a:latin typeface="Menlo"/>
              </a:rPr>
              <a:t>Color'</a:t>
            </a:r>
            <a:r>
              <a:rPr lang="en-US" sz="1800" b="0" i="0" dirty="0" err="1">
                <a:effectLst/>
                <a:latin typeface="Menlo"/>
              </a:rPr>
              <a:t>,</a:t>
            </a:r>
            <a:r>
              <a:rPr lang="en-US" sz="1800" b="0" i="0" dirty="0" err="1">
                <a:solidFill>
                  <a:srgbClr val="AA04F9"/>
                </a:solidFill>
                <a:effectLst/>
                <a:latin typeface="Menlo"/>
              </a:rPr>
              <a:t>'white'</a:t>
            </a:r>
            <a:r>
              <a:rPr lang="en-US" sz="1800" b="0" i="0" dirty="0" err="1">
                <a:effectLst/>
                <a:latin typeface="Menlo"/>
              </a:rPr>
              <a:t>,</a:t>
            </a:r>
            <a:r>
              <a:rPr lang="en-US" sz="1800" b="0" i="0" dirty="0" err="1">
                <a:solidFill>
                  <a:srgbClr val="AA04F9"/>
                </a:solidFill>
                <a:effectLst/>
                <a:latin typeface="Menlo"/>
              </a:rPr>
              <a:t>'Position</a:t>
            </a:r>
            <a:r>
              <a:rPr lang="en-US" sz="1800" b="0" i="0" dirty="0">
                <a:solidFill>
                  <a:srgbClr val="AA04F9"/>
                </a:solidFill>
                <a:effectLst/>
                <a:latin typeface="Menlo"/>
              </a:rPr>
              <a:t>'</a:t>
            </a:r>
            <a:r>
              <a:rPr lang="en-US" sz="1800" b="0" i="0" dirty="0">
                <a:effectLst/>
                <a:latin typeface="Menlo"/>
              </a:rPr>
              <a:t>,[100 100 1000 800])</a:t>
            </a:r>
          </a:p>
          <a:p>
            <a:pPr>
              <a:buNone/>
            </a:pPr>
            <a:r>
              <a:rPr lang="en-US" sz="1800" b="0" i="0" dirty="0">
                <a:effectLst/>
                <a:latin typeface="Menlo"/>
              </a:rPr>
              <a:t>pax = </a:t>
            </a:r>
            <a:r>
              <a:rPr lang="en-US" sz="1800" b="0" i="0" dirty="0" err="1">
                <a:effectLst/>
                <a:latin typeface="Menlo"/>
              </a:rPr>
              <a:t>polaraxes</a:t>
            </a:r>
            <a:r>
              <a:rPr lang="en-US" sz="1800" b="0" i="0" dirty="0">
                <a:effectLst/>
                <a:latin typeface="Menlo"/>
              </a:rPr>
              <a:t>;</a:t>
            </a:r>
          </a:p>
          <a:p>
            <a:pPr>
              <a:buNone/>
            </a:pPr>
            <a:r>
              <a:rPr lang="en-US" sz="1800" b="0" i="0" dirty="0">
                <a:effectLst/>
                <a:latin typeface="Menlo"/>
              </a:rPr>
              <a:t>hold </a:t>
            </a:r>
            <a:r>
              <a:rPr lang="en-US" sz="1800" b="0" i="0" dirty="0">
                <a:solidFill>
                  <a:srgbClr val="AA04F9"/>
                </a:solidFill>
                <a:effectLst/>
                <a:latin typeface="Menlo"/>
              </a:rPr>
              <a:t>on</a:t>
            </a:r>
            <a:endParaRPr lang="en-US" sz="1800" b="0" i="0" dirty="0">
              <a:effectLst/>
              <a:latin typeface="Menlo"/>
            </a:endParaRPr>
          </a:p>
          <a:p>
            <a:pPr>
              <a:buNone/>
            </a:pPr>
            <a:r>
              <a:rPr lang="en-US" sz="1800" b="0" i="0" dirty="0">
                <a:solidFill>
                  <a:srgbClr val="028009"/>
                </a:solidFill>
                <a:effectLst/>
                <a:latin typeface="Menlo"/>
              </a:rPr>
              <a:t>%% Styling</a:t>
            </a:r>
            <a:endParaRPr lang="en-US" sz="1800" b="0" i="0" dirty="0">
              <a:effectLst/>
              <a:latin typeface="Menlo"/>
            </a:endParaRPr>
          </a:p>
          <a:p>
            <a:pPr>
              <a:buNone/>
            </a:pPr>
            <a:r>
              <a:rPr lang="en-US" sz="1800" b="0" i="0" dirty="0" err="1">
                <a:effectLst/>
                <a:latin typeface="Menlo"/>
              </a:rPr>
              <a:t>pax.RLim</a:t>
            </a:r>
            <a:r>
              <a:rPr lang="en-US" sz="1800" b="0" i="0" dirty="0">
                <a:effectLst/>
                <a:latin typeface="Menlo"/>
              </a:rPr>
              <a:t> = [0 5];</a:t>
            </a:r>
          </a:p>
          <a:p>
            <a:pPr>
              <a:buNone/>
            </a:pPr>
            <a:r>
              <a:rPr lang="en-US" sz="1800" b="0" i="0" dirty="0" err="1">
                <a:effectLst/>
                <a:latin typeface="Menlo"/>
              </a:rPr>
              <a:t>pax.RTick</a:t>
            </a:r>
            <a:r>
              <a:rPr lang="en-US" sz="1800" b="0" i="0" dirty="0">
                <a:effectLst/>
                <a:latin typeface="Menlo"/>
              </a:rPr>
              <a:t> = 1:5;</a:t>
            </a:r>
          </a:p>
          <a:p>
            <a:pPr>
              <a:buNone/>
            </a:pPr>
            <a:r>
              <a:rPr lang="en-US" sz="1800" b="0" i="0" dirty="0" err="1">
                <a:effectLst/>
                <a:latin typeface="Menlo"/>
              </a:rPr>
              <a:t>pax.ThetaTick</a:t>
            </a:r>
            <a:r>
              <a:rPr lang="en-US" sz="1800" b="0" i="0" dirty="0">
                <a:effectLst/>
                <a:latin typeface="Menlo"/>
              </a:rPr>
              <a:t> = [];</a:t>
            </a:r>
          </a:p>
          <a:p>
            <a:pPr>
              <a:buNone/>
            </a:pPr>
            <a:r>
              <a:rPr lang="en-US" sz="1800" b="0" i="0" dirty="0" err="1">
                <a:effectLst/>
                <a:latin typeface="Menlo"/>
              </a:rPr>
              <a:t>pax.GridAlpha</a:t>
            </a:r>
            <a:r>
              <a:rPr lang="en-US" sz="1800" b="0" i="0" dirty="0">
                <a:effectLst/>
                <a:latin typeface="Menlo"/>
              </a:rPr>
              <a:t> = 0.15;</a:t>
            </a:r>
          </a:p>
          <a:p>
            <a:pPr>
              <a:buNone/>
            </a:pPr>
            <a:r>
              <a:rPr lang="en-US" sz="1800" b="0" i="0" dirty="0" err="1">
                <a:effectLst/>
                <a:latin typeface="Menlo"/>
              </a:rPr>
              <a:t>pax.GridColor</a:t>
            </a:r>
            <a:r>
              <a:rPr lang="en-US" sz="1800" b="0" i="0" dirty="0">
                <a:effectLst/>
                <a:latin typeface="Menlo"/>
              </a:rPr>
              <a:t> = [0.7 0.7 0.7];</a:t>
            </a:r>
          </a:p>
          <a:p>
            <a:pPr>
              <a:buNone/>
            </a:pPr>
            <a:r>
              <a:rPr lang="en-US" sz="1800" b="0" i="0" dirty="0" err="1">
                <a:effectLst/>
                <a:latin typeface="Menlo"/>
              </a:rPr>
              <a:t>pax.LineWidth</a:t>
            </a:r>
            <a:r>
              <a:rPr lang="en-US" sz="1800" b="0" i="0" dirty="0">
                <a:effectLst/>
                <a:latin typeface="Menlo"/>
              </a:rPr>
              <a:t> = 1.2;</a:t>
            </a:r>
          </a:p>
          <a:p>
            <a:pPr>
              <a:buNone/>
            </a:pPr>
            <a:r>
              <a:rPr lang="en-US" sz="1800" b="0" i="0" dirty="0" err="1">
                <a:effectLst/>
                <a:latin typeface="Menlo"/>
              </a:rPr>
              <a:t>pax.FontSize</a:t>
            </a:r>
            <a:r>
              <a:rPr lang="en-US" sz="1800" b="0" i="0" dirty="0">
                <a:effectLst/>
                <a:latin typeface="Menlo"/>
              </a:rPr>
              <a:t> = 12;</a:t>
            </a:r>
          </a:p>
          <a:p>
            <a:endParaRPr lang="en-US" dirty="0"/>
          </a:p>
        </p:txBody>
      </p:sp>
      <p:sp>
        <p:nvSpPr>
          <p:cNvPr id="16" name="TextBox 15">
            <a:extLst>
              <a:ext uri="{FF2B5EF4-FFF2-40B4-BE49-F238E27FC236}">
                <a16:creationId xmlns:a16="http://schemas.microsoft.com/office/drawing/2014/main" id="{66C91A04-4407-3A8C-4087-780A7005934B}"/>
              </a:ext>
            </a:extLst>
          </p:cNvPr>
          <p:cNvSpPr txBox="1"/>
          <p:nvPr/>
        </p:nvSpPr>
        <p:spPr>
          <a:xfrm>
            <a:off x="5350191" y="256541"/>
            <a:ext cx="3679509" cy="7326184"/>
          </a:xfrm>
          <a:prstGeom prst="rect">
            <a:avLst/>
          </a:prstGeom>
          <a:noFill/>
        </p:spPr>
        <p:txBody>
          <a:bodyPr wrap="square" rtlCol="0">
            <a:spAutoFit/>
          </a:bodyPr>
          <a:lstStyle/>
          <a:p>
            <a:pPr>
              <a:buNone/>
            </a:pPr>
            <a:r>
              <a:rPr lang="en-US" sz="1800" b="0" i="0" dirty="0">
                <a:solidFill>
                  <a:srgbClr val="028009"/>
                </a:solidFill>
                <a:effectLst/>
                <a:latin typeface="Menlo"/>
              </a:rPr>
              <a:t>%% Main radar line</a:t>
            </a:r>
            <a:endParaRPr lang="en-US" sz="1800" b="0" i="0" dirty="0">
              <a:effectLst/>
              <a:latin typeface="Menlo"/>
            </a:endParaRPr>
          </a:p>
          <a:p>
            <a:pPr>
              <a:buNone/>
            </a:pPr>
            <a:r>
              <a:rPr lang="en-US" sz="1800" b="0" i="0" dirty="0" err="1">
                <a:effectLst/>
                <a:latin typeface="Menlo"/>
              </a:rPr>
              <a:t>polarplot</a:t>
            </a:r>
            <a:r>
              <a:rPr lang="en-US" sz="1800" b="0" i="0" dirty="0">
                <a:effectLst/>
                <a:latin typeface="Menlo"/>
              </a:rPr>
              <a:t>(</a:t>
            </a:r>
            <a:r>
              <a:rPr lang="en-US" sz="1800" b="0" i="0" dirty="0" err="1">
                <a:effectLst/>
                <a:latin typeface="Menlo"/>
              </a:rPr>
              <a:t>theta,r</a:t>
            </a:r>
            <a:r>
              <a:rPr lang="en-US" sz="1800" b="0" i="0" dirty="0">
                <a:effectLst/>
                <a:latin typeface="Menlo"/>
              </a:rPr>
              <a:t>,</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'LineWidth'</a:t>
            </a:r>
            <a:r>
              <a:rPr lang="en-US" sz="1800" b="0" i="0" dirty="0">
                <a:effectLst/>
                <a:latin typeface="Menlo"/>
              </a:rPr>
              <a:t>,4,</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'Color'</a:t>
            </a:r>
            <a:r>
              <a:rPr lang="en-US" sz="1800" b="0" i="0" dirty="0">
                <a:effectLst/>
                <a:latin typeface="Menlo"/>
              </a:rPr>
              <a:t>,[0 0.45 0.85],</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Marker'</a:t>
            </a:r>
            <a:r>
              <a:rPr lang="en-US" sz="1800" b="0" i="0" dirty="0" err="1">
                <a:effectLst/>
                <a:latin typeface="Menlo"/>
              </a:rPr>
              <a:t>,</a:t>
            </a:r>
            <a:r>
              <a:rPr lang="en-US" sz="1800" b="0" i="0" dirty="0" err="1">
                <a:solidFill>
                  <a:srgbClr val="AA04F9"/>
                </a:solidFill>
                <a:effectLst/>
                <a:latin typeface="Menlo"/>
              </a:rPr>
              <a:t>'o</a:t>
            </a:r>
            <a:r>
              <a:rPr lang="en-US" sz="1800" b="0" i="0" dirty="0">
                <a:solidFill>
                  <a:srgbClr val="AA04F9"/>
                </a:solidFill>
                <a:effectLst/>
                <a:latin typeface="Menlo"/>
              </a:rPr>
              <a:t>'</a:t>
            </a:r>
            <a:r>
              <a:rPr lang="en-US" sz="1800" b="0" i="0" dirty="0">
                <a:effectLst/>
                <a:latin typeface="Menlo"/>
              </a:rPr>
              <a:t>,</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'MarkerSize'</a:t>
            </a:r>
            <a:r>
              <a:rPr lang="en-US" sz="1800" b="0" i="0" dirty="0">
                <a:effectLst/>
                <a:latin typeface="Menlo"/>
              </a:rPr>
              <a:t>,9,</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MarkerFaceColor</a:t>
            </a:r>
            <a:r>
              <a:rPr lang="en-US" sz="1800" b="0" i="0" dirty="0">
                <a:solidFill>
                  <a:srgbClr val="AA04F9"/>
                </a:solidFill>
                <a:effectLst/>
                <a:latin typeface="Menlo"/>
              </a:rPr>
              <a:t>'</a:t>
            </a:r>
            <a:r>
              <a:rPr lang="en-US" sz="1800" b="0" i="0" dirty="0">
                <a:effectLst/>
                <a:latin typeface="Menlo"/>
              </a:rPr>
              <a:t>,[0.2 0.7 1],</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MarkerEdgeColor</a:t>
            </a:r>
            <a:r>
              <a:rPr lang="en-US" sz="1800" b="0" i="0" dirty="0">
                <a:solidFill>
                  <a:srgbClr val="AA04F9"/>
                </a:solidFill>
                <a:effectLst/>
                <a:latin typeface="Menlo"/>
              </a:rPr>
              <a:t>'</a:t>
            </a:r>
            <a:r>
              <a:rPr lang="en-US" sz="1800" b="0" i="0" dirty="0">
                <a:effectLst/>
                <a:latin typeface="Menlo"/>
              </a:rPr>
              <a:t>,</a:t>
            </a:r>
            <a:r>
              <a:rPr lang="en-US" sz="1800" b="0" i="0" dirty="0">
                <a:solidFill>
                  <a:srgbClr val="AA04F9"/>
                </a:solidFill>
                <a:effectLst/>
                <a:latin typeface="Menlo"/>
              </a:rPr>
              <a:t>'white'</a:t>
            </a:r>
            <a:r>
              <a:rPr lang="en-US" sz="1800" b="0" i="0" dirty="0">
                <a:effectLst/>
                <a:latin typeface="Menlo"/>
              </a:rPr>
              <a:t>)</a:t>
            </a:r>
          </a:p>
          <a:p>
            <a:pPr>
              <a:buNone/>
            </a:pPr>
            <a:r>
              <a:rPr lang="en-US" sz="1800" b="0" i="0" dirty="0">
                <a:solidFill>
                  <a:srgbClr val="028009"/>
                </a:solidFill>
                <a:effectLst/>
                <a:latin typeface="Menlo"/>
              </a:rPr>
              <a:t>%% Highlight points</a:t>
            </a:r>
            <a:endParaRPr lang="en-US" sz="1800" b="0" i="0" dirty="0">
              <a:effectLst/>
              <a:latin typeface="Menlo"/>
            </a:endParaRPr>
          </a:p>
          <a:p>
            <a:pPr>
              <a:buNone/>
            </a:pPr>
            <a:r>
              <a:rPr lang="en-US" sz="1800" b="0" i="0" dirty="0">
                <a:solidFill>
                  <a:srgbClr val="0E00FF"/>
                </a:solidFill>
                <a:effectLst/>
                <a:latin typeface="Menlo"/>
              </a:rPr>
              <a:t>for </a:t>
            </a:r>
            <a:r>
              <a:rPr lang="en-US" sz="1800" b="0" i="0" dirty="0" err="1">
                <a:effectLst/>
                <a:latin typeface="Menlo"/>
              </a:rPr>
              <a:t>i</a:t>
            </a:r>
            <a:r>
              <a:rPr lang="en-US" sz="1800" b="0" i="0" dirty="0">
                <a:effectLst/>
                <a:latin typeface="Menlo"/>
              </a:rPr>
              <a:t>=1:N</a:t>
            </a:r>
          </a:p>
          <a:p>
            <a:pPr>
              <a:buNone/>
            </a:pPr>
            <a:r>
              <a:rPr lang="en-US" sz="1800" b="0" i="0" dirty="0">
                <a:solidFill>
                  <a:srgbClr val="0E00FF"/>
                </a:solidFill>
                <a:effectLst/>
                <a:latin typeface="Menlo"/>
              </a:rPr>
              <a:t>if </a:t>
            </a:r>
            <a:r>
              <a:rPr lang="en-US" sz="1800" b="0" i="0" dirty="0">
                <a:effectLst/>
                <a:latin typeface="Menlo"/>
              </a:rPr>
              <a:t>scores(</a:t>
            </a:r>
            <a:r>
              <a:rPr lang="en-US" sz="1800" b="0" i="0" dirty="0" err="1">
                <a:effectLst/>
                <a:latin typeface="Menlo"/>
              </a:rPr>
              <a:t>i</a:t>
            </a:r>
            <a:r>
              <a:rPr lang="en-US" sz="1800" b="0" i="0" dirty="0">
                <a:effectLst/>
                <a:latin typeface="Menlo"/>
              </a:rPr>
              <a:t>)==5</a:t>
            </a:r>
          </a:p>
          <a:p>
            <a:pPr>
              <a:buNone/>
            </a:pPr>
            <a:r>
              <a:rPr lang="en-US" sz="1800" b="0" i="0" dirty="0">
                <a:effectLst/>
                <a:latin typeface="Menlo"/>
              </a:rPr>
              <a:t>c=[0 0.7 0.2]; </a:t>
            </a:r>
            <a:r>
              <a:rPr lang="en-US" sz="1800" b="0" i="0" dirty="0">
                <a:solidFill>
                  <a:srgbClr val="028009"/>
                </a:solidFill>
                <a:effectLst/>
                <a:latin typeface="Menlo"/>
              </a:rPr>
              <a:t>% green</a:t>
            </a:r>
            <a:endParaRPr lang="en-US" sz="1800" b="0" i="0" dirty="0">
              <a:effectLst/>
              <a:latin typeface="Menlo"/>
            </a:endParaRPr>
          </a:p>
          <a:p>
            <a:pPr>
              <a:buNone/>
            </a:pPr>
            <a:r>
              <a:rPr lang="en-US" sz="1800" b="0" i="0" dirty="0">
                <a:solidFill>
                  <a:srgbClr val="0E00FF"/>
                </a:solidFill>
                <a:effectLst/>
                <a:latin typeface="Menlo"/>
              </a:rPr>
              <a:t>elseif </a:t>
            </a:r>
            <a:r>
              <a:rPr lang="en-US" sz="1800" b="0" i="0" dirty="0">
                <a:effectLst/>
                <a:latin typeface="Menlo"/>
              </a:rPr>
              <a:t>scores(</a:t>
            </a:r>
            <a:r>
              <a:rPr lang="en-US" sz="1800" b="0" i="0" dirty="0" err="1">
                <a:effectLst/>
                <a:latin typeface="Menlo"/>
              </a:rPr>
              <a:t>i</a:t>
            </a:r>
            <a:r>
              <a:rPr lang="en-US" sz="1800" b="0" i="0" dirty="0">
                <a:effectLst/>
                <a:latin typeface="Menlo"/>
              </a:rPr>
              <a:t>)==3</a:t>
            </a:r>
          </a:p>
          <a:p>
            <a:pPr>
              <a:buNone/>
            </a:pPr>
            <a:r>
              <a:rPr lang="en-US" sz="1800" b="0" i="0" dirty="0">
                <a:effectLst/>
                <a:latin typeface="Menlo"/>
              </a:rPr>
              <a:t>c=[0.9 0.2 0.2]; </a:t>
            </a:r>
            <a:r>
              <a:rPr lang="en-US" sz="1800" b="0" i="0" dirty="0">
                <a:solidFill>
                  <a:srgbClr val="028009"/>
                </a:solidFill>
                <a:effectLst/>
                <a:latin typeface="Menlo"/>
              </a:rPr>
              <a:t>% red</a:t>
            </a:r>
            <a:endParaRPr lang="en-US" sz="1800" b="0" i="0" dirty="0">
              <a:effectLst/>
              <a:latin typeface="Menlo"/>
            </a:endParaRPr>
          </a:p>
          <a:p>
            <a:pPr>
              <a:buNone/>
            </a:pPr>
            <a:r>
              <a:rPr lang="en-US" sz="1800" b="0" i="0" dirty="0">
                <a:solidFill>
                  <a:srgbClr val="0E00FF"/>
                </a:solidFill>
                <a:effectLst/>
                <a:latin typeface="Menlo"/>
              </a:rPr>
              <a:t>else</a:t>
            </a:r>
            <a:endParaRPr lang="en-US" sz="1800" b="0" i="0" dirty="0">
              <a:effectLst/>
              <a:latin typeface="Menlo"/>
            </a:endParaRPr>
          </a:p>
          <a:p>
            <a:pPr>
              <a:buNone/>
            </a:pPr>
            <a:r>
              <a:rPr lang="en-US" sz="1800" b="0" i="0" dirty="0">
                <a:effectLst/>
                <a:latin typeface="Menlo"/>
              </a:rPr>
              <a:t>c=[0 0.45 0.85];</a:t>
            </a:r>
          </a:p>
          <a:p>
            <a:pPr>
              <a:buNone/>
            </a:pPr>
            <a:r>
              <a:rPr lang="en-US" sz="1800" b="0" i="0" dirty="0">
                <a:solidFill>
                  <a:srgbClr val="0E00FF"/>
                </a:solidFill>
                <a:effectLst/>
                <a:latin typeface="Menlo"/>
              </a:rPr>
              <a:t>end</a:t>
            </a:r>
            <a:endParaRPr lang="en-US" sz="1800" b="0" i="0" dirty="0">
              <a:effectLst/>
              <a:latin typeface="Menlo"/>
            </a:endParaRPr>
          </a:p>
          <a:p>
            <a:pPr>
              <a:buNone/>
            </a:pPr>
            <a:r>
              <a:rPr lang="en-US" sz="1800" b="0" i="0" dirty="0" err="1">
                <a:effectLst/>
                <a:latin typeface="Menlo"/>
              </a:rPr>
              <a:t>polarplot</a:t>
            </a:r>
            <a:r>
              <a:rPr lang="en-US" sz="1800" b="0" i="0" dirty="0">
                <a:effectLst/>
                <a:latin typeface="Menlo"/>
              </a:rPr>
              <a:t>(theta(</a:t>
            </a:r>
            <a:r>
              <a:rPr lang="en-US" sz="1800" b="0" i="0" dirty="0" err="1">
                <a:effectLst/>
                <a:latin typeface="Menlo"/>
              </a:rPr>
              <a:t>i</a:t>
            </a:r>
            <a:r>
              <a:rPr lang="en-US" sz="1800" b="0" i="0" dirty="0">
                <a:effectLst/>
                <a:latin typeface="Menlo"/>
              </a:rPr>
              <a:t>),scores(</a:t>
            </a:r>
            <a:r>
              <a:rPr lang="en-US" sz="1800" b="0" i="0" dirty="0" err="1">
                <a:effectLst/>
                <a:latin typeface="Menlo"/>
              </a:rPr>
              <a:t>i</a:t>
            </a:r>
            <a:r>
              <a:rPr lang="en-US" sz="1800" b="0" i="0" dirty="0">
                <a:effectLst/>
                <a:latin typeface="Menlo"/>
              </a:rPr>
              <a:t>),</a:t>
            </a:r>
            <a:r>
              <a:rPr lang="en-US" sz="1800" b="0" i="0" dirty="0">
                <a:solidFill>
                  <a:srgbClr val="AA04F9"/>
                </a:solidFill>
                <a:effectLst/>
                <a:latin typeface="Menlo"/>
              </a:rPr>
              <a:t>'o'</a:t>
            </a:r>
            <a:r>
              <a:rPr lang="en-US" sz="1800" b="0" i="0" dirty="0">
                <a:effectLst/>
                <a:latin typeface="Menlo"/>
              </a:rPr>
              <a:t>,</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'MarkerSize'</a:t>
            </a:r>
            <a:r>
              <a:rPr lang="en-US" sz="1800" b="0" i="0" dirty="0">
                <a:effectLst/>
                <a:latin typeface="Menlo"/>
              </a:rPr>
              <a:t>,12,</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MarkerFaceColor</a:t>
            </a:r>
            <a:r>
              <a:rPr lang="en-US" sz="1800" b="0" i="0" dirty="0">
                <a:solidFill>
                  <a:srgbClr val="AA04F9"/>
                </a:solidFill>
                <a:effectLst/>
                <a:latin typeface="Menlo"/>
              </a:rPr>
              <a:t>'</a:t>
            </a:r>
            <a:r>
              <a:rPr lang="en-US" sz="1800" b="0" i="0" dirty="0">
                <a:effectLst/>
                <a:latin typeface="Menlo"/>
              </a:rPr>
              <a:t>,c,</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a:t>
            </a:r>
            <a:r>
              <a:rPr lang="en-US" sz="1800" b="0" i="0" dirty="0" err="1">
                <a:solidFill>
                  <a:srgbClr val="AA04F9"/>
                </a:solidFill>
                <a:effectLst/>
                <a:latin typeface="Menlo"/>
              </a:rPr>
              <a:t>MarkerEdgeColor</a:t>
            </a:r>
            <a:r>
              <a:rPr lang="en-US" sz="1800" b="0" i="0" dirty="0">
                <a:solidFill>
                  <a:srgbClr val="AA04F9"/>
                </a:solidFill>
                <a:effectLst/>
                <a:latin typeface="Menlo"/>
              </a:rPr>
              <a:t>'</a:t>
            </a:r>
            <a:r>
              <a:rPr lang="en-US" sz="1800" b="0" i="0" dirty="0">
                <a:effectLst/>
                <a:latin typeface="Menlo"/>
              </a:rPr>
              <a:t>,</a:t>
            </a:r>
            <a:r>
              <a:rPr lang="en-US" sz="1800" b="0" i="0" dirty="0">
                <a:solidFill>
                  <a:srgbClr val="AA04F9"/>
                </a:solidFill>
                <a:effectLst/>
                <a:latin typeface="Menlo"/>
              </a:rPr>
              <a:t>'white'</a:t>
            </a:r>
            <a:r>
              <a:rPr lang="en-US" sz="1800" b="0" i="0" dirty="0">
                <a:effectLst/>
                <a:latin typeface="Menlo"/>
              </a:rPr>
              <a:t>,</a:t>
            </a:r>
            <a:r>
              <a:rPr lang="en-US" sz="1800" b="0" i="0" dirty="0">
                <a:solidFill>
                  <a:srgbClr val="0E00FF"/>
                </a:solidFill>
                <a:effectLst/>
                <a:latin typeface="Menlo"/>
              </a:rPr>
              <a:t>...</a:t>
            </a:r>
            <a:endParaRPr lang="en-US" sz="1800" b="0" i="0" dirty="0">
              <a:effectLst/>
              <a:latin typeface="Menlo"/>
            </a:endParaRPr>
          </a:p>
          <a:p>
            <a:pPr>
              <a:buNone/>
            </a:pPr>
            <a:r>
              <a:rPr lang="en-US" sz="1800" b="0" i="0" dirty="0">
                <a:solidFill>
                  <a:srgbClr val="AA04F9"/>
                </a:solidFill>
                <a:effectLst/>
                <a:latin typeface="Menlo"/>
              </a:rPr>
              <a:t>'LineWidth'</a:t>
            </a:r>
            <a:r>
              <a:rPr lang="en-US" sz="1800" b="0" i="0" dirty="0">
                <a:effectLst/>
                <a:latin typeface="Menlo"/>
              </a:rPr>
              <a:t>,2)</a:t>
            </a:r>
          </a:p>
          <a:p>
            <a:pPr>
              <a:buNone/>
            </a:pPr>
            <a:r>
              <a:rPr lang="en-US" sz="1800" b="0" i="0" dirty="0">
                <a:solidFill>
                  <a:srgbClr val="0E00FF"/>
                </a:solidFill>
                <a:effectLst/>
                <a:latin typeface="Menlo"/>
              </a:rPr>
              <a:t>end</a:t>
            </a:r>
            <a:endParaRPr lang="en-US" sz="1800" b="0" i="0" dirty="0">
              <a:effectLst/>
              <a:latin typeface="Menlo"/>
            </a:endParaRPr>
          </a:p>
          <a:p>
            <a:pPr>
              <a:buNone/>
            </a:pPr>
            <a:br>
              <a:rPr lang="en-US" sz="1800" b="0" i="0" dirty="0">
                <a:effectLst/>
                <a:latin typeface="Menlo"/>
              </a:rPr>
            </a:br>
            <a:endParaRPr lang="en-US" sz="1800" b="0" i="0" dirty="0">
              <a:effectLst/>
              <a:latin typeface="Menlo"/>
            </a:endParaRPr>
          </a:p>
          <a:p>
            <a:endParaRPr lang="en-US" dirty="0"/>
          </a:p>
        </p:txBody>
      </p:sp>
      <p:sp>
        <p:nvSpPr>
          <p:cNvPr id="17" name="TextBox 16">
            <a:extLst>
              <a:ext uri="{FF2B5EF4-FFF2-40B4-BE49-F238E27FC236}">
                <a16:creationId xmlns:a16="http://schemas.microsoft.com/office/drawing/2014/main" id="{B62BA40C-8292-2D5F-5173-DC2634387266}"/>
              </a:ext>
            </a:extLst>
          </p:cNvPr>
          <p:cNvSpPr txBox="1"/>
          <p:nvPr/>
        </p:nvSpPr>
        <p:spPr>
          <a:xfrm>
            <a:off x="168331" y="818906"/>
            <a:ext cx="3251200" cy="461665"/>
          </a:xfrm>
          <a:prstGeom prst="rect">
            <a:avLst/>
          </a:prstGeom>
          <a:noFill/>
        </p:spPr>
        <p:txBody>
          <a:bodyPr wrap="square" rtlCol="0">
            <a:spAutoFit/>
          </a:bodyPr>
          <a:lstStyle/>
          <a:p>
            <a:r>
              <a:rPr lang="en-US" sz="2400" b="1" dirty="0">
                <a:solidFill>
                  <a:schemeClr val="accent5"/>
                </a:solidFill>
              </a:rPr>
              <a:t>Rader chart code</a:t>
            </a:r>
          </a:p>
        </p:txBody>
      </p:sp>
      <p:sp>
        <p:nvSpPr>
          <p:cNvPr id="18" name="TextBox 17">
            <a:extLst>
              <a:ext uri="{FF2B5EF4-FFF2-40B4-BE49-F238E27FC236}">
                <a16:creationId xmlns:a16="http://schemas.microsoft.com/office/drawing/2014/main" id="{CAED55EC-9DB7-32B6-FA39-9575F29DBEA9}"/>
              </a:ext>
            </a:extLst>
          </p:cNvPr>
          <p:cNvSpPr txBox="1"/>
          <p:nvPr/>
        </p:nvSpPr>
        <p:spPr>
          <a:xfrm>
            <a:off x="8340299" y="256541"/>
            <a:ext cx="3851701" cy="6740307"/>
          </a:xfrm>
          <a:prstGeom prst="rect">
            <a:avLst/>
          </a:prstGeom>
          <a:noFill/>
        </p:spPr>
        <p:txBody>
          <a:bodyPr wrap="square" rtlCol="0">
            <a:spAutoFit/>
          </a:bodyPr>
          <a:lstStyle/>
          <a:p>
            <a:pPr>
              <a:buNone/>
            </a:pPr>
            <a:r>
              <a:rPr lang="en-US" dirty="0">
                <a:solidFill>
                  <a:srgbClr val="028009"/>
                </a:solidFill>
                <a:latin typeface="Menlo"/>
              </a:rPr>
              <a:t>%% Labels</a:t>
            </a:r>
            <a:endParaRPr lang="en-US" dirty="0">
              <a:latin typeface="Menlo"/>
            </a:endParaRPr>
          </a:p>
          <a:p>
            <a:pPr>
              <a:buNone/>
            </a:pPr>
            <a:r>
              <a:rPr lang="en-US" dirty="0">
                <a:solidFill>
                  <a:srgbClr val="0E00FF"/>
                </a:solidFill>
                <a:latin typeface="Menlo"/>
              </a:rPr>
              <a:t>for </a:t>
            </a:r>
            <a:r>
              <a:rPr lang="en-US" dirty="0" err="1">
                <a:latin typeface="Menlo"/>
              </a:rPr>
              <a:t>i</a:t>
            </a:r>
            <a:r>
              <a:rPr lang="en-US" dirty="0">
                <a:latin typeface="Menlo"/>
              </a:rPr>
              <a:t>=1:N</a:t>
            </a:r>
          </a:p>
          <a:p>
            <a:pPr>
              <a:buNone/>
            </a:pPr>
            <a:r>
              <a:rPr lang="en-US" dirty="0">
                <a:latin typeface="Menlo"/>
              </a:rPr>
              <a:t>text(theta(</a:t>
            </a:r>
            <a:r>
              <a:rPr lang="en-US" dirty="0" err="1">
                <a:latin typeface="Menlo"/>
              </a:rPr>
              <a:t>i</a:t>
            </a:r>
            <a:r>
              <a:rPr lang="en-US" dirty="0">
                <a:latin typeface="Menlo"/>
              </a:rPr>
              <a:t>),5.85,labels{</a:t>
            </a:r>
            <a:r>
              <a:rPr lang="en-US" dirty="0" err="1">
                <a:latin typeface="Menlo"/>
              </a:rPr>
              <a:t>i</a:t>
            </a:r>
            <a:r>
              <a:rPr lang="en-US" dirty="0">
                <a:latin typeface="Menlo"/>
              </a:rPr>
              <a:t>},</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HorizontalAlignment</a:t>
            </a:r>
            <a:r>
              <a:rPr lang="en-US" dirty="0">
                <a:solidFill>
                  <a:srgbClr val="AA04F9"/>
                </a:solidFill>
                <a:latin typeface="Menlo"/>
              </a:rPr>
              <a:t>'</a:t>
            </a:r>
            <a:r>
              <a:rPr lang="en-US" dirty="0">
                <a:latin typeface="Menlo"/>
              </a:rPr>
              <a:t>,</a:t>
            </a:r>
            <a:r>
              <a:rPr lang="en-US" dirty="0">
                <a:solidFill>
                  <a:srgbClr val="AA04F9"/>
                </a:solidFill>
                <a:latin typeface="Menlo"/>
              </a:rPr>
              <a:t>'center'</a:t>
            </a:r>
            <a:r>
              <a:rPr lang="en-US" dirty="0">
                <a:latin typeface="Menlo"/>
              </a:rPr>
              <a:t>,</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FontWeight</a:t>
            </a:r>
            <a:r>
              <a:rPr lang="en-US" dirty="0">
                <a:solidFill>
                  <a:srgbClr val="AA04F9"/>
                </a:solidFill>
                <a:latin typeface="Menlo"/>
              </a:rPr>
              <a:t>'</a:t>
            </a:r>
            <a:r>
              <a:rPr lang="en-US" dirty="0">
                <a:latin typeface="Menlo"/>
              </a:rPr>
              <a:t>,</a:t>
            </a:r>
            <a:r>
              <a:rPr lang="en-US" dirty="0">
                <a:solidFill>
                  <a:srgbClr val="AA04F9"/>
                </a:solidFill>
                <a:latin typeface="Menlo"/>
              </a:rPr>
              <a:t>'bold'</a:t>
            </a:r>
            <a:r>
              <a:rPr lang="en-US" dirty="0">
                <a:latin typeface="Menlo"/>
              </a:rPr>
              <a:t>,</a:t>
            </a:r>
            <a:r>
              <a:rPr lang="en-US" dirty="0">
                <a:solidFill>
                  <a:srgbClr val="0E00FF"/>
                </a:solidFill>
                <a:latin typeface="Menlo"/>
              </a:rPr>
              <a:t>...</a:t>
            </a:r>
            <a:r>
              <a:rPr lang="en-US" dirty="0">
                <a:solidFill>
                  <a:srgbClr val="AA04F9"/>
                </a:solidFill>
                <a:latin typeface="Menlo"/>
              </a:rPr>
              <a:t>'FontSize'</a:t>
            </a:r>
            <a:r>
              <a:rPr lang="en-US" dirty="0">
                <a:latin typeface="Menlo"/>
              </a:rPr>
              <a:t>,10)</a:t>
            </a:r>
          </a:p>
          <a:p>
            <a:pPr>
              <a:buNone/>
            </a:pPr>
            <a:r>
              <a:rPr lang="en-US" dirty="0">
                <a:solidFill>
                  <a:srgbClr val="0E00FF"/>
                </a:solidFill>
                <a:latin typeface="Menlo"/>
              </a:rPr>
              <a:t>end</a:t>
            </a:r>
            <a:endParaRPr lang="en-US" dirty="0">
              <a:latin typeface="Menlo"/>
            </a:endParaRPr>
          </a:p>
          <a:p>
            <a:pPr>
              <a:buNone/>
            </a:pPr>
            <a:r>
              <a:rPr lang="en-US" dirty="0">
                <a:solidFill>
                  <a:srgbClr val="028009"/>
                </a:solidFill>
                <a:latin typeface="Menlo"/>
              </a:rPr>
              <a:t>%% Score labels</a:t>
            </a:r>
            <a:endParaRPr lang="en-US" dirty="0">
              <a:latin typeface="Menlo"/>
            </a:endParaRPr>
          </a:p>
          <a:p>
            <a:pPr>
              <a:buNone/>
            </a:pPr>
            <a:r>
              <a:rPr lang="en-US" dirty="0">
                <a:solidFill>
                  <a:srgbClr val="0E00FF"/>
                </a:solidFill>
                <a:latin typeface="Menlo"/>
              </a:rPr>
              <a:t>for </a:t>
            </a:r>
            <a:r>
              <a:rPr lang="en-US" dirty="0" err="1">
                <a:latin typeface="Menlo"/>
              </a:rPr>
              <a:t>i</a:t>
            </a:r>
            <a:r>
              <a:rPr lang="en-US" dirty="0">
                <a:latin typeface="Menlo"/>
              </a:rPr>
              <a:t>=1:N</a:t>
            </a:r>
          </a:p>
          <a:p>
            <a:pPr>
              <a:buNone/>
            </a:pPr>
            <a:r>
              <a:rPr lang="en-US" dirty="0">
                <a:latin typeface="Menlo"/>
              </a:rPr>
              <a:t>text(theta(</a:t>
            </a:r>
            <a:r>
              <a:rPr lang="en-US" dirty="0" err="1">
                <a:latin typeface="Menlo"/>
              </a:rPr>
              <a:t>i</a:t>
            </a:r>
            <a:r>
              <a:rPr lang="en-US" dirty="0">
                <a:latin typeface="Menlo"/>
              </a:rPr>
              <a:t>),scores(</a:t>
            </a:r>
            <a:r>
              <a:rPr lang="en-US" dirty="0" err="1">
                <a:latin typeface="Menlo"/>
              </a:rPr>
              <a:t>i</a:t>
            </a:r>
            <a:r>
              <a:rPr lang="en-US" dirty="0">
                <a:latin typeface="Menlo"/>
              </a:rPr>
              <a:t>)+0.35,</a:t>
            </a:r>
            <a:r>
              <a:rPr lang="en-US" dirty="0">
                <a:solidFill>
                  <a:srgbClr val="0E00FF"/>
                </a:solidFill>
                <a:latin typeface="Menlo"/>
              </a:rPr>
              <a:t>...</a:t>
            </a:r>
            <a:endParaRPr lang="en-US" dirty="0">
              <a:latin typeface="Menlo"/>
            </a:endParaRPr>
          </a:p>
          <a:p>
            <a:pPr>
              <a:buNone/>
            </a:pPr>
            <a:r>
              <a:rPr lang="en-US" dirty="0" err="1">
                <a:latin typeface="Menlo"/>
              </a:rPr>
              <a:t>sprintf</a:t>
            </a:r>
            <a:r>
              <a:rPr lang="en-US" dirty="0">
                <a:latin typeface="Menlo"/>
              </a:rPr>
              <a:t>(</a:t>
            </a:r>
            <a:r>
              <a:rPr lang="en-US" dirty="0">
                <a:solidFill>
                  <a:srgbClr val="AA04F9"/>
                </a:solidFill>
                <a:latin typeface="Menlo"/>
              </a:rPr>
              <a:t>'%d/5'</a:t>
            </a:r>
            <a:r>
              <a:rPr lang="en-US" dirty="0">
                <a:latin typeface="Menlo"/>
              </a:rPr>
              <a:t>,scores(</a:t>
            </a:r>
            <a:r>
              <a:rPr lang="en-US" dirty="0" err="1">
                <a:latin typeface="Menlo"/>
              </a:rPr>
              <a:t>i</a:t>
            </a:r>
            <a:r>
              <a:rPr lang="en-US" dirty="0">
                <a:latin typeface="Menlo"/>
              </a:rPr>
              <a:t>)),</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FontWeight</a:t>
            </a:r>
            <a:r>
              <a:rPr lang="en-US" dirty="0">
                <a:solidFill>
                  <a:srgbClr val="AA04F9"/>
                </a:solidFill>
                <a:latin typeface="Menlo"/>
              </a:rPr>
              <a:t>'</a:t>
            </a:r>
            <a:r>
              <a:rPr lang="en-US" dirty="0">
                <a:latin typeface="Menlo"/>
              </a:rPr>
              <a:t>,</a:t>
            </a:r>
            <a:r>
              <a:rPr lang="en-US" dirty="0">
                <a:solidFill>
                  <a:srgbClr val="AA04F9"/>
                </a:solidFill>
                <a:latin typeface="Menlo"/>
              </a:rPr>
              <a:t>'bold'</a:t>
            </a:r>
            <a:r>
              <a:rPr lang="en-US" dirty="0">
                <a:latin typeface="Menlo"/>
              </a:rPr>
              <a:t>,</a:t>
            </a:r>
            <a:r>
              <a:rPr lang="en-US" dirty="0">
                <a:solidFill>
                  <a:srgbClr val="0E00FF"/>
                </a:solidFill>
                <a:latin typeface="Menlo"/>
              </a:rPr>
              <a:t>...</a:t>
            </a:r>
            <a:r>
              <a:rPr lang="en-US" dirty="0">
                <a:solidFill>
                  <a:srgbClr val="AA04F9"/>
                </a:solidFill>
                <a:latin typeface="Menlo"/>
              </a:rPr>
              <a:t>'FontSize'</a:t>
            </a:r>
            <a:r>
              <a:rPr lang="en-US" dirty="0">
                <a:latin typeface="Menlo"/>
              </a:rPr>
              <a:t>,11)</a:t>
            </a:r>
          </a:p>
          <a:p>
            <a:pPr>
              <a:buNone/>
            </a:pPr>
            <a:r>
              <a:rPr lang="en-US" dirty="0">
                <a:solidFill>
                  <a:srgbClr val="0E00FF"/>
                </a:solidFill>
                <a:latin typeface="Menlo"/>
              </a:rPr>
              <a:t>end</a:t>
            </a:r>
            <a:endParaRPr lang="en-US" dirty="0">
              <a:latin typeface="Menlo"/>
            </a:endParaRPr>
          </a:p>
          <a:p>
            <a:pPr>
              <a:buNone/>
            </a:pPr>
            <a:r>
              <a:rPr lang="en-US" dirty="0">
                <a:latin typeface="Menlo"/>
              </a:rPr>
              <a:t>title(</a:t>
            </a:r>
            <a:r>
              <a:rPr lang="en-US" dirty="0">
                <a:solidFill>
                  <a:srgbClr val="AA04F9"/>
                </a:solidFill>
                <a:latin typeface="Menlo"/>
              </a:rPr>
              <a:t>''</a:t>
            </a:r>
            <a:r>
              <a:rPr lang="en-US" dirty="0">
                <a:latin typeface="Menlo"/>
              </a:rPr>
              <a:t>,</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'FontSize'</a:t>
            </a:r>
            <a:r>
              <a:rPr lang="en-US" dirty="0">
                <a:latin typeface="Menlo"/>
              </a:rPr>
              <a:t>,20,</a:t>
            </a:r>
            <a:r>
              <a:rPr lang="en-US" dirty="0">
                <a:solidFill>
                  <a:srgbClr val="0E00FF"/>
                </a:solidFill>
                <a:latin typeface="Menlo"/>
              </a:rPr>
              <a:t>...</a:t>
            </a:r>
            <a:r>
              <a:rPr lang="en-US" dirty="0">
                <a:solidFill>
                  <a:srgbClr val="AA04F9"/>
                </a:solidFill>
                <a:latin typeface="Menlo"/>
              </a:rPr>
              <a:t>'</a:t>
            </a:r>
            <a:r>
              <a:rPr lang="en-US" dirty="0" err="1">
                <a:solidFill>
                  <a:srgbClr val="AA04F9"/>
                </a:solidFill>
                <a:latin typeface="Menlo"/>
              </a:rPr>
              <a:t>FontWeight</a:t>
            </a:r>
            <a:r>
              <a:rPr lang="en-US" dirty="0">
                <a:solidFill>
                  <a:srgbClr val="AA04F9"/>
                </a:solidFill>
                <a:latin typeface="Menlo"/>
              </a:rPr>
              <a:t>'</a:t>
            </a:r>
            <a:r>
              <a:rPr lang="en-US" dirty="0">
                <a:latin typeface="Menlo"/>
              </a:rPr>
              <a:t>,</a:t>
            </a:r>
            <a:r>
              <a:rPr lang="en-US" dirty="0">
                <a:solidFill>
                  <a:srgbClr val="AA04F9"/>
                </a:solidFill>
                <a:latin typeface="Menlo"/>
              </a:rPr>
              <a:t>'bold'</a:t>
            </a:r>
            <a:r>
              <a:rPr lang="en-US" dirty="0">
                <a:latin typeface="Menlo"/>
              </a:rPr>
              <a:t>)</a:t>
            </a:r>
          </a:p>
          <a:p>
            <a:pPr>
              <a:buNone/>
            </a:pPr>
            <a:r>
              <a:rPr lang="en-US" dirty="0">
                <a:latin typeface="Menlo"/>
              </a:rPr>
              <a:t>annotation(</a:t>
            </a:r>
            <a:r>
              <a:rPr lang="en-US" dirty="0">
                <a:solidFill>
                  <a:srgbClr val="AA04F9"/>
                </a:solidFill>
                <a:latin typeface="Menlo"/>
              </a:rPr>
              <a:t>'textbox'</a:t>
            </a:r>
            <a:r>
              <a:rPr lang="en-US" dirty="0">
                <a:latin typeface="Menlo"/>
              </a:rPr>
              <a:t>,[0.73 0.82 0.18 0.09],</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'String'</a:t>
            </a:r>
            <a:r>
              <a:rPr lang="en-US" dirty="0">
                <a:latin typeface="Menlo"/>
              </a:rPr>
              <a:t>,{</a:t>
            </a:r>
            <a:r>
              <a:rPr lang="en-US" dirty="0">
                <a:solidFill>
                  <a:srgbClr val="AA04F9"/>
                </a:solidFill>
                <a:latin typeface="Menlo"/>
              </a:rPr>
              <a:t>'Overall Score: 82%'</a:t>
            </a:r>
            <a:r>
              <a:rPr lang="en-US" dirty="0">
                <a:latin typeface="Menlo"/>
              </a:rPr>
              <a:t>,</a:t>
            </a:r>
            <a:r>
              <a:rPr lang="en-US" dirty="0">
                <a:solidFill>
                  <a:srgbClr val="AA04F9"/>
                </a:solidFill>
                <a:latin typeface="Menlo"/>
              </a:rPr>
              <a:t>'GOOD'</a:t>
            </a:r>
            <a:r>
              <a:rPr lang="en-US" dirty="0">
                <a:latin typeface="Menlo"/>
              </a:rPr>
              <a:t>},</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'FontSize'</a:t>
            </a:r>
            <a:r>
              <a:rPr lang="en-US" dirty="0">
                <a:latin typeface="Menlo"/>
              </a:rPr>
              <a:t>,14,</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FontWeight</a:t>
            </a:r>
            <a:r>
              <a:rPr lang="en-US" dirty="0">
                <a:solidFill>
                  <a:srgbClr val="AA04F9"/>
                </a:solidFill>
                <a:latin typeface="Menlo"/>
              </a:rPr>
              <a:t>'</a:t>
            </a:r>
            <a:r>
              <a:rPr lang="en-US" dirty="0">
                <a:latin typeface="Menlo"/>
              </a:rPr>
              <a:t>,</a:t>
            </a:r>
            <a:r>
              <a:rPr lang="en-US" dirty="0">
                <a:solidFill>
                  <a:srgbClr val="AA04F9"/>
                </a:solidFill>
                <a:latin typeface="Menlo"/>
              </a:rPr>
              <a:t>'bold'</a:t>
            </a:r>
            <a:r>
              <a:rPr lang="en-US" dirty="0">
                <a:latin typeface="Menlo"/>
              </a:rPr>
              <a:t>,</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BackgroundColor</a:t>
            </a:r>
            <a:r>
              <a:rPr lang="en-US" dirty="0">
                <a:solidFill>
                  <a:srgbClr val="AA04F9"/>
                </a:solidFill>
                <a:latin typeface="Menlo"/>
              </a:rPr>
              <a:t>'</a:t>
            </a:r>
            <a:r>
              <a:rPr lang="en-US" dirty="0">
                <a:latin typeface="Menlo"/>
              </a:rPr>
              <a:t>,[0.93 0.97 1],</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EdgeColor</a:t>
            </a:r>
            <a:r>
              <a:rPr lang="en-US" dirty="0">
                <a:solidFill>
                  <a:srgbClr val="AA04F9"/>
                </a:solidFill>
                <a:latin typeface="Menlo"/>
              </a:rPr>
              <a:t>'</a:t>
            </a:r>
            <a:r>
              <a:rPr lang="en-US" dirty="0">
                <a:latin typeface="Menlo"/>
              </a:rPr>
              <a:t>,[0 0.35 0.8],</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'LineWidth'</a:t>
            </a:r>
            <a:r>
              <a:rPr lang="en-US" dirty="0">
                <a:latin typeface="Menlo"/>
              </a:rPr>
              <a:t>,2,</a:t>
            </a:r>
            <a:r>
              <a:rPr lang="en-US" dirty="0">
                <a:solidFill>
                  <a:srgbClr val="0E00FF"/>
                </a:solidFill>
                <a:latin typeface="Menlo"/>
              </a:rPr>
              <a:t>...</a:t>
            </a:r>
            <a:endParaRPr lang="en-US" dirty="0">
              <a:latin typeface="Menlo"/>
            </a:endParaRPr>
          </a:p>
          <a:p>
            <a:pPr>
              <a:buNone/>
            </a:pPr>
            <a:r>
              <a:rPr lang="en-US" dirty="0">
                <a:solidFill>
                  <a:srgbClr val="AA04F9"/>
                </a:solidFill>
                <a:latin typeface="Menlo"/>
              </a:rPr>
              <a:t>'</a:t>
            </a:r>
            <a:r>
              <a:rPr lang="en-US" dirty="0" err="1">
                <a:solidFill>
                  <a:srgbClr val="AA04F9"/>
                </a:solidFill>
                <a:latin typeface="Menlo"/>
              </a:rPr>
              <a:t>HorizontalAlignment</a:t>
            </a:r>
            <a:r>
              <a:rPr lang="en-US" dirty="0">
                <a:solidFill>
                  <a:srgbClr val="AA04F9"/>
                </a:solidFill>
                <a:latin typeface="Menlo"/>
              </a:rPr>
              <a:t>'</a:t>
            </a:r>
            <a:r>
              <a:rPr lang="en-US" dirty="0">
                <a:latin typeface="Menlo"/>
              </a:rPr>
              <a:t>,</a:t>
            </a:r>
            <a:r>
              <a:rPr lang="en-US" dirty="0">
                <a:solidFill>
                  <a:srgbClr val="AA04F9"/>
                </a:solidFill>
                <a:latin typeface="Menlo"/>
              </a:rPr>
              <a:t>'center'</a:t>
            </a:r>
            <a:r>
              <a:rPr lang="en-US" dirty="0">
                <a:latin typeface="Menlo"/>
              </a:rPr>
              <a:t>);</a:t>
            </a:r>
          </a:p>
          <a:p>
            <a:endParaRPr lang="en-US" dirty="0"/>
          </a:p>
        </p:txBody>
      </p:sp>
    </p:spTree>
    <p:extLst>
      <p:ext uri="{BB962C8B-B14F-4D97-AF65-F5344CB8AC3E}">
        <p14:creationId xmlns:p14="http://schemas.microsoft.com/office/powerpoint/2010/main" val="290359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2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25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25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6"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26041-8309-C3B2-F4B3-5DF1C76C324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B77C6C-9D1F-00E1-470B-F97C30873FDB}"/>
              </a:ext>
            </a:extLst>
          </p:cNvPr>
          <p:cNvSpPr>
            <a:spLocks noGrp="1"/>
          </p:cNvSpPr>
          <p:nvPr>
            <p:ph type="sldNum" sz="quarter" idx="11"/>
          </p:nvPr>
        </p:nvSpPr>
        <p:spPr/>
        <p:txBody>
          <a:bodyPr/>
          <a:lstStyle/>
          <a:p>
            <a:fld id="{EECC7194-A4D0-457B-9D3E-53681723AFF7}" type="slidenum">
              <a:rPr lang="en-US" smtClean="0"/>
              <a:pPr/>
              <a:t>14</a:t>
            </a:fld>
            <a:endParaRPr lang="en-US" dirty="0"/>
          </a:p>
        </p:txBody>
      </p:sp>
      <p:sp>
        <p:nvSpPr>
          <p:cNvPr id="4" name="Title 3">
            <a:extLst>
              <a:ext uri="{FF2B5EF4-FFF2-40B4-BE49-F238E27FC236}">
                <a16:creationId xmlns:a16="http://schemas.microsoft.com/office/drawing/2014/main" id="{477AAD57-72A3-E823-0C60-3962718B5CD3}"/>
              </a:ext>
            </a:extLst>
          </p:cNvPr>
          <p:cNvSpPr>
            <a:spLocks noGrp="1"/>
          </p:cNvSpPr>
          <p:nvPr>
            <p:ph type="title"/>
          </p:nvPr>
        </p:nvSpPr>
        <p:spPr>
          <a:xfrm>
            <a:off x="222363" y="223965"/>
            <a:ext cx="6400574" cy="350557"/>
          </a:xfrm>
        </p:spPr>
        <p:txBody>
          <a:bodyPr/>
          <a:lstStyle/>
          <a:p>
            <a:r>
              <a:rPr lang="en-US" dirty="0"/>
              <a:t>MATLAB  Highlights</a:t>
            </a:r>
            <a:br>
              <a:rPr lang="ar-EG" dirty="0"/>
            </a:br>
            <a:endParaRPr lang="en-US" dirty="0"/>
          </a:p>
        </p:txBody>
      </p:sp>
      <p:sp>
        <p:nvSpPr>
          <p:cNvPr id="5" name="object 7" descr="Beige rectangle">
            <a:extLst>
              <a:ext uri="{FF2B5EF4-FFF2-40B4-BE49-F238E27FC236}">
                <a16:creationId xmlns:a16="http://schemas.microsoft.com/office/drawing/2014/main" id="{888BEA0A-4C59-BDBC-6147-BE7BC8A3ECA8}"/>
              </a:ext>
            </a:extLst>
          </p:cNvPr>
          <p:cNvSpPr/>
          <p:nvPr/>
        </p:nvSpPr>
        <p:spPr bwMode="white">
          <a:xfrm flipV="1">
            <a:off x="412863" y="658587"/>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4" name="TextBox 13">
            <a:extLst>
              <a:ext uri="{FF2B5EF4-FFF2-40B4-BE49-F238E27FC236}">
                <a16:creationId xmlns:a16="http://schemas.microsoft.com/office/drawing/2014/main" id="{5425C116-5EA0-D882-FA90-20D71A480F16}"/>
              </a:ext>
            </a:extLst>
          </p:cNvPr>
          <p:cNvSpPr txBox="1"/>
          <p:nvPr/>
        </p:nvSpPr>
        <p:spPr>
          <a:xfrm>
            <a:off x="222363" y="948690"/>
            <a:ext cx="5149737" cy="6391493"/>
          </a:xfrm>
          <a:prstGeom prst="rect">
            <a:avLst/>
          </a:prstGeom>
          <a:noFill/>
        </p:spPr>
        <p:txBody>
          <a:bodyPr wrap="square" rtlCol="0">
            <a:spAutoFit/>
          </a:bodyPr>
          <a:lstStyle/>
          <a:p>
            <a:pPr>
              <a:buNone/>
            </a:pPr>
            <a:endParaRPr lang="en-US" dirty="0">
              <a:latin typeface="Menlo"/>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clc; clear; close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all</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Data</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scores = [4 4 5 4 3 4 5 4 4];</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scores * 20;   </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principles = {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'Transparency’</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p>
          <a:p>
            <a:pPr marL="0" marR="0" indent="71755">
              <a:lnSpc>
                <a:spcPts val="1400"/>
              </a:lnSpc>
              <a:spcBef>
                <a:spcPts val="700"/>
              </a:spcBef>
              <a:spcAft>
                <a:spcPts val="700"/>
              </a:spcAft>
              <a:buNone/>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'Fairness'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'Accountability'</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'Responsibility'</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'Participation'</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'Independence'</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'Compliance'</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'Risk </a:t>
            </a:r>
            <a:r>
              <a:rPr lang="en-US" sz="1800" dirty="0" err="1">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Mgmt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'Anti-Corruption'</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overall_score</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mean(</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effectLst/>
                <a:latin typeface="Consolas" panose="020B0609020204030204" pitchFamily="49" charset="0"/>
                <a:ea typeface="Yu Gothic Medium" panose="020B0500000000000000" pitchFamily="34" charset="-128"/>
                <a:cs typeface="Times New Roman" panose="02020603050405020304" pitchFamily="18" charset="0"/>
              </a:rPr>
              <a:t> </a:t>
            </a:r>
          </a:p>
          <a:p>
            <a:endParaRPr lang="en-US" dirty="0"/>
          </a:p>
        </p:txBody>
      </p:sp>
      <p:sp>
        <p:nvSpPr>
          <p:cNvPr id="17" name="TextBox 16">
            <a:extLst>
              <a:ext uri="{FF2B5EF4-FFF2-40B4-BE49-F238E27FC236}">
                <a16:creationId xmlns:a16="http://schemas.microsoft.com/office/drawing/2014/main" id="{D9535C7E-38D3-CB27-BDA6-253485A6F9B1}"/>
              </a:ext>
            </a:extLst>
          </p:cNvPr>
          <p:cNvSpPr txBox="1"/>
          <p:nvPr/>
        </p:nvSpPr>
        <p:spPr>
          <a:xfrm>
            <a:off x="204118" y="788371"/>
            <a:ext cx="3679509" cy="738664"/>
          </a:xfrm>
          <a:prstGeom prst="rect">
            <a:avLst/>
          </a:prstGeom>
          <a:noFill/>
        </p:spPr>
        <p:txBody>
          <a:bodyPr wrap="square" rtlCol="0">
            <a:spAutoFit/>
          </a:bodyPr>
          <a:lstStyle/>
          <a:p>
            <a:r>
              <a:rPr lang="en-US" b="1" dirty="0">
                <a:solidFill>
                  <a:schemeClr val="accent5"/>
                </a:solidFill>
              </a:rPr>
              <a:t>Governance Assessment code</a:t>
            </a:r>
          </a:p>
          <a:p>
            <a:endParaRPr lang="en-US" sz="2400" b="1" dirty="0">
              <a:solidFill>
                <a:schemeClr val="accent5"/>
              </a:solidFill>
            </a:endParaRPr>
          </a:p>
        </p:txBody>
      </p:sp>
      <p:sp>
        <p:nvSpPr>
          <p:cNvPr id="18" name="TextBox 17">
            <a:extLst>
              <a:ext uri="{FF2B5EF4-FFF2-40B4-BE49-F238E27FC236}">
                <a16:creationId xmlns:a16="http://schemas.microsoft.com/office/drawing/2014/main" id="{0E882919-7E9A-568F-FF17-15BBFFEF9ED1}"/>
              </a:ext>
            </a:extLst>
          </p:cNvPr>
          <p:cNvSpPr txBox="1"/>
          <p:nvPr/>
        </p:nvSpPr>
        <p:spPr>
          <a:xfrm>
            <a:off x="8256773" y="256540"/>
            <a:ext cx="3935227" cy="6204263"/>
          </a:xfrm>
          <a:prstGeom prst="rect">
            <a:avLst/>
          </a:prstGeom>
          <a:noFill/>
        </p:spPr>
        <p:txBody>
          <a:bodyPr wrap="square" rtlCol="0">
            <a:spAutoFit/>
          </a:bodyPr>
          <a:lstStyle/>
          <a:p>
            <a:pPr marL="0" marR="0" indent="71755">
              <a:lnSpc>
                <a:spcPts val="1400"/>
              </a:lnSpc>
              <a:spcBef>
                <a:spcPts val="700"/>
              </a:spcBef>
              <a:spcAft>
                <a:spcPts val="700"/>
              </a:spcAft>
              <a:buNone/>
            </a:pP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Highlight best scores</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best_idx</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find(</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max(</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for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i</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1:length(</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best_idx</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b.CData</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best_idx</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i</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[0 0.6 0.2];   </a:t>
            </a: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Green</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End</a:t>
            </a:r>
          </a:p>
          <a:p>
            <a:pPr marL="0" marR="0" indent="71755">
              <a:lnSpc>
                <a:spcPts val="1400"/>
              </a:lnSpc>
              <a:spcBef>
                <a:spcPts val="700"/>
              </a:spcBef>
              <a:spcAft>
                <a:spcPts val="700"/>
              </a:spcAft>
              <a:buNone/>
            </a:pP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Highlight weakest score</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weak_idx</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find(</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min(</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for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i</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1:length(</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weak_idx</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b.CData</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weak_idx</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i</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[0.85 0.3 0.1]; </a:t>
            </a: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Orange</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end</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endParaRPr lang="en-US" dirty="0"/>
          </a:p>
        </p:txBody>
      </p:sp>
      <p:sp>
        <p:nvSpPr>
          <p:cNvPr id="2" name="TextBox 1">
            <a:extLst>
              <a:ext uri="{FF2B5EF4-FFF2-40B4-BE49-F238E27FC236}">
                <a16:creationId xmlns:a16="http://schemas.microsoft.com/office/drawing/2014/main" id="{7E6887CD-C4C8-E686-7C2A-A1513ACE89BA}"/>
              </a:ext>
            </a:extLst>
          </p:cNvPr>
          <p:cNvSpPr txBox="1"/>
          <p:nvPr/>
        </p:nvSpPr>
        <p:spPr>
          <a:xfrm>
            <a:off x="4786009" y="658587"/>
            <a:ext cx="3470764" cy="6204263"/>
          </a:xfrm>
          <a:prstGeom prst="rect">
            <a:avLst/>
          </a:prstGeom>
          <a:noFill/>
        </p:spPr>
        <p:txBody>
          <a:bodyPr wrap="square" rtlCol="0">
            <a:spAutoFit/>
          </a:bodyPr>
          <a:lstStyle/>
          <a:p>
            <a:pPr marL="0" marR="0" indent="71755">
              <a:lnSpc>
                <a:spcPts val="1400"/>
              </a:lnSpc>
              <a:spcBef>
                <a:spcPts val="700"/>
              </a:spcBef>
              <a:spcAft>
                <a:spcPts val="700"/>
              </a:spcAft>
              <a:buNone/>
            </a:pP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Figure</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figure(</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Color'</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'white</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p>
          <a:p>
            <a:pPr marL="0" marR="0" indent="71755">
              <a:lnSpc>
                <a:spcPts val="1400"/>
              </a:lnSpc>
              <a:spcBef>
                <a:spcPts val="700"/>
              </a:spcBef>
              <a:spcAft>
                <a:spcPts val="700"/>
              </a:spcAft>
              <a:buNone/>
            </a:pP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'Position'</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,[50 50 1400 700])</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b=bar(</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p>
          <a:p>
            <a:pPr marL="0" marR="0" indent="71755">
              <a:lnSpc>
                <a:spcPts val="1400"/>
              </a:lnSpc>
              <a:spcBef>
                <a:spcPts val="700"/>
              </a:spcBef>
              <a:spcAft>
                <a:spcPts val="700"/>
              </a:spcAft>
              <a:buNone/>
            </a:pP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FaceColor</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'flat’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p>
          <a:p>
            <a:pPr marL="0" marR="0" indent="71755">
              <a:lnSpc>
                <a:spcPts val="1400"/>
              </a:lnSpc>
              <a:spcBef>
                <a:spcPts val="700"/>
              </a:spcBef>
              <a:spcAft>
                <a:spcPts val="700"/>
              </a:spcAft>
              <a:buNone/>
            </a:pP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BarWidth</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,0.65);</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grid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on</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hold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on</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Colors </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for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i</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1:length(</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percent_scores</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b.CData</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i</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[0 0.35 0.8];</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end</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effectLst/>
                <a:latin typeface="Consolas" panose="020B0609020204030204" pitchFamily="49" charset="0"/>
                <a:ea typeface="Yu Gothic Medium" panose="020B0500000000000000" pitchFamily="34" charset="-128"/>
                <a:cs typeface="Times New Roman" panose="02020603050405020304" pitchFamily="18" charset="0"/>
              </a:rPr>
              <a:t> </a:t>
            </a:r>
          </a:p>
          <a:p>
            <a:endParaRPr lang="en-US" dirty="0"/>
          </a:p>
        </p:txBody>
      </p:sp>
    </p:spTree>
    <p:extLst>
      <p:ext uri="{BB962C8B-B14F-4D97-AF65-F5344CB8AC3E}">
        <p14:creationId xmlns:p14="http://schemas.microsoft.com/office/powerpoint/2010/main" val="176975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25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25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8"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C9FF9-191F-86CC-4753-57A50FE5ED1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727513-7448-8BF7-B8F7-947A3AA3F39B}"/>
              </a:ext>
            </a:extLst>
          </p:cNvPr>
          <p:cNvSpPr>
            <a:spLocks noGrp="1"/>
          </p:cNvSpPr>
          <p:nvPr>
            <p:ph type="sldNum" sz="quarter" idx="11"/>
          </p:nvPr>
        </p:nvSpPr>
        <p:spPr/>
        <p:txBody>
          <a:bodyPr/>
          <a:lstStyle/>
          <a:p>
            <a:fld id="{EECC7194-A4D0-457B-9D3E-53681723AFF7}" type="slidenum">
              <a:rPr lang="en-US" smtClean="0"/>
              <a:pPr/>
              <a:t>15</a:t>
            </a:fld>
            <a:endParaRPr lang="en-US" dirty="0"/>
          </a:p>
        </p:txBody>
      </p:sp>
      <p:sp>
        <p:nvSpPr>
          <p:cNvPr id="4" name="Title 3">
            <a:extLst>
              <a:ext uri="{FF2B5EF4-FFF2-40B4-BE49-F238E27FC236}">
                <a16:creationId xmlns:a16="http://schemas.microsoft.com/office/drawing/2014/main" id="{48A9D8CB-0812-5BF7-0984-0C46564107E7}"/>
              </a:ext>
            </a:extLst>
          </p:cNvPr>
          <p:cNvSpPr>
            <a:spLocks noGrp="1"/>
          </p:cNvSpPr>
          <p:nvPr>
            <p:ph type="title"/>
          </p:nvPr>
        </p:nvSpPr>
        <p:spPr>
          <a:xfrm>
            <a:off x="222363" y="223965"/>
            <a:ext cx="6400574" cy="350557"/>
          </a:xfrm>
        </p:spPr>
        <p:txBody>
          <a:bodyPr/>
          <a:lstStyle/>
          <a:p>
            <a:r>
              <a:rPr lang="en-US" dirty="0"/>
              <a:t>MATLAB  Highlights</a:t>
            </a:r>
            <a:br>
              <a:rPr lang="ar-EG" dirty="0"/>
            </a:br>
            <a:endParaRPr lang="en-US" dirty="0"/>
          </a:p>
        </p:txBody>
      </p:sp>
      <p:sp>
        <p:nvSpPr>
          <p:cNvPr id="5" name="object 7" descr="Beige rectangle">
            <a:extLst>
              <a:ext uri="{FF2B5EF4-FFF2-40B4-BE49-F238E27FC236}">
                <a16:creationId xmlns:a16="http://schemas.microsoft.com/office/drawing/2014/main" id="{842E59CD-49E6-501C-D8A4-BDFB2C527679}"/>
              </a:ext>
            </a:extLst>
          </p:cNvPr>
          <p:cNvSpPr/>
          <p:nvPr/>
        </p:nvSpPr>
        <p:spPr bwMode="white">
          <a:xfrm flipV="1">
            <a:off x="412863" y="658587"/>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4" name="TextBox 13">
            <a:extLst>
              <a:ext uri="{FF2B5EF4-FFF2-40B4-BE49-F238E27FC236}">
                <a16:creationId xmlns:a16="http://schemas.microsoft.com/office/drawing/2014/main" id="{ADBEFCB0-1273-568F-9189-2C95D9589314}"/>
              </a:ext>
            </a:extLst>
          </p:cNvPr>
          <p:cNvSpPr txBox="1"/>
          <p:nvPr/>
        </p:nvSpPr>
        <p:spPr>
          <a:xfrm>
            <a:off x="222363" y="948690"/>
            <a:ext cx="4895737" cy="5314275"/>
          </a:xfrm>
          <a:prstGeom prst="rect">
            <a:avLst/>
          </a:prstGeom>
          <a:noFill/>
        </p:spPr>
        <p:txBody>
          <a:bodyPr wrap="square" rtlCol="0">
            <a:spAutoFit/>
          </a:bodyPr>
          <a:lstStyle/>
          <a:p>
            <a:pPr>
              <a:buNone/>
            </a:pPr>
            <a:endParaRPr lang="en-US" dirty="0">
              <a:latin typeface="Menlo"/>
            </a:endParaRPr>
          </a:p>
          <a:p>
            <a:pPr marL="0" marR="0" indent="71755">
              <a:lnSpc>
                <a:spcPts val="1400"/>
              </a:lnSpc>
              <a:spcBef>
                <a:spcPts val="700"/>
              </a:spcBef>
              <a:spcAft>
                <a:spcPts val="700"/>
              </a:spcAft>
              <a:buNone/>
            </a:pPr>
            <a:r>
              <a:rPr lang="en-US" sz="1800" dirty="0">
                <a:solidFill>
                  <a:srgbClr val="028009"/>
                </a:solidFill>
                <a:effectLst/>
                <a:latin typeface="Consolas" panose="020B0609020204030204" pitchFamily="49" charset="0"/>
                <a:ea typeface="Yu Gothic Medium" panose="020B0500000000000000" pitchFamily="34" charset="-128"/>
                <a:cs typeface="Times New Roman" panose="02020603050405020304" pitchFamily="18" charset="0"/>
              </a:rPr>
              <a:t>%% Axes formatting</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ylim</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([0 110])</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ylabel</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'Score (%)'</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'FontSize'</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,13,</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'FontWeight'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'bold'</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title(</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'Governance Maturity Assessment - Telecom Egypt'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0E00FF"/>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'FontSize'</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,18,</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'FontWeight'</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r>
              <a:rPr lang="en-US" sz="1800" dirty="0">
                <a:solidFill>
                  <a:srgbClr val="AA04F9"/>
                </a:solidFill>
                <a:effectLst/>
                <a:latin typeface="Consolas" panose="020B0609020204030204" pitchFamily="49" charset="0"/>
                <a:ea typeface="Yu Gothic Medium" panose="020B0500000000000000" pitchFamily="34" charset="-128"/>
                <a:cs typeface="Times New Roman" panose="02020603050405020304" pitchFamily="18" charset="0"/>
              </a:rPr>
              <a:t>'bold'</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a:effectLst/>
                <a:latin typeface="Consolas" panose="020B0609020204030204" pitchFamily="49" charset="0"/>
                <a:ea typeface="Yu Gothic Medium" panose="020B0500000000000000" pitchFamily="34" charset="-128"/>
                <a:cs typeface="Times New Roman" panose="02020603050405020304" pitchFamily="18" charset="0"/>
              </a:rPr>
              <a:t> </a:t>
            </a:r>
          </a:p>
          <a:p>
            <a:pPr marL="0" marR="0" indent="71755">
              <a:lnSpc>
                <a:spcPts val="1400"/>
              </a:lnSpc>
              <a:spcBef>
                <a:spcPts val="700"/>
              </a:spcBef>
              <a:spcAft>
                <a:spcPts val="700"/>
              </a:spcAft>
              <a:buNone/>
            </a:pP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ax = </a:t>
            </a: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gca</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ax.XTick</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1:length(principles);</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ax.XTickLabel</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principles;</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ax.XTickLabelRotation</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35;</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pPr marL="0" marR="0" indent="71755">
              <a:lnSpc>
                <a:spcPts val="1400"/>
              </a:lnSpc>
              <a:spcBef>
                <a:spcPts val="700"/>
              </a:spcBef>
              <a:spcAft>
                <a:spcPts val="700"/>
              </a:spcAft>
              <a:buNone/>
            </a:pPr>
            <a:r>
              <a:rPr lang="en-US" sz="1800" dirty="0" err="1">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ax.FontSize</a:t>
            </a:r>
            <a:r>
              <a:rPr lang="en-US" sz="1800" dirty="0">
                <a:solidFill>
                  <a:srgbClr val="000000"/>
                </a:solidFill>
                <a:effectLst/>
                <a:latin typeface="Consolas" panose="020B0609020204030204" pitchFamily="49" charset="0"/>
                <a:ea typeface="Yu Gothic Medium" panose="020B0500000000000000" pitchFamily="34" charset="-128"/>
                <a:cs typeface="Times New Roman" panose="02020603050405020304" pitchFamily="18" charset="0"/>
              </a:rPr>
              <a:t> = 11;</a:t>
            </a:r>
            <a:endParaRPr lang="en-US" sz="1800" dirty="0">
              <a:effectLst/>
              <a:latin typeface="Consolas" panose="020B0609020204030204" pitchFamily="49" charset="0"/>
              <a:ea typeface="Yu Gothic Medium" panose="020B0500000000000000" pitchFamily="34" charset="-128"/>
              <a:cs typeface="Times New Roman" panose="02020603050405020304" pitchFamily="18" charset="0"/>
            </a:endParaRPr>
          </a:p>
          <a:p>
            <a:endParaRPr lang="en-US" dirty="0"/>
          </a:p>
        </p:txBody>
      </p:sp>
      <p:sp>
        <p:nvSpPr>
          <p:cNvPr id="17" name="TextBox 16">
            <a:extLst>
              <a:ext uri="{FF2B5EF4-FFF2-40B4-BE49-F238E27FC236}">
                <a16:creationId xmlns:a16="http://schemas.microsoft.com/office/drawing/2014/main" id="{EAF2ECAC-5FF3-3A0C-D4BE-7D82C2DB1205}"/>
              </a:ext>
            </a:extLst>
          </p:cNvPr>
          <p:cNvSpPr txBox="1"/>
          <p:nvPr/>
        </p:nvSpPr>
        <p:spPr>
          <a:xfrm>
            <a:off x="204118" y="788371"/>
            <a:ext cx="4355182" cy="769441"/>
          </a:xfrm>
          <a:prstGeom prst="rect">
            <a:avLst/>
          </a:prstGeom>
          <a:noFill/>
        </p:spPr>
        <p:txBody>
          <a:bodyPr wrap="square" rtlCol="0">
            <a:spAutoFit/>
          </a:bodyPr>
          <a:lstStyle/>
          <a:p>
            <a:r>
              <a:rPr lang="en-US" sz="2000" b="1" dirty="0">
                <a:solidFill>
                  <a:schemeClr val="accent5"/>
                </a:solidFill>
              </a:rPr>
              <a:t>Governance Assessment code</a:t>
            </a:r>
          </a:p>
          <a:p>
            <a:endParaRPr lang="en-US" sz="2400" b="1" dirty="0">
              <a:solidFill>
                <a:schemeClr val="accent5"/>
              </a:solidFill>
            </a:endParaRPr>
          </a:p>
        </p:txBody>
      </p:sp>
      <p:sp>
        <p:nvSpPr>
          <p:cNvPr id="7" name="TextBox 6">
            <a:extLst>
              <a:ext uri="{FF2B5EF4-FFF2-40B4-BE49-F238E27FC236}">
                <a16:creationId xmlns:a16="http://schemas.microsoft.com/office/drawing/2014/main" id="{7A817E38-F9BF-1223-A484-581AE0B352AE}"/>
              </a:ext>
            </a:extLst>
          </p:cNvPr>
          <p:cNvSpPr txBox="1"/>
          <p:nvPr/>
        </p:nvSpPr>
        <p:spPr>
          <a:xfrm>
            <a:off x="5499100" y="574522"/>
            <a:ext cx="6223000" cy="6922408"/>
          </a:xfrm>
          <a:prstGeom prst="rect">
            <a:avLst/>
          </a:prstGeom>
          <a:noFill/>
        </p:spPr>
        <p:txBody>
          <a:bodyPr wrap="square" rtlCol="0">
            <a:spAutoFit/>
          </a:bodyPr>
          <a:lstStyle/>
          <a:p>
            <a:pPr indent="71755">
              <a:lnSpc>
                <a:spcPts val="1400"/>
              </a:lnSpc>
              <a:spcBef>
                <a:spcPts val="700"/>
              </a:spcBef>
              <a:spcAft>
                <a:spcPts val="700"/>
              </a:spcAft>
            </a:pPr>
            <a:r>
              <a:rPr lang="en-US" dirty="0">
                <a:latin typeface="Consolas" panose="020B0609020204030204" pitchFamily="49" charset="0"/>
                <a:ea typeface="Yu Gothic Medium" panose="020B0500000000000000" pitchFamily="34" charset="-128"/>
                <a:cs typeface="Times New Roman" panose="02020603050405020304" pitchFamily="18" charset="0"/>
              </a:rPr>
              <a:t> </a:t>
            </a:r>
          </a:p>
          <a:p>
            <a:pPr indent="71755">
              <a:lnSpc>
                <a:spcPts val="1400"/>
              </a:lnSpc>
              <a:spcBef>
                <a:spcPts val="700"/>
              </a:spcBef>
              <a:spcAft>
                <a:spcPts val="700"/>
              </a:spcAft>
            </a:pPr>
            <a:r>
              <a:rPr lang="en-US" dirty="0">
                <a:solidFill>
                  <a:srgbClr val="028009"/>
                </a:solidFill>
                <a:latin typeface="Consolas" panose="020B0609020204030204" pitchFamily="49" charset="0"/>
                <a:ea typeface="Yu Gothic Medium" panose="020B0500000000000000" pitchFamily="34" charset="-128"/>
                <a:cs typeface="Times New Roman" panose="02020603050405020304" pitchFamily="18" charset="0"/>
              </a:rPr>
              <a:t>%% Values on top of bars</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for </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i</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 1:length(</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percent_scores</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text(</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i</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percent_scores</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i</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)+3, </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sprintf</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'%d%%'</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percent_scores</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i</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HorizontalAlignment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'center'</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FontWeight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'bold'</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'FontSize'</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,11)</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end</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28009"/>
                </a:solidFill>
                <a:latin typeface="Consolas" panose="020B0609020204030204" pitchFamily="49" charset="0"/>
                <a:ea typeface="Yu Gothic Medium" panose="020B0500000000000000" pitchFamily="34" charset="-128"/>
                <a:cs typeface="Times New Roman" panose="02020603050405020304" pitchFamily="18" charset="0"/>
              </a:rPr>
              <a:t>%% Overall Score Box</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annotation(</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'textbox'</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,[0.40 0.80 0.20 0.12], </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'String'</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'Overall Score: '</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num2str(round(</a:t>
            </a:r>
            <a:r>
              <a:rPr lang="en-US" dirty="0" err="1">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overall_score</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'GOOD'</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'FontSize'</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,16,</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FontWeight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'bold'</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HorizontalAlignment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'center'</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BackgroundColor</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,[0.93 0.97 1],</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err="1">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EdgeColor</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,[0 0.35 0.8],</a:t>
            </a:r>
            <a:r>
              <a:rPr lang="en-US" dirty="0">
                <a:solidFill>
                  <a:srgbClr val="0E00FF"/>
                </a:solidFill>
                <a:latin typeface="Consolas" panose="020B0609020204030204" pitchFamily="49" charset="0"/>
                <a:ea typeface="Yu Gothic Medium" panose="020B0500000000000000" pitchFamily="34" charset="-128"/>
                <a:cs typeface="Times New Roman" panose="02020603050405020304" pitchFamily="18" charset="0"/>
              </a:rPr>
              <a:t>..</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'LineWidth'</a:t>
            </a: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,2)</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solidFill>
                  <a:srgbClr val="000000"/>
                </a:solidFill>
                <a:latin typeface="Consolas" panose="020B0609020204030204" pitchFamily="49" charset="0"/>
                <a:ea typeface="Yu Gothic Medium" panose="020B0500000000000000" pitchFamily="34" charset="-128"/>
                <a:cs typeface="Times New Roman" panose="02020603050405020304" pitchFamily="18" charset="0"/>
              </a:rPr>
              <a:t>hold </a:t>
            </a:r>
            <a:r>
              <a:rPr lang="en-US" dirty="0">
                <a:solidFill>
                  <a:srgbClr val="AA04F9"/>
                </a:solidFill>
                <a:latin typeface="Consolas" panose="020B0609020204030204" pitchFamily="49" charset="0"/>
                <a:ea typeface="Yu Gothic Medium" panose="020B0500000000000000" pitchFamily="34" charset="-128"/>
                <a:cs typeface="Times New Roman" panose="02020603050405020304" pitchFamily="18" charset="0"/>
              </a:rPr>
              <a:t>off</a:t>
            </a:r>
            <a:endParaRPr lang="en-US" dirty="0">
              <a:latin typeface="Consolas" panose="020B0609020204030204" pitchFamily="49" charset="0"/>
              <a:ea typeface="Yu Gothic Medium" panose="020B0500000000000000" pitchFamily="34" charset="-128"/>
              <a:cs typeface="Times New Roman" panose="02020603050405020304" pitchFamily="18" charset="0"/>
            </a:endParaRPr>
          </a:p>
          <a:p>
            <a:pPr indent="71755">
              <a:lnSpc>
                <a:spcPts val="1400"/>
              </a:lnSpc>
              <a:spcBef>
                <a:spcPts val="700"/>
              </a:spcBef>
              <a:spcAft>
                <a:spcPts val="700"/>
              </a:spcAft>
            </a:pPr>
            <a:r>
              <a:rPr lang="en-US" dirty="0">
                <a:latin typeface="Consolas" panose="020B0609020204030204" pitchFamily="49" charset="0"/>
                <a:ea typeface="Yu Gothic Medium" panose="020B0500000000000000" pitchFamily="34" charset="-128"/>
                <a:cs typeface="Times New Roman" panose="02020603050405020304" pitchFamily="18" charset="0"/>
              </a:rPr>
              <a:t> </a:t>
            </a:r>
          </a:p>
          <a:p>
            <a:endParaRPr lang="en-US" dirty="0"/>
          </a:p>
        </p:txBody>
      </p:sp>
    </p:spTree>
    <p:extLst>
      <p:ext uri="{BB962C8B-B14F-4D97-AF65-F5344CB8AC3E}">
        <p14:creationId xmlns:p14="http://schemas.microsoft.com/office/powerpoint/2010/main" val="16826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25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634673D1-FDF8-445C-9EC3-CEE2865DFD8A}"/>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a:stretch/>
        </p:blipFill>
        <p:spPr>
          <a:xfrm>
            <a:off x="180000" y="179109"/>
            <a:ext cx="11832000" cy="6513922"/>
          </a:xfrm>
        </p:spPr>
      </p:pic>
      <p:sp>
        <p:nvSpPr>
          <p:cNvPr id="8" name="Rectangle 7">
            <a:extLst>
              <a:ext uri="{FF2B5EF4-FFF2-40B4-BE49-F238E27FC236}">
                <a16:creationId xmlns:a16="http://schemas.microsoft.com/office/drawing/2014/main" id="{5D25444F-B85F-42E8-9E0A-A625CA1FDA16}"/>
              </a:ext>
              <a:ext uri="{C183D7F6-B498-43B3-948B-1728B52AA6E4}">
                <adec:decorative xmlns:adec="http://schemas.microsoft.com/office/drawing/2017/decorative" val="1"/>
              </a:ext>
            </a:extLst>
          </p:cNvPr>
          <p:cNvSpPr/>
          <p:nvPr/>
        </p:nvSpPr>
        <p:spPr>
          <a:xfrm>
            <a:off x="180000" y="16496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8AD0FB06-2085-443B-B5B7-9CF837FCEA61}"/>
              </a:ext>
            </a:extLst>
          </p:cNvPr>
          <p:cNvSpPr>
            <a:spLocks noGrp="1"/>
          </p:cNvSpPr>
          <p:nvPr>
            <p:ph type="title"/>
          </p:nvPr>
        </p:nvSpPr>
        <p:spPr/>
        <p:txBody>
          <a:bodyPr/>
          <a:lstStyle/>
          <a:p>
            <a:r>
              <a:rPr lang="en-US" dirty="0"/>
              <a:t>Final Insights</a:t>
            </a:r>
          </a:p>
        </p:txBody>
      </p:sp>
      <p:sp>
        <p:nvSpPr>
          <p:cNvPr id="4" name="Slide Number Placeholder 3">
            <a:extLst>
              <a:ext uri="{FF2B5EF4-FFF2-40B4-BE49-F238E27FC236}">
                <a16:creationId xmlns:a16="http://schemas.microsoft.com/office/drawing/2014/main" id="{3B609C69-D3CD-4837-8831-CFA5A72454EF}"/>
              </a:ext>
            </a:extLst>
          </p:cNvPr>
          <p:cNvSpPr>
            <a:spLocks noGrp="1"/>
          </p:cNvSpPr>
          <p:nvPr>
            <p:ph type="sldNum" sz="quarter" idx="11"/>
          </p:nvPr>
        </p:nvSpPr>
        <p:spPr/>
        <p:txBody>
          <a:bodyPr/>
          <a:lstStyle/>
          <a:p>
            <a:fld id="{EECC7194-A4D0-457B-9D3E-53681723AFF7}" type="slidenum">
              <a:rPr lang="en-US" smtClean="0"/>
              <a:pPr/>
              <a:t>16</a:t>
            </a:fld>
            <a:endParaRPr lang="en-US" dirty="0"/>
          </a:p>
        </p:txBody>
      </p:sp>
      <p:sp>
        <p:nvSpPr>
          <p:cNvPr id="9" name="object 7" descr="Beige rectangle">
            <a:extLst>
              <a:ext uri="{FF2B5EF4-FFF2-40B4-BE49-F238E27FC236}">
                <a16:creationId xmlns:a16="http://schemas.microsoft.com/office/drawing/2014/main" id="{C18D4C80-3351-4CE2-81E2-859CB0ED6E33}"/>
              </a:ext>
            </a:extLst>
          </p:cNvPr>
          <p:cNvSpPr/>
          <p:nvPr/>
        </p:nvSpPr>
        <p:spPr bwMode="white">
          <a:xfrm flipV="1">
            <a:off x="722099" y="12770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cxnSp>
        <p:nvCxnSpPr>
          <p:cNvPr id="139" name="Straight Connector 138" title="callout lines">
            <a:extLst>
              <a:ext uri="{FF2B5EF4-FFF2-40B4-BE49-F238E27FC236}">
                <a16:creationId xmlns:a16="http://schemas.microsoft.com/office/drawing/2014/main" id="{114AC9AF-CFF1-4C63-B916-ABE1741B46CB}"/>
              </a:ext>
            </a:extLst>
          </p:cNvPr>
          <p:cNvCxnSpPr>
            <a:cxnSpLocks/>
          </p:cNvCxnSpPr>
          <p:nvPr/>
        </p:nvCxnSpPr>
        <p:spPr>
          <a:xfrm>
            <a:off x="2083785" y="4282394"/>
            <a:ext cx="0" cy="831171"/>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63" name="Straight Connector 162" title="callout lines">
            <a:extLst>
              <a:ext uri="{FF2B5EF4-FFF2-40B4-BE49-F238E27FC236}">
                <a16:creationId xmlns:a16="http://schemas.microsoft.com/office/drawing/2014/main" id="{77C3D6FC-42F8-4C85-AE3B-9DE302578524}"/>
              </a:ext>
            </a:extLst>
          </p:cNvPr>
          <p:cNvCxnSpPr>
            <a:cxnSpLocks/>
          </p:cNvCxnSpPr>
          <p:nvPr/>
        </p:nvCxnSpPr>
        <p:spPr>
          <a:xfrm>
            <a:off x="4227681" y="3970273"/>
            <a:ext cx="0" cy="1143293"/>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0" name="Straight Connector 219" title="callout lines">
            <a:extLst>
              <a:ext uri="{FF2B5EF4-FFF2-40B4-BE49-F238E27FC236}">
                <a16:creationId xmlns:a16="http://schemas.microsoft.com/office/drawing/2014/main" id="{6D3CBD92-3FC6-4065-B640-0EC5D3E27154}"/>
              </a:ext>
            </a:extLst>
          </p:cNvPr>
          <p:cNvCxnSpPr>
            <a:cxnSpLocks/>
          </p:cNvCxnSpPr>
          <p:nvPr/>
        </p:nvCxnSpPr>
        <p:spPr>
          <a:xfrm>
            <a:off x="8503111" y="1864146"/>
            <a:ext cx="0" cy="3253164"/>
          </a:xfrm>
          <a:prstGeom prst="line">
            <a:avLst/>
          </a:prstGeom>
          <a:ln cmpd="sng">
            <a:solidFill>
              <a:schemeClr val="bg1">
                <a:lumMod val="75000"/>
                <a:alpha val="20000"/>
              </a:schemeClr>
            </a:solidFill>
            <a:prstDash val="sys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37" name="Straight Connector 236" descr="Time line">
            <a:extLst>
              <a:ext uri="{FF2B5EF4-FFF2-40B4-BE49-F238E27FC236}">
                <a16:creationId xmlns:a16="http://schemas.microsoft.com/office/drawing/2014/main" id="{E47E492C-0FED-4F4E-92CE-B73CAD58C94B}"/>
              </a:ext>
            </a:extLst>
          </p:cNvPr>
          <p:cNvCxnSpPr>
            <a:cxnSpLocks/>
          </p:cNvCxnSpPr>
          <p:nvPr/>
        </p:nvCxnSpPr>
        <p:spPr>
          <a:xfrm flipH="1">
            <a:off x="2113823" y="5297160"/>
            <a:ext cx="8622102" cy="0"/>
          </a:xfrm>
          <a:prstGeom prst="line">
            <a:avLst/>
          </a:prstGeom>
          <a:ln w="15875" cmpd="sng">
            <a:solidFill>
              <a:schemeClr val="bg1">
                <a:alpha val="2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42" name="Graphic 224" descr="Icon Checked">
            <a:extLst>
              <a:ext uri="{FF2B5EF4-FFF2-40B4-BE49-F238E27FC236}">
                <a16:creationId xmlns:a16="http://schemas.microsoft.com/office/drawing/2014/main" id="{3C1D5D02-096E-4AC5-8F00-E5C0CE9BE9E5}"/>
              </a:ext>
            </a:extLst>
          </p:cNvPr>
          <p:cNvSpPr/>
          <p:nvPr/>
        </p:nvSpPr>
        <p:spPr>
          <a:xfrm>
            <a:off x="8169480" y="1212602"/>
            <a:ext cx="130251" cy="93072"/>
          </a:xfrm>
          <a:custGeom>
            <a:avLst/>
            <a:gdLst>
              <a:gd name="connsiteX0" fmla="*/ 23512 w 130250"/>
              <a:gd name="connsiteY0" fmla="*/ 46596 h 93071"/>
              <a:gd name="connsiteX1" fmla="*/ 5299 w 130250"/>
              <a:gd name="connsiteY1" fmla="*/ 44770 h 93071"/>
              <a:gd name="connsiteX2" fmla="*/ 2540 w 130250"/>
              <a:gd name="connsiteY2" fmla="*/ 56820 h 93071"/>
              <a:gd name="connsiteX3" fmla="*/ 39010 w 130250"/>
              <a:gd name="connsiteY3" fmla="*/ 89567 h 93071"/>
              <a:gd name="connsiteX4" fmla="*/ 60710 w 130250"/>
              <a:gd name="connsiteY4" fmla="*/ 88839 h 93071"/>
              <a:gd name="connsiteX5" fmla="*/ 128440 w 130250"/>
              <a:gd name="connsiteY5" fmla="*/ 13003 h 93071"/>
              <a:gd name="connsiteX6" fmla="*/ 123853 w 130250"/>
              <a:gd name="connsiteY6" fmla="*/ 1200 h 93071"/>
              <a:gd name="connsiteX7" fmla="*/ 106013 w 130250"/>
              <a:gd name="connsiteY7" fmla="*/ 4235 h 93071"/>
              <a:gd name="connsiteX8" fmla="*/ 48300 w 130250"/>
              <a:gd name="connsiteY8" fmla="*/ 68854 h 93071"/>
              <a:gd name="connsiteX9" fmla="*/ 23512 w 130250"/>
              <a:gd name="connsiteY9" fmla="*/ 46596 h 9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250" h="93071">
                <a:moveTo>
                  <a:pt x="23512" y="46596"/>
                </a:moveTo>
                <a:cubicBezTo>
                  <a:pt x="19245" y="42764"/>
                  <a:pt x="11091" y="41947"/>
                  <a:pt x="5299" y="44770"/>
                </a:cubicBezTo>
                <a:cubicBezTo>
                  <a:pt x="-492" y="47593"/>
                  <a:pt x="-1727" y="52988"/>
                  <a:pt x="2540" y="56820"/>
                </a:cubicBezTo>
                <a:lnTo>
                  <a:pt x="39010" y="89567"/>
                </a:lnTo>
                <a:cubicBezTo>
                  <a:pt x="44548" y="94540"/>
                  <a:pt x="55961" y="94157"/>
                  <a:pt x="60710" y="88839"/>
                </a:cubicBezTo>
                <a:lnTo>
                  <a:pt x="128440" y="13003"/>
                </a:lnTo>
                <a:cubicBezTo>
                  <a:pt x="132100" y="8905"/>
                  <a:pt x="130046" y="3621"/>
                  <a:pt x="123853" y="1200"/>
                </a:cubicBezTo>
                <a:cubicBezTo>
                  <a:pt x="117660" y="-1221"/>
                  <a:pt x="109673" y="137"/>
                  <a:pt x="106013" y="4235"/>
                </a:cubicBezTo>
                <a:lnTo>
                  <a:pt x="48300" y="68854"/>
                </a:lnTo>
                <a:lnTo>
                  <a:pt x="23512" y="46596"/>
                </a:lnTo>
                <a:close/>
              </a:path>
            </a:pathLst>
          </a:custGeom>
          <a:solidFill>
            <a:schemeClr val="tx1"/>
          </a:solidFill>
          <a:ln w="2953" cap="flat">
            <a:noFill/>
            <a:prstDash val="solid"/>
            <a:miter/>
          </a:ln>
        </p:spPr>
        <p:txBody>
          <a:bodyPr rtlCol="0" anchor="ctr"/>
          <a:lstStyle/>
          <a:p>
            <a:endParaRPr lang="en-US" dirty="0"/>
          </a:p>
        </p:txBody>
      </p:sp>
      <p:sp>
        <p:nvSpPr>
          <p:cNvPr id="244" name="Graphic 239" descr="Icon Checked">
            <a:extLst>
              <a:ext uri="{FF2B5EF4-FFF2-40B4-BE49-F238E27FC236}">
                <a16:creationId xmlns:a16="http://schemas.microsoft.com/office/drawing/2014/main" id="{0E602EF6-D61B-4452-A065-8E4137649A38}"/>
              </a:ext>
            </a:extLst>
          </p:cNvPr>
          <p:cNvSpPr/>
          <p:nvPr/>
        </p:nvSpPr>
        <p:spPr>
          <a:xfrm>
            <a:off x="6225547" y="2714986"/>
            <a:ext cx="80876" cy="57790"/>
          </a:xfrm>
          <a:custGeom>
            <a:avLst/>
            <a:gdLst>
              <a:gd name="connsiteX0" fmla="*/ 14599 w 80875"/>
              <a:gd name="connsiteY0" fmla="*/ 28932 h 57790"/>
              <a:gd name="connsiteX1" fmla="*/ 3291 w 80875"/>
              <a:gd name="connsiteY1" fmla="*/ 27799 h 57790"/>
              <a:gd name="connsiteX2" fmla="*/ 1577 w 80875"/>
              <a:gd name="connsiteY2" fmla="*/ 35281 h 57790"/>
              <a:gd name="connsiteX3" fmla="*/ 24222 w 80875"/>
              <a:gd name="connsiteY3" fmla="*/ 55614 h 57790"/>
              <a:gd name="connsiteX4" fmla="*/ 37696 w 80875"/>
              <a:gd name="connsiteY4" fmla="*/ 55162 h 57790"/>
              <a:gd name="connsiteX5" fmla="*/ 79751 w 80875"/>
              <a:gd name="connsiteY5" fmla="*/ 8074 h 57790"/>
              <a:gd name="connsiteX6" fmla="*/ 76903 w 80875"/>
              <a:gd name="connsiteY6" fmla="*/ 745 h 57790"/>
              <a:gd name="connsiteX7" fmla="*/ 65826 w 80875"/>
              <a:gd name="connsiteY7" fmla="*/ 2630 h 57790"/>
              <a:gd name="connsiteX8" fmla="*/ 29991 w 80875"/>
              <a:gd name="connsiteY8" fmla="*/ 42753 h 57790"/>
              <a:gd name="connsiteX9" fmla="*/ 14599 w 80875"/>
              <a:gd name="connsiteY9" fmla="*/ 28932 h 5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75" h="57790">
                <a:moveTo>
                  <a:pt x="14599" y="28932"/>
                </a:moveTo>
                <a:cubicBezTo>
                  <a:pt x="11949" y="26553"/>
                  <a:pt x="6887" y="26046"/>
                  <a:pt x="3291" y="27799"/>
                </a:cubicBezTo>
                <a:cubicBezTo>
                  <a:pt x="-305" y="29552"/>
                  <a:pt x="-1073" y="32901"/>
                  <a:pt x="1577" y="35281"/>
                </a:cubicBezTo>
                <a:lnTo>
                  <a:pt x="24222" y="55614"/>
                </a:lnTo>
                <a:cubicBezTo>
                  <a:pt x="27661" y="58702"/>
                  <a:pt x="34747" y="58464"/>
                  <a:pt x="37696" y="55162"/>
                </a:cubicBezTo>
                <a:lnTo>
                  <a:pt x="79751" y="8074"/>
                </a:lnTo>
                <a:cubicBezTo>
                  <a:pt x="82024" y="5530"/>
                  <a:pt x="80749" y="2248"/>
                  <a:pt x="76903" y="745"/>
                </a:cubicBezTo>
                <a:cubicBezTo>
                  <a:pt x="73058" y="-758"/>
                  <a:pt x="68098" y="85"/>
                  <a:pt x="65826" y="2630"/>
                </a:cubicBezTo>
                <a:lnTo>
                  <a:pt x="29991" y="42753"/>
                </a:lnTo>
                <a:lnTo>
                  <a:pt x="14599" y="28932"/>
                </a:lnTo>
                <a:close/>
              </a:path>
            </a:pathLst>
          </a:custGeom>
          <a:solidFill>
            <a:schemeClr val="bg1"/>
          </a:solidFill>
          <a:ln w="1810" cap="flat">
            <a:noFill/>
            <a:prstDash val="solid"/>
            <a:miter/>
          </a:ln>
        </p:spPr>
        <p:txBody>
          <a:bodyPr rtlCol="0" anchor="ctr"/>
          <a:lstStyle/>
          <a:p>
            <a:endParaRPr lang="en-US" dirty="0"/>
          </a:p>
        </p:txBody>
      </p:sp>
      <p:sp>
        <p:nvSpPr>
          <p:cNvPr id="245" name="Graphic 239" descr="Icon Checked">
            <a:extLst>
              <a:ext uri="{FF2B5EF4-FFF2-40B4-BE49-F238E27FC236}">
                <a16:creationId xmlns:a16="http://schemas.microsoft.com/office/drawing/2014/main" id="{89E342D8-EF35-4500-811D-022F0C5750D0}"/>
              </a:ext>
            </a:extLst>
          </p:cNvPr>
          <p:cNvSpPr/>
          <p:nvPr/>
        </p:nvSpPr>
        <p:spPr>
          <a:xfrm>
            <a:off x="4068045" y="3134082"/>
            <a:ext cx="80876" cy="57790"/>
          </a:xfrm>
          <a:custGeom>
            <a:avLst/>
            <a:gdLst>
              <a:gd name="connsiteX0" fmla="*/ 14599 w 80875"/>
              <a:gd name="connsiteY0" fmla="*/ 28932 h 57790"/>
              <a:gd name="connsiteX1" fmla="*/ 3291 w 80875"/>
              <a:gd name="connsiteY1" fmla="*/ 27799 h 57790"/>
              <a:gd name="connsiteX2" fmla="*/ 1577 w 80875"/>
              <a:gd name="connsiteY2" fmla="*/ 35281 h 57790"/>
              <a:gd name="connsiteX3" fmla="*/ 24222 w 80875"/>
              <a:gd name="connsiteY3" fmla="*/ 55614 h 57790"/>
              <a:gd name="connsiteX4" fmla="*/ 37696 w 80875"/>
              <a:gd name="connsiteY4" fmla="*/ 55162 h 57790"/>
              <a:gd name="connsiteX5" fmla="*/ 79751 w 80875"/>
              <a:gd name="connsiteY5" fmla="*/ 8074 h 57790"/>
              <a:gd name="connsiteX6" fmla="*/ 76903 w 80875"/>
              <a:gd name="connsiteY6" fmla="*/ 745 h 57790"/>
              <a:gd name="connsiteX7" fmla="*/ 65826 w 80875"/>
              <a:gd name="connsiteY7" fmla="*/ 2630 h 57790"/>
              <a:gd name="connsiteX8" fmla="*/ 29991 w 80875"/>
              <a:gd name="connsiteY8" fmla="*/ 42753 h 57790"/>
              <a:gd name="connsiteX9" fmla="*/ 14599 w 80875"/>
              <a:gd name="connsiteY9" fmla="*/ 28932 h 5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75" h="57790">
                <a:moveTo>
                  <a:pt x="14599" y="28932"/>
                </a:moveTo>
                <a:cubicBezTo>
                  <a:pt x="11949" y="26553"/>
                  <a:pt x="6887" y="26046"/>
                  <a:pt x="3291" y="27799"/>
                </a:cubicBezTo>
                <a:cubicBezTo>
                  <a:pt x="-305" y="29552"/>
                  <a:pt x="-1073" y="32901"/>
                  <a:pt x="1577" y="35281"/>
                </a:cubicBezTo>
                <a:lnTo>
                  <a:pt x="24222" y="55614"/>
                </a:lnTo>
                <a:cubicBezTo>
                  <a:pt x="27661" y="58702"/>
                  <a:pt x="34747" y="58464"/>
                  <a:pt x="37696" y="55162"/>
                </a:cubicBezTo>
                <a:lnTo>
                  <a:pt x="79751" y="8074"/>
                </a:lnTo>
                <a:cubicBezTo>
                  <a:pt x="82024" y="5530"/>
                  <a:pt x="80749" y="2248"/>
                  <a:pt x="76903" y="745"/>
                </a:cubicBezTo>
                <a:cubicBezTo>
                  <a:pt x="73058" y="-758"/>
                  <a:pt x="68098" y="85"/>
                  <a:pt x="65826" y="2630"/>
                </a:cubicBezTo>
                <a:lnTo>
                  <a:pt x="29991" y="42753"/>
                </a:lnTo>
                <a:lnTo>
                  <a:pt x="14599" y="28932"/>
                </a:lnTo>
                <a:close/>
              </a:path>
            </a:pathLst>
          </a:custGeom>
          <a:solidFill>
            <a:schemeClr val="bg1"/>
          </a:solidFill>
          <a:ln w="1810" cap="flat">
            <a:noFill/>
            <a:prstDash val="solid"/>
            <a:miter/>
          </a:ln>
        </p:spPr>
        <p:txBody>
          <a:bodyPr rtlCol="0" anchor="ctr"/>
          <a:lstStyle/>
          <a:p>
            <a:endParaRPr lang="en-US" dirty="0"/>
          </a:p>
        </p:txBody>
      </p:sp>
      <p:sp>
        <p:nvSpPr>
          <p:cNvPr id="246" name="Graphic 239" descr="Icon Checked">
            <a:extLst>
              <a:ext uri="{FF2B5EF4-FFF2-40B4-BE49-F238E27FC236}">
                <a16:creationId xmlns:a16="http://schemas.microsoft.com/office/drawing/2014/main" id="{73C24323-5928-4932-8372-87FC25E7B541}"/>
              </a:ext>
            </a:extLst>
          </p:cNvPr>
          <p:cNvSpPr/>
          <p:nvPr/>
        </p:nvSpPr>
        <p:spPr>
          <a:xfrm>
            <a:off x="1927813" y="3467288"/>
            <a:ext cx="80876" cy="57790"/>
          </a:xfrm>
          <a:custGeom>
            <a:avLst/>
            <a:gdLst>
              <a:gd name="connsiteX0" fmla="*/ 14599 w 80875"/>
              <a:gd name="connsiteY0" fmla="*/ 28932 h 57790"/>
              <a:gd name="connsiteX1" fmla="*/ 3291 w 80875"/>
              <a:gd name="connsiteY1" fmla="*/ 27799 h 57790"/>
              <a:gd name="connsiteX2" fmla="*/ 1577 w 80875"/>
              <a:gd name="connsiteY2" fmla="*/ 35281 h 57790"/>
              <a:gd name="connsiteX3" fmla="*/ 24222 w 80875"/>
              <a:gd name="connsiteY3" fmla="*/ 55614 h 57790"/>
              <a:gd name="connsiteX4" fmla="*/ 37696 w 80875"/>
              <a:gd name="connsiteY4" fmla="*/ 55162 h 57790"/>
              <a:gd name="connsiteX5" fmla="*/ 79751 w 80875"/>
              <a:gd name="connsiteY5" fmla="*/ 8074 h 57790"/>
              <a:gd name="connsiteX6" fmla="*/ 76903 w 80875"/>
              <a:gd name="connsiteY6" fmla="*/ 745 h 57790"/>
              <a:gd name="connsiteX7" fmla="*/ 65826 w 80875"/>
              <a:gd name="connsiteY7" fmla="*/ 2630 h 57790"/>
              <a:gd name="connsiteX8" fmla="*/ 29991 w 80875"/>
              <a:gd name="connsiteY8" fmla="*/ 42753 h 57790"/>
              <a:gd name="connsiteX9" fmla="*/ 14599 w 80875"/>
              <a:gd name="connsiteY9" fmla="*/ 28932 h 57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75" h="57790">
                <a:moveTo>
                  <a:pt x="14599" y="28932"/>
                </a:moveTo>
                <a:cubicBezTo>
                  <a:pt x="11949" y="26553"/>
                  <a:pt x="6887" y="26046"/>
                  <a:pt x="3291" y="27799"/>
                </a:cubicBezTo>
                <a:cubicBezTo>
                  <a:pt x="-305" y="29552"/>
                  <a:pt x="-1073" y="32901"/>
                  <a:pt x="1577" y="35281"/>
                </a:cubicBezTo>
                <a:lnTo>
                  <a:pt x="24222" y="55614"/>
                </a:lnTo>
                <a:cubicBezTo>
                  <a:pt x="27661" y="58702"/>
                  <a:pt x="34747" y="58464"/>
                  <a:pt x="37696" y="55162"/>
                </a:cubicBezTo>
                <a:lnTo>
                  <a:pt x="79751" y="8074"/>
                </a:lnTo>
                <a:cubicBezTo>
                  <a:pt x="82024" y="5530"/>
                  <a:pt x="80749" y="2248"/>
                  <a:pt x="76903" y="745"/>
                </a:cubicBezTo>
                <a:cubicBezTo>
                  <a:pt x="73058" y="-758"/>
                  <a:pt x="68098" y="85"/>
                  <a:pt x="65826" y="2630"/>
                </a:cubicBezTo>
                <a:lnTo>
                  <a:pt x="29991" y="42753"/>
                </a:lnTo>
                <a:lnTo>
                  <a:pt x="14599" y="28932"/>
                </a:lnTo>
                <a:close/>
              </a:path>
            </a:pathLst>
          </a:custGeom>
          <a:solidFill>
            <a:schemeClr val="bg1"/>
          </a:solidFill>
          <a:ln w="181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504DE260-FF82-CB02-0E7C-523A9D7B6124}"/>
              </a:ext>
            </a:extLst>
          </p:cNvPr>
          <p:cNvSpPr txBox="1"/>
          <p:nvPr/>
        </p:nvSpPr>
        <p:spPr>
          <a:xfrm>
            <a:off x="684000" y="1879744"/>
            <a:ext cx="6686246" cy="2677656"/>
          </a:xfrm>
          <a:prstGeom prst="rect">
            <a:avLst/>
          </a:prstGeom>
          <a:noFill/>
        </p:spPr>
        <p:txBody>
          <a:bodyPr wrap="square" rtlCol="0">
            <a:spAutoFit/>
          </a:bodyPr>
          <a:lstStyle/>
          <a:p>
            <a:r>
              <a:rPr lang="en-US" sz="2400" dirty="0">
                <a:solidFill>
                  <a:schemeClr val="bg1"/>
                </a:solidFill>
              </a:rPr>
              <a:t>Telecom Egypt demonstrates a strong governance maturity level with an overall score of </a:t>
            </a:r>
            <a:r>
              <a:rPr lang="en-US" sz="2400" b="1" dirty="0">
                <a:solidFill>
                  <a:schemeClr val="bg1"/>
                </a:solidFill>
              </a:rPr>
              <a:t>82%</a:t>
            </a:r>
            <a:r>
              <a:rPr lang="en-US" sz="2400" dirty="0">
                <a:solidFill>
                  <a:schemeClr val="bg1"/>
                </a:solidFill>
              </a:rPr>
              <a:t>. Key strengths include </a:t>
            </a:r>
            <a:r>
              <a:rPr lang="en-US" sz="2400" b="1" dirty="0">
                <a:solidFill>
                  <a:schemeClr val="bg1"/>
                </a:solidFill>
              </a:rPr>
              <a:t>compliance, accountability, and transparency</a:t>
            </a:r>
            <a:r>
              <a:rPr lang="en-US" sz="2400" dirty="0">
                <a:solidFill>
                  <a:schemeClr val="bg1"/>
                </a:solidFill>
              </a:rPr>
              <a:t>. Future improvement depends on </a:t>
            </a:r>
            <a:r>
              <a:rPr lang="en-US" sz="2400" b="1" dirty="0">
                <a:solidFill>
                  <a:schemeClr val="bg1"/>
                </a:solidFill>
              </a:rPr>
              <a:t>stakeholder engagement, cybersecurity, and ESG integration</a:t>
            </a:r>
            <a:r>
              <a:rPr lang="en-US" sz="2400" dirty="0">
                <a:solidFill>
                  <a:schemeClr val="bg1"/>
                </a:solidFill>
              </a:rPr>
              <a:t>.</a:t>
            </a:r>
          </a:p>
        </p:txBody>
      </p:sp>
    </p:spTree>
    <p:extLst>
      <p:ext uri="{BB962C8B-B14F-4D97-AF65-F5344CB8AC3E}">
        <p14:creationId xmlns:p14="http://schemas.microsoft.com/office/powerpoint/2010/main" val="329782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F923CFB6-5709-405C-8762-B310D3F21953}"/>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a:stretch/>
        </p:blipFill>
        <p:spPr>
          <a:xfrm>
            <a:off x="0" y="-1"/>
            <a:ext cx="12192000" cy="6858000"/>
          </a:xfrm>
        </p:spPr>
      </p:pic>
      <p:sp>
        <p:nvSpPr>
          <p:cNvPr id="3" name="Title 2">
            <a:extLst>
              <a:ext uri="{FF2B5EF4-FFF2-40B4-BE49-F238E27FC236}">
                <a16:creationId xmlns:a16="http://schemas.microsoft.com/office/drawing/2014/main" id="{C17F5BF1-88DB-42F2-98A6-4C7FBFC311C4}"/>
              </a:ext>
            </a:extLst>
          </p:cNvPr>
          <p:cNvSpPr>
            <a:spLocks noGrp="1"/>
          </p:cNvSpPr>
          <p:nvPr>
            <p:ph type="ctrTitle"/>
          </p:nvPr>
        </p:nvSpPr>
        <p:spPr>
          <a:xfrm>
            <a:off x="0" y="-1"/>
            <a:ext cx="6515100" cy="6858001"/>
          </a:xfrm>
        </p:spPr>
        <p:txBody>
          <a:bodyPr/>
          <a:lstStyle/>
          <a:p>
            <a:r>
              <a:rPr lang="en-US" dirty="0"/>
              <a:t>Thank</a:t>
            </a:r>
            <a:br>
              <a:rPr lang="en-US" dirty="0"/>
            </a:br>
            <a:r>
              <a:rPr lang="en-US" dirty="0"/>
              <a:t>you</a:t>
            </a:r>
          </a:p>
        </p:txBody>
      </p:sp>
      <p:sp>
        <p:nvSpPr>
          <p:cNvPr id="4" name="Text Placeholder 3">
            <a:extLst>
              <a:ext uri="{FF2B5EF4-FFF2-40B4-BE49-F238E27FC236}">
                <a16:creationId xmlns:a16="http://schemas.microsoft.com/office/drawing/2014/main" id="{7E7E363B-55F5-4528-8A9D-A5D90055CD92}"/>
              </a:ext>
            </a:extLst>
          </p:cNvPr>
          <p:cNvSpPr>
            <a:spLocks noGrp="1"/>
          </p:cNvSpPr>
          <p:nvPr>
            <p:ph type="body" sz="quarter" idx="13"/>
          </p:nvPr>
        </p:nvSpPr>
        <p:spPr/>
        <p:txBody>
          <a:bodyPr/>
          <a:lstStyle/>
          <a:p>
            <a:r>
              <a:rPr lang="en-US" dirty="0"/>
              <a:t>Ola Elsheikh</a:t>
            </a:r>
          </a:p>
        </p:txBody>
      </p:sp>
      <p:sp>
        <p:nvSpPr>
          <p:cNvPr id="5" name="Text Placeholder 4">
            <a:extLst>
              <a:ext uri="{FF2B5EF4-FFF2-40B4-BE49-F238E27FC236}">
                <a16:creationId xmlns:a16="http://schemas.microsoft.com/office/drawing/2014/main" id="{045FEE4F-333C-40EF-B46D-8D25C79C05D2}"/>
              </a:ext>
            </a:extLst>
          </p:cNvPr>
          <p:cNvSpPr>
            <a:spLocks noGrp="1"/>
          </p:cNvSpPr>
          <p:nvPr>
            <p:ph type="body" sz="quarter" idx="14"/>
          </p:nvPr>
        </p:nvSpPr>
        <p:spPr/>
        <p:txBody>
          <a:bodyPr/>
          <a:lstStyle/>
          <a:p>
            <a:r>
              <a:rPr lang="en-US" dirty="0"/>
              <a:t>oelshiekh053@gmail.com</a:t>
            </a:r>
          </a:p>
        </p:txBody>
      </p:sp>
      <p:sp>
        <p:nvSpPr>
          <p:cNvPr id="7" name="Text Placeholder 6">
            <a:extLst>
              <a:ext uri="{FF2B5EF4-FFF2-40B4-BE49-F238E27FC236}">
                <a16:creationId xmlns:a16="http://schemas.microsoft.com/office/drawing/2014/main" id="{CF795760-75DB-4415-BB10-2C6299BBF11C}"/>
              </a:ext>
            </a:extLst>
          </p:cNvPr>
          <p:cNvSpPr>
            <a:spLocks noGrp="1"/>
          </p:cNvSpPr>
          <p:nvPr>
            <p:ph type="body" sz="quarter" idx="16"/>
          </p:nvPr>
        </p:nvSpPr>
        <p:spPr/>
        <p:txBody>
          <a:bodyPr/>
          <a:lstStyle/>
          <a:p>
            <a:r>
              <a:rPr lang="en-US" dirty="0"/>
              <a:t>PRESENTATIVE</a:t>
            </a:r>
          </a:p>
        </p:txBody>
      </p:sp>
      <p:sp>
        <p:nvSpPr>
          <p:cNvPr id="18" name="Rectangle 17">
            <a:extLst>
              <a:ext uri="{FF2B5EF4-FFF2-40B4-BE49-F238E27FC236}">
                <a16:creationId xmlns:a16="http://schemas.microsoft.com/office/drawing/2014/main" id="{AAF39051-1049-4508-8373-6A289966AA59}"/>
              </a:ext>
              <a:ext uri="{C183D7F6-B498-43B3-948B-1728B52AA6E4}">
                <adec:decorative xmlns:adec="http://schemas.microsoft.com/office/drawing/2017/decorative" val="1"/>
              </a:ext>
            </a:extLst>
          </p:cNvPr>
          <p:cNvSpPr/>
          <p:nvPr/>
        </p:nvSpPr>
        <p:spPr>
          <a:xfrm>
            <a:off x="781399" y="2238573"/>
            <a:ext cx="10629202" cy="119042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bject 7" descr="Beige rectangle">
            <a:extLst>
              <a:ext uri="{FF2B5EF4-FFF2-40B4-BE49-F238E27FC236}">
                <a16:creationId xmlns:a16="http://schemas.microsoft.com/office/drawing/2014/main" id="{2D7851E8-1907-4C8A-A16F-E461B5BFA940}"/>
              </a:ext>
            </a:extLst>
          </p:cNvPr>
          <p:cNvSpPr/>
          <p:nvPr/>
        </p:nvSpPr>
        <p:spPr bwMode="white">
          <a:xfrm flipV="1">
            <a:off x="1204699" y="37916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pSp>
        <p:nvGrpSpPr>
          <p:cNvPr id="50" name="Group 49" descr="Icon Email">
            <a:extLst>
              <a:ext uri="{FF2B5EF4-FFF2-40B4-BE49-F238E27FC236}">
                <a16:creationId xmlns:a16="http://schemas.microsoft.com/office/drawing/2014/main" id="{F7F47E31-EB9A-4529-BE0F-A1213B79FE07}"/>
              </a:ext>
            </a:extLst>
          </p:cNvPr>
          <p:cNvGrpSpPr/>
          <p:nvPr/>
        </p:nvGrpSpPr>
        <p:grpSpPr>
          <a:xfrm>
            <a:off x="1365937" y="5133777"/>
            <a:ext cx="297521" cy="297521"/>
            <a:chOff x="1334697" y="5102537"/>
            <a:chExt cx="360000" cy="360000"/>
          </a:xfrm>
        </p:grpSpPr>
        <p:grpSp>
          <p:nvGrpSpPr>
            <p:cNvPr id="51" name="Group 50">
              <a:extLst>
                <a:ext uri="{FF2B5EF4-FFF2-40B4-BE49-F238E27FC236}">
                  <a16:creationId xmlns:a16="http://schemas.microsoft.com/office/drawing/2014/main" id="{299C0ACA-AA85-4505-A8DF-0275634D7832}"/>
                </a:ext>
              </a:extLst>
            </p:cNvPr>
            <p:cNvGrpSpPr/>
            <p:nvPr/>
          </p:nvGrpSpPr>
          <p:grpSpPr>
            <a:xfrm>
              <a:off x="1413695" y="5129259"/>
              <a:ext cx="257175" cy="257175"/>
              <a:chOff x="1423220" y="5138784"/>
              <a:chExt cx="257175" cy="257175"/>
            </a:xfrm>
          </p:grpSpPr>
          <p:sp>
            <p:nvSpPr>
              <p:cNvPr id="53" name="Freeform: Shape 52">
                <a:extLst>
                  <a:ext uri="{FF2B5EF4-FFF2-40B4-BE49-F238E27FC236}">
                    <a16:creationId xmlns:a16="http://schemas.microsoft.com/office/drawing/2014/main" id="{85AA236B-9A92-4808-B7BB-0AEF3FD2754B}"/>
                  </a:ext>
                </a:extLst>
              </p:cNvPr>
              <p:cNvSpPr/>
              <p:nvPr/>
            </p:nvSpPr>
            <p:spPr>
              <a:xfrm>
                <a:off x="1423220" y="513878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endParaRPr lang="en-US" dirty="0"/>
              </a:p>
            </p:txBody>
          </p:sp>
          <p:sp>
            <p:nvSpPr>
              <p:cNvPr id="54" name="Freeform: Shape 53">
                <a:extLst>
                  <a:ext uri="{FF2B5EF4-FFF2-40B4-BE49-F238E27FC236}">
                    <a16:creationId xmlns:a16="http://schemas.microsoft.com/office/drawing/2014/main" id="{94E72230-A0A3-4A80-AD64-FE14B4AA1A95}"/>
                  </a:ext>
                </a:extLst>
              </p:cNvPr>
              <p:cNvSpPr/>
              <p:nvPr/>
            </p:nvSpPr>
            <p:spPr>
              <a:xfrm>
                <a:off x="1427045" y="5144212"/>
                <a:ext cx="161925" cy="161925"/>
              </a:xfrm>
              <a:custGeom>
                <a:avLst/>
                <a:gdLst>
                  <a:gd name="connsiteX0" fmla="*/ 0 w 161925"/>
                  <a:gd name="connsiteY0" fmla="*/ 162878 h 161925"/>
                  <a:gd name="connsiteX1" fmla="*/ 141923 w 161925"/>
                  <a:gd name="connsiteY1" fmla="*/ 135255 h 161925"/>
                  <a:gd name="connsiteX2" fmla="*/ 162878 w 161925"/>
                  <a:gd name="connsiteY2" fmla="*/ 0 h 161925"/>
                </a:gdLst>
                <a:ahLst/>
                <a:cxnLst>
                  <a:cxn ang="0">
                    <a:pos x="connsiteX0" y="connsiteY0"/>
                  </a:cxn>
                  <a:cxn ang="0">
                    <a:pos x="connsiteX1" y="connsiteY1"/>
                  </a:cxn>
                  <a:cxn ang="0">
                    <a:pos x="connsiteX2" y="connsiteY2"/>
                  </a:cxn>
                </a:cxnLst>
                <a:rect l="l" t="t" r="r" b="b"/>
                <a:pathLst>
                  <a:path w="161925" h="161925">
                    <a:moveTo>
                      <a:pt x="0" y="162878"/>
                    </a:moveTo>
                    <a:lnTo>
                      <a:pt x="141923" y="135255"/>
                    </a:lnTo>
                    <a:lnTo>
                      <a:pt x="162878" y="0"/>
                    </a:lnTo>
                  </a:path>
                </a:pathLst>
              </a:custGeom>
              <a:noFill/>
              <a:ln w="23813" cap="flat">
                <a:solidFill>
                  <a:schemeClr val="accent1"/>
                </a:solidFill>
                <a:prstDash val="solid"/>
                <a:round/>
              </a:ln>
            </p:spPr>
            <p:txBody>
              <a:bodyPr rtlCol="0" anchor="ctr"/>
              <a:lstStyle/>
              <a:p>
                <a:endParaRPr lang="en-US" dirty="0"/>
              </a:p>
            </p:txBody>
          </p:sp>
        </p:grpSp>
        <p:sp>
          <p:nvSpPr>
            <p:cNvPr id="52" name="Freeform: Shape 51">
              <a:extLst>
                <a:ext uri="{FF2B5EF4-FFF2-40B4-BE49-F238E27FC236}">
                  <a16:creationId xmlns:a16="http://schemas.microsoft.com/office/drawing/2014/main" id="{D01D119F-74E1-4482-B664-AAD0BB5B651F}"/>
                </a:ext>
              </a:extLst>
            </p:cNvPr>
            <p:cNvSpPr/>
            <p:nvPr/>
          </p:nvSpPr>
          <p:spPr>
            <a:xfrm>
              <a:off x="1334697" y="5102537"/>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endParaRPr lang="en-US" dirty="0"/>
            </a:p>
          </p:txBody>
        </p:sp>
      </p:grpSp>
      <p:grpSp>
        <p:nvGrpSpPr>
          <p:cNvPr id="55" name="Group 54" descr="Icon Person">
            <a:extLst>
              <a:ext uri="{FF2B5EF4-FFF2-40B4-BE49-F238E27FC236}">
                <a16:creationId xmlns:a16="http://schemas.microsoft.com/office/drawing/2014/main" id="{9E1A2D9D-4A3F-4720-9A14-FFD74FC5C7A2}"/>
              </a:ext>
            </a:extLst>
          </p:cNvPr>
          <p:cNvGrpSpPr/>
          <p:nvPr/>
        </p:nvGrpSpPr>
        <p:grpSpPr>
          <a:xfrm>
            <a:off x="1365937" y="4611901"/>
            <a:ext cx="297521" cy="297521"/>
            <a:chOff x="1334697" y="4580661"/>
            <a:chExt cx="360000" cy="360000"/>
          </a:xfrm>
        </p:grpSpPr>
        <p:grpSp>
          <p:nvGrpSpPr>
            <p:cNvPr id="56" name="Group 55">
              <a:extLst>
                <a:ext uri="{FF2B5EF4-FFF2-40B4-BE49-F238E27FC236}">
                  <a16:creationId xmlns:a16="http://schemas.microsoft.com/office/drawing/2014/main" id="{FBC59C07-FDEC-40D0-BE4E-E1FAC0DEBC4A}"/>
                </a:ext>
              </a:extLst>
            </p:cNvPr>
            <p:cNvGrpSpPr/>
            <p:nvPr/>
          </p:nvGrpSpPr>
          <p:grpSpPr>
            <a:xfrm>
              <a:off x="1421012" y="4633770"/>
              <a:ext cx="180975" cy="231458"/>
              <a:chOff x="1443237" y="4633770"/>
              <a:chExt cx="180975" cy="231458"/>
            </a:xfrm>
          </p:grpSpPr>
          <p:sp>
            <p:nvSpPr>
              <p:cNvPr id="58" name="Freeform: Shape 57">
                <a:extLst>
                  <a:ext uri="{FF2B5EF4-FFF2-40B4-BE49-F238E27FC236}">
                    <a16:creationId xmlns:a16="http://schemas.microsoft.com/office/drawing/2014/main" id="{15EC7012-98A7-4A94-8CC9-0EC3408A6BC4}"/>
                  </a:ext>
                </a:extLst>
              </p:cNvPr>
              <p:cNvSpPr/>
              <p:nvPr/>
            </p:nvSpPr>
            <p:spPr>
              <a:xfrm>
                <a:off x="1478479" y="4633770"/>
                <a:ext cx="114300" cy="114300"/>
              </a:xfrm>
              <a:custGeom>
                <a:avLst/>
                <a:gdLst>
                  <a:gd name="connsiteX0" fmla="*/ 118110 w 114300"/>
                  <a:gd name="connsiteY0" fmla="*/ 59055 h 114300"/>
                  <a:gd name="connsiteX1" fmla="*/ 59055 w 114300"/>
                  <a:gd name="connsiteY1" fmla="*/ 118110 h 114300"/>
                  <a:gd name="connsiteX2" fmla="*/ 0 w 114300"/>
                  <a:gd name="connsiteY2" fmla="*/ 59055 h 114300"/>
                  <a:gd name="connsiteX3" fmla="*/ 59055 w 114300"/>
                  <a:gd name="connsiteY3" fmla="*/ 0 h 114300"/>
                  <a:gd name="connsiteX4" fmla="*/ 118110 w 114300"/>
                  <a:gd name="connsiteY4" fmla="*/ 5905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8110" y="59055"/>
                    </a:moveTo>
                    <a:cubicBezTo>
                      <a:pt x="118110" y="91440"/>
                      <a:pt x="91440" y="118110"/>
                      <a:pt x="59055" y="118110"/>
                    </a:cubicBezTo>
                    <a:cubicBezTo>
                      <a:pt x="26670" y="118110"/>
                      <a:pt x="0" y="91440"/>
                      <a:pt x="0" y="59055"/>
                    </a:cubicBezTo>
                    <a:cubicBezTo>
                      <a:pt x="0" y="26670"/>
                      <a:pt x="26670" y="0"/>
                      <a:pt x="59055" y="0"/>
                    </a:cubicBezTo>
                    <a:cubicBezTo>
                      <a:pt x="91440" y="0"/>
                      <a:pt x="118110" y="25718"/>
                      <a:pt x="118110" y="59055"/>
                    </a:cubicBezTo>
                    <a:close/>
                  </a:path>
                </a:pathLst>
              </a:custGeom>
              <a:noFill/>
              <a:ln w="23813" cap="flat">
                <a:solidFill>
                  <a:schemeClr val="accent1"/>
                </a:solid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519FE88-ED74-4D46-86D2-F2530BE46026}"/>
                  </a:ext>
                </a:extLst>
              </p:cNvPr>
              <p:cNvSpPr/>
              <p:nvPr/>
            </p:nvSpPr>
            <p:spPr>
              <a:xfrm>
                <a:off x="1443237" y="4798553"/>
                <a:ext cx="180975" cy="66675"/>
              </a:xfrm>
              <a:custGeom>
                <a:avLst/>
                <a:gdLst>
                  <a:gd name="connsiteX0" fmla="*/ 0 w 180975"/>
                  <a:gd name="connsiteY0" fmla="*/ 72390 h 66675"/>
                  <a:gd name="connsiteX1" fmla="*/ 94298 w 180975"/>
                  <a:gd name="connsiteY1" fmla="*/ 0 h 66675"/>
                  <a:gd name="connsiteX2" fmla="*/ 188595 w 180975"/>
                  <a:gd name="connsiteY2" fmla="*/ 72390 h 66675"/>
                </a:gdLst>
                <a:ahLst/>
                <a:cxnLst>
                  <a:cxn ang="0">
                    <a:pos x="connsiteX0" y="connsiteY0"/>
                  </a:cxn>
                  <a:cxn ang="0">
                    <a:pos x="connsiteX1" y="connsiteY1"/>
                  </a:cxn>
                  <a:cxn ang="0">
                    <a:pos x="connsiteX2" y="connsiteY2"/>
                  </a:cxn>
                </a:cxnLst>
                <a:rect l="l" t="t" r="r" b="b"/>
                <a:pathLst>
                  <a:path w="180975" h="66675">
                    <a:moveTo>
                      <a:pt x="0" y="72390"/>
                    </a:moveTo>
                    <a:cubicBezTo>
                      <a:pt x="0" y="20955"/>
                      <a:pt x="41910" y="0"/>
                      <a:pt x="94298" y="0"/>
                    </a:cubicBezTo>
                    <a:cubicBezTo>
                      <a:pt x="146685" y="0"/>
                      <a:pt x="188595" y="20955"/>
                      <a:pt x="188595" y="72390"/>
                    </a:cubicBezTo>
                  </a:path>
                </a:pathLst>
              </a:custGeom>
              <a:noFill/>
              <a:ln w="23813" cap="flat">
                <a:solidFill>
                  <a:schemeClr val="accent1"/>
                </a:solidFill>
                <a:prstDash val="solid"/>
                <a:miter/>
              </a:ln>
            </p:spPr>
            <p:txBody>
              <a:bodyPr rtlCol="0" anchor="ctr"/>
              <a:lstStyle/>
              <a:p>
                <a:endParaRPr lang="en-US" dirty="0"/>
              </a:p>
            </p:txBody>
          </p:sp>
        </p:grpSp>
        <p:sp>
          <p:nvSpPr>
            <p:cNvPr id="57" name="Freeform: Shape 56">
              <a:extLst>
                <a:ext uri="{FF2B5EF4-FFF2-40B4-BE49-F238E27FC236}">
                  <a16:creationId xmlns:a16="http://schemas.microsoft.com/office/drawing/2014/main" id="{03AF6D1D-DE4A-460B-A540-E7DACF1F333F}"/>
                </a:ext>
              </a:extLst>
            </p:cNvPr>
            <p:cNvSpPr/>
            <p:nvPr/>
          </p:nvSpPr>
          <p:spPr>
            <a:xfrm>
              <a:off x="1334697" y="4580661"/>
              <a:ext cx="360000" cy="360000"/>
            </a:xfrm>
            <a:custGeom>
              <a:avLst/>
              <a:gdLst>
                <a:gd name="connsiteX0" fmla="*/ 0 w 360000"/>
                <a:gd name="connsiteY0" fmla="*/ 0 h 360000"/>
                <a:gd name="connsiteX1" fmla="*/ 83322 w 360000"/>
                <a:gd name="connsiteY1" fmla="*/ 0 h 360000"/>
                <a:gd name="connsiteX2" fmla="*/ 83322 w 360000"/>
                <a:gd name="connsiteY2" fmla="*/ 68850 h 360000"/>
                <a:gd name="connsiteX3" fmla="*/ 276679 w 360000"/>
                <a:gd name="connsiteY3" fmla="*/ 68850 h 360000"/>
                <a:gd name="connsiteX4" fmla="*/ 276679 w 360000"/>
                <a:gd name="connsiteY4" fmla="*/ 0 h 360000"/>
                <a:gd name="connsiteX5" fmla="*/ 360000 w 360000"/>
                <a:gd name="connsiteY5" fmla="*/ 0 h 360000"/>
                <a:gd name="connsiteX6" fmla="*/ 360000 w 360000"/>
                <a:gd name="connsiteY6" fmla="*/ 360000 h 360000"/>
                <a:gd name="connsiteX7" fmla="*/ 0 w 360000"/>
                <a:gd name="connsiteY7" fmla="*/ 360000 h 360000"/>
                <a:gd name="connsiteX0" fmla="*/ 276679 w 368119"/>
                <a:gd name="connsiteY0" fmla="*/ 68850 h 360000"/>
                <a:gd name="connsiteX1" fmla="*/ 276679 w 368119"/>
                <a:gd name="connsiteY1" fmla="*/ 0 h 360000"/>
                <a:gd name="connsiteX2" fmla="*/ 360000 w 368119"/>
                <a:gd name="connsiteY2" fmla="*/ 0 h 360000"/>
                <a:gd name="connsiteX3" fmla="*/ 360000 w 368119"/>
                <a:gd name="connsiteY3" fmla="*/ 360000 h 360000"/>
                <a:gd name="connsiteX4" fmla="*/ 0 w 368119"/>
                <a:gd name="connsiteY4" fmla="*/ 360000 h 360000"/>
                <a:gd name="connsiteX5" fmla="*/ 0 w 368119"/>
                <a:gd name="connsiteY5" fmla="*/ 0 h 360000"/>
                <a:gd name="connsiteX6" fmla="*/ 83322 w 368119"/>
                <a:gd name="connsiteY6" fmla="*/ 0 h 360000"/>
                <a:gd name="connsiteX7" fmla="*/ 83322 w 368119"/>
                <a:gd name="connsiteY7" fmla="*/ 68850 h 360000"/>
                <a:gd name="connsiteX8" fmla="*/ 368119 w 368119"/>
                <a:gd name="connsiteY8" fmla="*/ 16029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7" fmla="*/ 83322 w 360000"/>
                <a:gd name="connsiteY7" fmla="*/ 6885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0" fmla="*/ 276679 w 360000"/>
                <a:gd name="connsiteY0" fmla="*/ 0 h 360000"/>
                <a:gd name="connsiteX1" fmla="*/ 360000 w 360000"/>
                <a:gd name="connsiteY1" fmla="*/ 0 h 360000"/>
                <a:gd name="connsiteX2" fmla="*/ 360000 w 360000"/>
                <a:gd name="connsiteY2" fmla="*/ 360000 h 360000"/>
                <a:gd name="connsiteX3" fmla="*/ 0 w 360000"/>
                <a:gd name="connsiteY3" fmla="*/ 360000 h 360000"/>
                <a:gd name="connsiteX4" fmla="*/ 0 w 360000"/>
                <a:gd name="connsiteY4" fmla="*/ 0 h 360000"/>
                <a:gd name="connsiteX5" fmla="*/ 83322 w 360000"/>
                <a:gd name="connsiteY5" fmla="*/ 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000" h="360000">
                  <a:moveTo>
                    <a:pt x="276679" y="0"/>
                  </a:moveTo>
                  <a:lnTo>
                    <a:pt x="360000" y="0"/>
                  </a:lnTo>
                  <a:lnTo>
                    <a:pt x="360000" y="360000"/>
                  </a:lnTo>
                  <a:lnTo>
                    <a:pt x="0" y="360000"/>
                  </a:lnTo>
                  <a:lnTo>
                    <a:pt x="0" y="0"/>
                  </a:lnTo>
                  <a:lnTo>
                    <a:pt x="83322" y="0"/>
                  </a:lnTo>
                </a:path>
              </a:pathLst>
            </a:custGeom>
            <a:noFill/>
            <a:ln w="9525" cap="flat">
              <a:solidFill>
                <a:schemeClr val="bg1">
                  <a:lumMod val="75000"/>
                </a:schemeClr>
              </a:solidFill>
              <a:prstDash val="solid"/>
              <a:miter/>
            </a:ln>
          </p:spPr>
          <p:txBody>
            <a:bodyPr rtlCol="0" anchor="ctr"/>
            <a:lstStyle/>
            <a:p>
              <a:endParaRPr lang="en-US" dirty="0"/>
            </a:p>
          </p:txBody>
        </p:sp>
      </p:grpSp>
    </p:spTree>
    <p:extLst>
      <p:ext uri="{BB962C8B-B14F-4D97-AF65-F5344CB8AC3E}">
        <p14:creationId xmlns:p14="http://schemas.microsoft.com/office/powerpoint/2010/main" val="347695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wipe(down)">
                                      <p:cBhvr>
                                        <p:cTn id="14" dur="250"/>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wipe(down)">
                                      <p:cBhvr>
                                        <p:cTn id="19" dur="25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build="p"/>
    </p:bldLst>
  </p:timing>
</p:sld>
</file>

<file path=ppt/theme/theme1.xml><?xml version="1.0" encoding="utf-8"?>
<a:theme xmlns:a="http://schemas.openxmlformats.org/drawingml/2006/main" name="Office Theme">
  <a:themeElements>
    <a:clrScheme name="MS Healthcare Pitch">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MB Healthcare Pitch Deck SB_v3" id="{F20654C3-30CB-4A23-AE37-CA3918CCFD51}" vid="{71C4247B-9648-406B-9B0E-E712402798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C66BDC7-24D2-4343-8D41-18F9C23F860A}">
  <ds:schemaRefs>
    <ds:schemaRef ds:uri="http://schemas.microsoft.com/sharepoint/v3/contenttype/forms"/>
  </ds:schemaRefs>
</ds:datastoreItem>
</file>

<file path=customXml/itemProps3.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Healthcare office pitch deck</Template>
  <TotalTime>1060</TotalTime>
  <Words>1725</Words>
  <Application>Microsoft Office PowerPoint</Application>
  <PresentationFormat>Widescreen</PresentationFormat>
  <Paragraphs>387</Paragraphs>
  <Slides>17</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Arial </vt:lpstr>
      <vt:lpstr>Barlow</vt:lpstr>
      <vt:lpstr>Calibri</vt:lpstr>
      <vt:lpstr>Consolas</vt:lpstr>
      <vt:lpstr>Courier New</vt:lpstr>
      <vt:lpstr>Gill Sans MT</vt:lpstr>
      <vt:lpstr>Lato</vt:lpstr>
      <vt:lpstr>Menlo</vt:lpstr>
      <vt:lpstr>Roboto</vt:lpstr>
      <vt:lpstr>Office Theme</vt:lpstr>
      <vt:lpstr>Telecom Egypt Governance Maturity</vt:lpstr>
      <vt:lpstr>Project Overview</vt:lpstr>
      <vt:lpstr>Why Telecom Egypt?   </vt:lpstr>
      <vt:lpstr>Company Growth</vt:lpstr>
      <vt:lpstr>Assessment Methodology</vt:lpstr>
      <vt:lpstr>PowerPoint Presentation</vt:lpstr>
      <vt:lpstr>PowerPoint Presentation</vt:lpstr>
      <vt:lpstr>RADER MATRIX</vt:lpstr>
      <vt:lpstr>RADER MATRIX</vt:lpstr>
      <vt:lpstr>GOVERNANCE ASSESSMENT</vt:lpstr>
      <vt:lpstr>PowerPoint Presentation</vt:lpstr>
      <vt:lpstr>RECOMMENDATIONS</vt:lpstr>
      <vt:lpstr>MATLAB  Highlights </vt:lpstr>
      <vt:lpstr>MATLAB  Highlights </vt:lpstr>
      <vt:lpstr>MATLAB  Highlights </vt:lpstr>
      <vt:lpstr>Final 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 Elsheikh</dc:creator>
  <cp:lastModifiedBy>Ola Elsheikh</cp:lastModifiedBy>
  <cp:revision>27</cp:revision>
  <dcterms:created xsi:type="dcterms:W3CDTF">2026-07-03T14:26:22Z</dcterms:created>
  <dcterms:modified xsi:type="dcterms:W3CDTF">2026-07-04T10:38:40Z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